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50"/>
  </p:notesMasterIdLst>
  <p:handoutMasterIdLst>
    <p:handoutMasterId r:id="rId51"/>
  </p:handoutMasterIdLst>
  <p:sldIdLst>
    <p:sldId id="297" r:id="rId2"/>
    <p:sldId id="478" r:id="rId3"/>
    <p:sldId id="298" r:id="rId4"/>
    <p:sldId id="438" r:id="rId5"/>
    <p:sldId id="439" r:id="rId6"/>
    <p:sldId id="449" r:id="rId7"/>
    <p:sldId id="452" r:id="rId8"/>
    <p:sldId id="442" r:id="rId9"/>
    <p:sldId id="440" r:id="rId10"/>
    <p:sldId id="450" r:id="rId11"/>
    <p:sldId id="453" r:id="rId12"/>
    <p:sldId id="441" r:id="rId13"/>
    <p:sldId id="451" r:id="rId14"/>
    <p:sldId id="443" r:id="rId15"/>
    <p:sldId id="454" r:id="rId16"/>
    <p:sldId id="455" r:id="rId17"/>
    <p:sldId id="267" r:id="rId18"/>
    <p:sldId id="444" r:id="rId19"/>
    <p:sldId id="446" r:id="rId20"/>
    <p:sldId id="447" r:id="rId21"/>
    <p:sldId id="448" r:id="rId22"/>
    <p:sldId id="479" r:id="rId23"/>
    <p:sldId id="480" r:id="rId24"/>
    <p:sldId id="481" r:id="rId25"/>
    <p:sldId id="482" r:id="rId26"/>
    <p:sldId id="483" r:id="rId27"/>
    <p:sldId id="456" r:id="rId28"/>
    <p:sldId id="424" r:id="rId29"/>
    <p:sldId id="459" r:id="rId30"/>
    <p:sldId id="457" r:id="rId31"/>
    <p:sldId id="460" r:id="rId32"/>
    <p:sldId id="461" r:id="rId33"/>
    <p:sldId id="467" r:id="rId34"/>
    <p:sldId id="463" r:id="rId35"/>
    <p:sldId id="369" r:id="rId36"/>
    <p:sldId id="466" r:id="rId37"/>
    <p:sldId id="468" r:id="rId38"/>
    <p:sldId id="469" r:id="rId39"/>
    <p:sldId id="472" r:id="rId40"/>
    <p:sldId id="470" r:id="rId41"/>
    <p:sldId id="473" r:id="rId42"/>
    <p:sldId id="471" r:id="rId43"/>
    <p:sldId id="474" r:id="rId44"/>
    <p:sldId id="475" r:id="rId45"/>
    <p:sldId id="476" r:id="rId46"/>
    <p:sldId id="464" r:id="rId47"/>
    <p:sldId id="465" r:id="rId48"/>
    <p:sldId id="477" r:id="rId4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5" autoAdjust="0"/>
    <p:restoredTop sz="94590" autoAdjust="0"/>
  </p:normalViewPr>
  <p:slideViewPr>
    <p:cSldViewPr>
      <p:cViewPr varScale="1">
        <p:scale>
          <a:sx n="87" d="100"/>
          <a:sy n="87" d="100"/>
        </p:scale>
        <p:origin x="1330" y="3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14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44E1A066-3641-409E-B440-E03BE1A0AA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3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DB41E0A9-D23A-4D9E-8E36-829A8A18E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2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1E0A9-D23A-4D9E-8E36-829A8A18E11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8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64ADF-818E-4622-B449-58C7D90E890B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70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62168-CA75-4DCB-ACA1-3CBE51E9B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D0444-4EDE-4B38-A1B6-1736318DBC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321D8-A24E-4B03-8586-27459BEAE9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44912-138E-4802-853F-B984A9F1B8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CEF9F-1C92-4FF0-B96A-F7A26EAD5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4A5D3-C54B-4997-83E3-9432E83EEA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65590-C750-4EBE-B003-8C25E87E5E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96C32-B7AF-4AD0-8CF7-595A42FA59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90EA9-603D-4EE5-A1C2-41766C3D91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161DC-BD25-4CCF-BE89-96EEE98F52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DDD1C5-1327-4575-9025-19C1051F18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665C853-9B71-41A6-85AE-FF9CB414E8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263BF0B-CADE-419C-AB13-4AA4FFFE67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10E6B2F-18C5-4BBA-93EB-6AAC223AF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90D7465-2649-45B4-818D-D0220884C5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73B23E-588F-4102-9F6B-DE52C387C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51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57D645-5CE9-4EB9-B8B2-706EBA74EC3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7772400" cy="1470025"/>
          </a:xfrm>
        </p:spPr>
        <p:txBody>
          <a:bodyPr/>
          <a:lstStyle/>
          <a:p>
            <a:r>
              <a:rPr lang="en-US" sz="3600" dirty="0"/>
              <a:t>Scientific surveys for animal abundance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14500" y="3350195"/>
            <a:ext cx="5715000" cy="1752600"/>
          </a:xfrm>
        </p:spPr>
        <p:txBody>
          <a:bodyPr/>
          <a:lstStyle/>
          <a:p>
            <a:r>
              <a:rPr lang="en-US" dirty="0"/>
              <a:t>Elizabeth A. Babcock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" y="4953000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3CDE-0337-0151-9F8F-B301D9D5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4475"/>
            <a:ext cx="8229600" cy="487362"/>
          </a:xfrm>
        </p:spPr>
        <p:txBody>
          <a:bodyPr/>
          <a:lstStyle/>
          <a:p>
            <a:r>
              <a:rPr lang="en-US" dirty="0"/>
              <a:t>Data for trends in animal abundance from best to worst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D634D-04C7-A009-7236-E71BA5BB4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scientific surveys</a:t>
            </a:r>
          </a:p>
          <a:p>
            <a:r>
              <a:rPr lang="en-US" dirty="0"/>
              <a:t>standardized indices from fishery catch rates or other opportunistic data</a:t>
            </a:r>
          </a:p>
          <a:p>
            <a:r>
              <a:rPr lang="en-US" dirty="0"/>
              <a:t>Unstandardized mean catch rate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7249-353D-5402-D4E1-1D23263A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C5494-4A7E-D8D6-7D70-BD3DA1A7F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Standardized gear/methods means that the trend is not biased by changes in catchability/detection probability related to methods</a:t>
            </a:r>
          </a:p>
          <a:p>
            <a:r>
              <a:rPr lang="en-US" dirty="0"/>
              <a:t>However, often have relatively low sample size</a:t>
            </a:r>
          </a:p>
        </p:txBody>
      </p:sp>
    </p:spTree>
    <p:extLst>
      <p:ext uri="{BB962C8B-B14F-4D97-AF65-F5344CB8AC3E}">
        <p14:creationId xmlns:p14="http://schemas.microsoft.com/office/powerpoint/2010/main" val="443562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FF8A85-3B64-D1E3-6C25-BFBB35E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Quadrats</a:t>
            </a:r>
          </a:p>
        </p:txBody>
      </p:sp>
      <p:pic>
        <p:nvPicPr>
          <p:cNvPr id="6" name="Content Placeholder 5" descr="A group of people looking at a fish&#10;&#10;AI-generated content may be incorrect.">
            <a:extLst>
              <a:ext uri="{FF2B5EF4-FFF2-40B4-BE49-F238E27FC236}">
                <a16:creationId xmlns:a16="http://schemas.microsoft.com/office/drawing/2014/main" id="{E3E9FE08-C751-D366-6FE9-13E8442BF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08" y="762000"/>
            <a:ext cx="5791200" cy="43434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8E6E5B-B5CF-DC5F-678C-7BF274D2C18F}"/>
              </a:ext>
            </a:extLst>
          </p:cNvPr>
          <p:cNvSpPr txBox="1"/>
          <p:nvPr/>
        </p:nvSpPr>
        <p:spPr>
          <a:xfrm>
            <a:off x="381000" y="6322835"/>
            <a:ext cx="800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Dr. Bradley Stevens University of Maryland Eastern Shore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96AED-14D8-79D4-39EB-F98DA8F5DEC3}"/>
              </a:ext>
            </a:extLst>
          </p:cNvPr>
          <p:cNvSpPr txBox="1"/>
          <p:nvPr/>
        </p:nvSpPr>
        <p:spPr>
          <a:xfrm>
            <a:off x="685800" y="541020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Photo, video, or counted in situ</a:t>
            </a:r>
          </a:p>
        </p:txBody>
      </p:sp>
    </p:spTree>
    <p:extLst>
      <p:ext uri="{BB962C8B-B14F-4D97-AF65-F5344CB8AC3E}">
        <p14:creationId xmlns:p14="http://schemas.microsoft.com/office/powerpoint/2010/main" val="1287573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5529-61CD-947A-E6C1-24A0939F9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Transect</a:t>
            </a:r>
          </a:p>
        </p:txBody>
      </p:sp>
      <p:pic>
        <p:nvPicPr>
          <p:cNvPr id="1026" name="Picture 2" descr="Diver operated stereo video (stereo-DOV) fish survey method.">
            <a:extLst>
              <a:ext uri="{FF2B5EF4-FFF2-40B4-BE49-F238E27FC236}">
                <a16:creationId xmlns:a16="http://schemas.microsoft.com/office/drawing/2014/main" id="{BD1F5946-2A44-4313-E314-ED00EEAC8A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19200"/>
            <a:ext cx="8001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82BEAF-8FA8-52F5-4E91-8EB8283833B6}"/>
              </a:ext>
            </a:extLst>
          </p:cNvPr>
          <p:cNvSpPr txBox="1"/>
          <p:nvPr/>
        </p:nvSpPr>
        <p:spPr>
          <a:xfrm>
            <a:off x="457200" y="61935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https://peerj.com/articles/9246/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39255-FB2E-60A4-2213-2131F579039E}"/>
              </a:ext>
            </a:extLst>
          </p:cNvPr>
          <p:cNvSpPr txBox="1"/>
          <p:nvPr/>
        </p:nvSpPr>
        <p:spPr>
          <a:xfrm>
            <a:off x="738554" y="434340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Photo, video, or counted in situ</a:t>
            </a:r>
          </a:p>
        </p:txBody>
      </p:sp>
    </p:spTree>
    <p:extLst>
      <p:ext uri="{BB962C8B-B14F-4D97-AF65-F5344CB8AC3E}">
        <p14:creationId xmlns:p14="http://schemas.microsoft.com/office/powerpoint/2010/main" val="1236692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5A209-AFA4-64F9-2766-A4C05AD65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point 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B34C9-A2B8-F328-381D-06067C2FEB27}"/>
              </a:ext>
            </a:extLst>
          </p:cNvPr>
          <p:cNvSpPr txBox="1"/>
          <p:nvPr/>
        </p:nvSpPr>
        <p:spPr>
          <a:xfrm>
            <a:off x="76200" y="5651809"/>
            <a:ext cx="883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https://www.researchgate.net/publication/312328092_Pacific_Reef_Assessment_and_Monitoring_Program_Data_Report_Ecological_monitoring_2016_-_reef_fishes_and_benthic_habitats_of_the_main_Hawaiian_Islands_Northwestern_Hawaiian_Islands_Pacific_Remote_Islan</a:t>
            </a:r>
          </a:p>
        </p:txBody>
      </p:sp>
      <p:pic>
        <p:nvPicPr>
          <p:cNvPr id="7" name="Picture 6" descr="A person diving in a tank&#10;&#10;AI-generated content may be incorrect.">
            <a:extLst>
              <a:ext uri="{FF2B5EF4-FFF2-40B4-BE49-F238E27FC236}">
                <a16:creationId xmlns:a16="http://schemas.microsoft.com/office/drawing/2014/main" id="{FC9683EC-0CF7-45FC-B6C3-16E64DF6F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17638"/>
            <a:ext cx="6463898" cy="391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8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56B3-ED42-2E70-9A81-964C6B111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868362"/>
          </a:xfrm>
        </p:spPr>
        <p:txBody>
          <a:bodyPr/>
          <a:lstStyle/>
          <a:p>
            <a:r>
              <a:rPr lang="en-US" dirty="0"/>
              <a:t>Boat-based visual surveys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265FD0C-2886-ACC7-376C-55B57FF79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47750"/>
            <a:ext cx="7358100" cy="49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8A2CEB-CFB8-84F3-7D69-BED720D5D527}"/>
              </a:ext>
            </a:extLst>
          </p:cNvPr>
          <p:cNvSpPr txBox="1"/>
          <p:nvPr/>
        </p:nvSpPr>
        <p:spPr>
          <a:xfrm>
            <a:off x="597877" y="5953150"/>
            <a:ext cx="80889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https://www.fisheries.noaa.gov/southeast/population-assessments/marine-mammal-research-surveys-noaas-southeast-region</a:t>
            </a:r>
          </a:p>
        </p:txBody>
      </p:sp>
    </p:spTree>
    <p:extLst>
      <p:ext uri="{BB962C8B-B14F-4D97-AF65-F5344CB8AC3E}">
        <p14:creationId xmlns:p14="http://schemas.microsoft.com/office/powerpoint/2010/main" val="1664018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064A-866A-FAF4-0B93-6D1C9AE2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Trawl survey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50D716E-E323-00A9-C9CA-E15B77F0AD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914401"/>
            <a:ext cx="8229600" cy="548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3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F999-4C92-D739-8C44-44519783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Longline survey</a:t>
            </a:r>
          </a:p>
        </p:txBody>
      </p:sp>
      <p:pic>
        <p:nvPicPr>
          <p:cNvPr id="3074" name="Picture 2" descr="Gulf of Maine Bottom Longline Survey | NOAA Fisheries">
            <a:extLst>
              <a:ext uri="{FF2B5EF4-FFF2-40B4-BE49-F238E27FC236}">
                <a16:creationId xmlns:a16="http://schemas.microsoft.com/office/drawing/2014/main" id="{21C82CDA-37BA-9FDA-07EF-FCD085C029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914400"/>
            <a:ext cx="8229601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889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4F45-8F01-2403-78EF-21CEF20A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Acoustic surveys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2319EA-5D95-2B5A-FCE1-F0B7B0DC3B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914400"/>
            <a:ext cx="5079649" cy="5582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95FD0F-D6A8-3288-BF70-1A8B86B6384E}"/>
              </a:ext>
            </a:extLst>
          </p:cNvPr>
          <p:cNvSpPr txBox="1"/>
          <p:nvPr/>
        </p:nvSpPr>
        <p:spPr>
          <a:xfrm>
            <a:off x="427892" y="6398696"/>
            <a:ext cx="845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https://www.fisheries.noaa.gov/science-blog/all-out-acoustics</a:t>
            </a:r>
          </a:p>
        </p:txBody>
      </p:sp>
    </p:spTree>
    <p:extLst>
      <p:ext uri="{BB962C8B-B14F-4D97-AF65-F5344CB8AC3E}">
        <p14:creationId xmlns:p14="http://schemas.microsoft.com/office/powerpoint/2010/main" val="3753196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AF7F2-5DC5-57C6-07E1-D064663B4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0736-C5C9-96BE-455B-5695A203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surveys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11EEC-DE80-63C3-A0D6-2A346FFE3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839200" cy="5135563"/>
          </a:xfrm>
        </p:spPr>
        <p:txBody>
          <a:bodyPr/>
          <a:lstStyle/>
          <a:p>
            <a:r>
              <a:rPr lang="en-US" sz="2800" dirty="0"/>
              <a:t>Area swept methods</a:t>
            </a:r>
          </a:p>
          <a:p>
            <a:pPr lvl="1"/>
            <a:r>
              <a:rPr lang="en-US" sz="2400" dirty="0"/>
              <a:t>Transects, quadrats, stationary point counts, </a:t>
            </a:r>
          </a:p>
          <a:p>
            <a:pPr lvl="1"/>
            <a:r>
              <a:rPr lang="en-US" sz="2400" dirty="0"/>
              <a:t>Area sampled is known, can calculate </a:t>
            </a:r>
          </a:p>
          <a:p>
            <a:pPr marL="457200" lvl="1" indent="0">
              <a:buNone/>
            </a:pPr>
            <a:r>
              <a:rPr lang="en-US" sz="2400" i="1" dirty="0"/>
              <a:t> 		density =number / area</a:t>
            </a:r>
          </a:p>
          <a:p>
            <a:pPr lvl="1"/>
            <a:r>
              <a:rPr lang="en-US" sz="2400" dirty="0"/>
              <a:t>trawl surveys, beach seines, etc. area can be calculated approximately</a:t>
            </a:r>
          </a:p>
          <a:p>
            <a:pPr lvl="1"/>
            <a:r>
              <a:rPr lang="en-US" sz="2400" dirty="0"/>
              <a:t>Boat-based or aerial surveys may record distance from transect line and use distance-sampling methods to get density</a:t>
            </a:r>
          </a:p>
        </p:txBody>
      </p:sp>
    </p:spTree>
    <p:extLst>
      <p:ext uri="{BB962C8B-B14F-4D97-AF65-F5344CB8AC3E}">
        <p14:creationId xmlns:p14="http://schemas.microsoft.com/office/powerpoint/2010/main" val="640290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E0B7-0B6E-168D-CB10-EAF1C202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surveys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F53C1-29E2-5A01-558C-081F6F756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839200" cy="5135563"/>
          </a:xfrm>
        </p:spPr>
        <p:txBody>
          <a:bodyPr/>
          <a:lstStyle/>
          <a:p>
            <a:r>
              <a:rPr lang="en-US" sz="2800" dirty="0"/>
              <a:t>Relative abundance methods</a:t>
            </a:r>
          </a:p>
          <a:p>
            <a:pPr lvl="1"/>
            <a:r>
              <a:rPr lang="en-US" sz="2400" dirty="0"/>
              <a:t>Baited hooks, baited remote underwater video, gillnets, traps</a:t>
            </a:r>
          </a:p>
          <a:p>
            <a:pPr lvl="1"/>
            <a:r>
              <a:rPr lang="en-US" sz="2400" dirty="0"/>
              <a:t>Area of attraction is not known, so can’t calculate density</a:t>
            </a:r>
          </a:p>
          <a:p>
            <a:r>
              <a:rPr lang="en-US" sz="2600" dirty="0"/>
              <a:t>Acoustics.  </a:t>
            </a:r>
          </a:p>
          <a:p>
            <a:pPr lvl="1"/>
            <a:r>
              <a:rPr lang="en-US" sz="2400" dirty="0"/>
              <a:t>Require models to interpret the backscatter, </a:t>
            </a:r>
            <a:r>
              <a:rPr lang="en-US" sz="2400" dirty="0" err="1"/>
              <a:t>groundtruthing</a:t>
            </a:r>
            <a:r>
              <a:rPr lang="en-US" sz="2400" dirty="0"/>
              <a:t> to verify species composition, etc. </a:t>
            </a:r>
          </a:p>
        </p:txBody>
      </p:sp>
    </p:spTree>
    <p:extLst>
      <p:ext uri="{BB962C8B-B14F-4D97-AF65-F5344CB8AC3E}">
        <p14:creationId xmlns:p14="http://schemas.microsoft.com/office/powerpoint/2010/main" val="3409359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84CDA-D290-A813-D608-0E0F33A2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NOAA surveys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AFD1-D620-0D3C-7D18-4B22DEB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https://www.fisheries.noaa.gov/national/science-data/research-surveys</a:t>
            </a:r>
          </a:p>
        </p:txBody>
      </p:sp>
    </p:spTree>
    <p:extLst>
      <p:ext uri="{BB962C8B-B14F-4D97-AF65-F5344CB8AC3E}">
        <p14:creationId xmlns:p14="http://schemas.microsoft.com/office/powerpoint/2010/main" val="285905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0C93-0EA1-800F-54A8-25BF4A58E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surveys to estimate animal abundance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4DF5B-C09B-C9D8-B5B6-3C02C5D59B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Can calculate relative abundance from any survey. </a:t>
                </a:r>
              </a:p>
              <a:p>
                <a:r>
                  <a:rPr lang="en-US" dirty="0"/>
                  <a:t>From area swept surveys, can get density, and (with an estimate of total habitat area) total abundance.  </a:t>
                </a:r>
              </a:p>
              <a:p>
                <a:r>
                  <a:rPr lang="en-US" dirty="0"/>
                  <a:t>With information on animal size, can convert numbers to biomass, e.g. if you have a count of the numbers in each length class, the total biomass is the sum across lengths of N * weight at length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4DF5B-C09B-C9D8-B5B6-3C02C5D59B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1111" b="-4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1580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5469-E18A-E40C-A3E1-D230018F3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A4715-9D6D-5A91-19F1-8B39E3EC4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Surveys generally involve randomness and must involve replication, to achieve a representative sample of the population</a:t>
            </a:r>
          </a:p>
          <a:p>
            <a:r>
              <a:rPr lang="en-US" sz="2800" dirty="0"/>
              <a:t>Spatial and temporal heterogeneity must be covered by sampling effort</a:t>
            </a:r>
          </a:p>
          <a:p>
            <a:r>
              <a:rPr lang="en-US" sz="2800" dirty="0"/>
              <a:t>Potential bias if, for example, the sampling frame of the survey doesn’t include the whole range of the population, especially if population moves due to climate change, or seasonal movements</a:t>
            </a:r>
          </a:p>
          <a:p>
            <a:r>
              <a:rPr lang="en-US" sz="2800" dirty="0"/>
              <a:t>Detection probability is assumed to be either constant or modeled correctly</a:t>
            </a:r>
          </a:p>
          <a:p>
            <a:pPr lvl="1"/>
            <a:r>
              <a:rPr lang="en-US" sz="2600" dirty="0"/>
              <a:t>e.g. for species composition, assume all equally likely to be detected. </a:t>
            </a:r>
          </a:p>
        </p:txBody>
      </p:sp>
    </p:spTree>
    <p:extLst>
      <p:ext uri="{BB962C8B-B14F-4D97-AF65-F5344CB8AC3E}">
        <p14:creationId xmlns:p14="http://schemas.microsoft.com/office/powerpoint/2010/main" val="2073267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5FCDF-D324-C30C-F067-85FC66D7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F95B-508C-E637-C66C-88B373E9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bias: animal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27931-422E-1B15-7EAF-55ED46DBD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Fish may avoid or be attracted to divers</a:t>
            </a:r>
          </a:p>
          <a:p>
            <a:r>
              <a:rPr lang="en-US" sz="2800" dirty="0"/>
              <a:t>Fish may be herded into trawl nets, or escape from them</a:t>
            </a:r>
          </a:p>
          <a:p>
            <a:r>
              <a:rPr lang="en-US" sz="2800" dirty="0"/>
              <a:t>Schooling fish are more visible than cryptic benthic fish</a:t>
            </a:r>
          </a:p>
          <a:p>
            <a:r>
              <a:rPr lang="en-US" sz="2800" dirty="0"/>
              <a:t>Time of day: Diel vertical migration or migration from reefs/mangroves to seagrass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900213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/>
            <a:r>
              <a:rPr lang="en-US" sz="3600" dirty="0"/>
              <a:t>Survey Designs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marL="231775" indent="-231775" eaLnBrk="1" hangingPunct="1"/>
            <a:r>
              <a:rPr lang="en-US" sz="2800" dirty="0"/>
              <a:t>Random Sampling</a:t>
            </a:r>
          </a:p>
          <a:p>
            <a:pPr marL="682625" lvl="1" indent="-220663" eaLnBrk="1" hangingPunct="1"/>
            <a:r>
              <a:rPr lang="en-US" sz="2400" dirty="0"/>
              <a:t>Every site has equal opportunity to be chosen. </a:t>
            </a:r>
          </a:p>
          <a:p>
            <a:pPr marL="231775" indent="-231775" eaLnBrk="1" hangingPunct="1"/>
            <a:r>
              <a:rPr lang="en-US" sz="2800" dirty="0"/>
              <a:t>Systematic Sampling</a:t>
            </a:r>
          </a:p>
          <a:p>
            <a:pPr marL="682625" lvl="1" indent="-220663" eaLnBrk="1" hangingPunct="1"/>
            <a:r>
              <a:rPr lang="en-US" sz="2400" dirty="0"/>
              <a:t>e.g. evenly spaced transects along a coast</a:t>
            </a:r>
          </a:p>
          <a:p>
            <a:pPr marL="282575" indent="-220663"/>
            <a:r>
              <a:rPr lang="en-US" sz="2600" dirty="0"/>
              <a:t>Repeated measurements at fixed sites</a:t>
            </a:r>
          </a:p>
          <a:p>
            <a:pPr marL="682625" lvl="1" indent="-220663"/>
            <a:r>
              <a:rPr lang="en-US" sz="2400" dirty="0"/>
              <a:t>Good for estimating trends, but not spatial patterns</a:t>
            </a:r>
          </a:p>
          <a:p>
            <a:pPr marL="231775" indent="-231775" eaLnBrk="1" hangingPunct="1">
              <a:lnSpc>
                <a:spcPct val="90000"/>
              </a:lnSpc>
            </a:pPr>
            <a:r>
              <a:rPr lang="en-US" dirty="0"/>
              <a:t> </a:t>
            </a:r>
            <a:r>
              <a:rPr lang="en-US" sz="2800" dirty="0"/>
              <a:t>Stratified Random Sampling.   </a:t>
            </a:r>
          </a:p>
          <a:p>
            <a:pPr marL="682625" lvl="1" indent="-220663" eaLnBrk="1" hangingPunct="1">
              <a:lnSpc>
                <a:spcPct val="90000"/>
              </a:lnSpc>
            </a:pPr>
            <a:r>
              <a:rPr lang="en-US" sz="2400" dirty="0"/>
              <a:t>Divide region into strata with similar habitat, </a:t>
            </a:r>
            <a:r>
              <a:rPr lang="en-US" sz="2400" dirty="0" err="1"/>
              <a:t>etc</a:t>
            </a:r>
            <a:r>
              <a:rPr lang="en-US" sz="2400" dirty="0"/>
              <a:t>, and focus sampling in areas with more variability or more abundance.</a:t>
            </a:r>
          </a:p>
          <a:p>
            <a:pPr marL="282575" indent="-220663">
              <a:lnSpc>
                <a:spcPct val="90000"/>
              </a:lnSpc>
            </a:pPr>
            <a:r>
              <a:rPr lang="en-US" sz="2600" dirty="0"/>
              <a:t>Adaptive sampling, cluster sampling, and other complex designs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F288F-691F-C178-DA27-CA41C18D4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analyzing survey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DE509-F26F-9A6A-2EC8-0D00EDD26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Design-based methods</a:t>
            </a:r>
          </a:p>
          <a:p>
            <a:pPr lvl="1"/>
            <a:r>
              <a:rPr lang="en-US" dirty="0"/>
              <a:t>Statistical methods to calculate numbers or density directly from data, with variance estimators</a:t>
            </a:r>
          </a:p>
          <a:p>
            <a:r>
              <a:rPr lang="en-US" dirty="0"/>
              <a:t>Model-based methods</a:t>
            </a:r>
          </a:p>
          <a:p>
            <a:pPr lvl="1"/>
            <a:r>
              <a:rPr lang="en-US" dirty="0"/>
              <a:t>Fit a generalized linear model and use the model to estimate mean density</a:t>
            </a:r>
          </a:p>
          <a:p>
            <a:pPr lvl="1"/>
            <a:r>
              <a:rPr lang="en-US" dirty="0"/>
              <a:t>Allow estimation of detection probability, incorporating variables, etc. </a:t>
            </a:r>
          </a:p>
          <a:p>
            <a:pPr lvl="1"/>
            <a:r>
              <a:rPr lang="en-US" dirty="0"/>
              <a:t>We will get to this with fisheries CPUE data</a:t>
            </a:r>
          </a:p>
          <a:p>
            <a:r>
              <a:rPr lang="en-US" dirty="0"/>
              <a:t>Distance sampling, etc. used design-based estimates with estimate detection probability</a:t>
            </a:r>
          </a:p>
        </p:txBody>
      </p:sp>
    </p:spTree>
    <p:extLst>
      <p:ext uri="{BB962C8B-B14F-4D97-AF65-F5344CB8AC3E}">
        <p14:creationId xmlns:p14="http://schemas.microsoft.com/office/powerpoint/2010/main" val="1257459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6E95-7F0A-45C5-F10C-7719E8DB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1A51-9DCA-A0AC-B502-EB29B487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Design-based estimate for simple random 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BC763-A83C-F8D5-4BFB-98F13B4B29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43000"/>
                <a:ext cx="8991600" cy="4983163"/>
              </a:xfrm>
            </p:spPr>
            <p:txBody>
              <a:bodyPr/>
              <a:lstStyle/>
              <a:p>
                <a:r>
                  <a:rPr lang="en-US" dirty="0"/>
                  <a:t>Say y is the counts in each transect in each year</a:t>
                </a:r>
              </a:p>
              <a:p>
                <a:pPr marL="0" indent="0">
                  <a:buNone/>
                </a:pPr>
                <a:r>
                  <a:rPr lang="en-US" dirty="0"/>
                  <a:t>Average count is ordinary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 = 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 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pt-PT" dirty="0"/>
                  <a:t>With variance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PT"/>
                      <m:t>Var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assuming the fraction of the population sampled is small</a:t>
                </a:r>
              </a:p>
              <a:p>
                <a:pPr lvl="1"/>
                <a:r>
                  <a:rPr lang="en-US" dirty="0"/>
                  <a:t>if survey covers a large fraction of the population (f), there is a finite sample correction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PT"/>
                      <m:t>Var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. </a:t>
                </a:r>
              </a:p>
              <a:p>
                <a:r>
                  <a:rPr lang="en-US" dirty="0"/>
                  <a:t>Average count can be used as an index of abundance over time or space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BC763-A83C-F8D5-4BFB-98F13B4B29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43000"/>
                <a:ext cx="8991600" cy="4983163"/>
              </a:xfrm>
              <a:blipFill>
                <a:blip r:embed="rId2"/>
                <a:stretch>
                  <a:fillRect l="-1559" t="-1591" b="-8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C316554-3451-53A4-4898-CC872355469C}"/>
              </a:ext>
            </a:extLst>
          </p:cNvPr>
          <p:cNvSpPr txBox="1"/>
          <p:nvPr/>
        </p:nvSpPr>
        <p:spPr>
          <a:xfrm>
            <a:off x="6858000" y="632249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Rao 2000</a:t>
            </a:r>
          </a:p>
        </p:txBody>
      </p:sp>
    </p:spTree>
    <p:extLst>
      <p:ext uri="{BB962C8B-B14F-4D97-AF65-F5344CB8AC3E}">
        <p14:creationId xmlns:p14="http://schemas.microsoft.com/office/powerpoint/2010/main" val="836928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DF22-B7B2-05D9-165D-85CE42E2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2673-A227-BFF1-3691-1E1F8EE9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Design-based estimates for simple random sample, area swept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24B3C-B5D7-F956-2110-7E06CEEA4C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295400"/>
                <a:ext cx="8305800" cy="4830763"/>
              </a:xfrm>
            </p:spPr>
            <p:txBody>
              <a:bodyPr/>
              <a:lstStyle/>
              <a:p>
                <a:r>
                  <a:rPr lang="en-US" sz="2800" dirty="0"/>
                  <a:t>Say y is the counts in each transect in each year, and a is the (constant) area per transect</a:t>
                </a:r>
              </a:p>
              <a:p>
                <a:pPr marL="0" indent="0">
                  <a:buNone/>
                </a:pPr>
                <a:r>
                  <a:rPr lang="en-US" sz="2800" dirty="0"/>
                  <a:t>Average count in transect is ordinary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  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Density is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Mean density 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lit/>
                      </m:rPr>
                      <a:rPr lang="en-US" sz="28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pt-PT" sz="2800" dirty="0"/>
                  <a:t>With variance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1" smtClean="0"/>
                      <m:t>var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num>
                          <m:den>
                            <m:r>
                              <a:rPr lang="pt-PT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pt-PT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PT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PT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pt-PT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2800" b="0" i="1" smtClean="0"/>
                      <m:t>var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800" dirty="0"/>
              </a:p>
              <a:p>
                <a:r>
                  <a:rPr lang="en-US" sz="2800" dirty="0"/>
                  <a:t>Density can be used as an index of abundance, or, if total habitat area (A) is known, can calculate 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sz="2800" dirty="0"/>
                  <a:t>  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24B3C-B5D7-F956-2110-7E06CEEA4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295400"/>
                <a:ext cx="8305800" cy="4830763"/>
              </a:xfrm>
              <a:blipFill>
                <a:blip r:embed="rId2"/>
                <a:stretch>
                  <a:fillRect l="-1542" t="-1389" r="-2643" b="-3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116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20A71-2642-F839-D6F9-3D09DB70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random 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2A2101-983D-D43A-8F9A-B4B2FE9F02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Samples are weighted (W) by the amount of the habitat in each stratum 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US" dirty="0"/>
                  <a:t>  or with finite sample correction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Multiplying by area to get density works the same way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2A2101-983D-D43A-8F9A-B4B2FE9F02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b="-12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3908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73B6-E86B-4592-8EAA-40B32BCC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sample allocation by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C6DBBA-D8BA-2EEC-056D-1EAAE4373FD9}"/>
                  </a:ext>
                </a:extLst>
              </p:cNvPr>
              <p:cNvSpPr/>
              <p:nvPr/>
            </p:nvSpPr>
            <p:spPr>
              <a:xfrm>
                <a:off x="1066800" y="1295400"/>
                <a:ext cx="2895600" cy="21336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C6DBBA-D8BA-2EEC-056D-1EAAE4373F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295400"/>
                <a:ext cx="2895600" cy="2133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543B8A5-AE17-69C8-F160-2E442F5C0929}"/>
                  </a:ext>
                </a:extLst>
              </p:cNvPr>
              <p:cNvSpPr/>
              <p:nvPr/>
            </p:nvSpPr>
            <p:spPr>
              <a:xfrm>
                <a:off x="4243754" y="1295400"/>
                <a:ext cx="2895600" cy="21336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543B8A5-AE17-69C8-F160-2E442F5C09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754" y="1295400"/>
                <a:ext cx="2895600" cy="2133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C675BAE-4A27-7462-EDA3-AB3BECF00E5E}"/>
                  </a:ext>
                </a:extLst>
              </p:cNvPr>
              <p:cNvSpPr/>
              <p:nvPr/>
            </p:nvSpPr>
            <p:spPr>
              <a:xfrm>
                <a:off x="1049215" y="3581400"/>
                <a:ext cx="2895600" cy="21336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C675BAE-4A27-7462-EDA3-AB3BECF00E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215" y="3581400"/>
                <a:ext cx="2895600" cy="2133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FE929B7-0EA3-EDCD-05C5-A82ED33BC83D}"/>
                  </a:ext>
                </a:extLst>
              </p:cNvPr>
              <p:cNvSpPr/>
              <p:nvPr/>
            </p:nvSpPr>
            <p:spPr>
              <a:xfrm>
                <a:off x="4243754" y="3581400"/>
                <a:ext cx="2895600" cy="21336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FE929B7-0EA3-EDCD-05C5-A82ED33BC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754" y="3581400"/>
                <a:ext cx="2895600" cy="2133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978237A-4101-DEC7-A5FE-3DAAE62F546C}"/>
              </a:ext>
            </a:extLst>
          </p:cNvPr>
          <p:cNvSpPr txBox="1"/>
          <p:nvPr/>
        </p:nvSpPr>
        <p:spPr>
          <a:xfrm>
            <a:off x="1049215" y="5943600"/>
            <a:ext cx="6875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Sampling proportional to variance makes standard error similar in each stratum, reduces overall variance of N estimate</a:t>
            </a:r>
          </a:p>
        </p:txBody>
      </p:sp>
    </p:spTree>
    <p:extLst>
      <p:ext uri="{BB962C8B-B14F-4D97-AF65-F5344CB8AC3E}">
        <p14:creationId xmlns:p14="http://schemas.microsoft.com/office/powerpoint/2010/main" val="172709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33405-D5DB-0C3A-5999-299C0DDD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example (100 x 100 units)</a:t>
            </a:r>
            <a:br>
              <a:rPr lang="en-US" dirty="0"/>
            </a:br>
            <a:r>
              <a:rPr lang="en-US" dirty="0"/>
              <a:t>Poisson numbers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9E63A5C6-C47D-AF4E-E681-6A038E7EFC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7286490" cy="520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488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F329-7D82-3EC7-DBD7-DBE4E127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sample (n)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D4B3027B-EA6D-8374-D2B4-3C75637194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629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148E-B31C-BBAC-9630-1F793294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sample, n=c(3,7,10,30)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0DBB2689-6091-6E4E-4A83-F24B6A3A54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488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A06B8-992F-77A7-27B5-2C4B1CE4A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vs. stratified estimate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AD2FD18C-C1A0-F0F6-93E6-2A626BC5E4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29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83CBF4-169A-4CD0-911F-17EBB5AA6E83}"/>
              </a:ext>
            </a:extLst>
          </p:cNvPr>
          <p:cNvSpPr txBox="1"/>
          <p:nvPr/>
        </p:nvSpPr>
        <p:spPr>
          <a:xfrm>
            <a:off x="762000" y="5943600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are accurate, but the stratified version is more precise</a:t>
            </a:r>
          </a:p>
        </p:txBody>
      </p:sp>
    </p:spTree>
    <p:extLst>
      <p:ext uri="{BB962C8B-B14F-4D97-AF65-F5344CB8AC3E}">
        <p14:creationId xmlns:p14="http://schemas.microsoft.com/office/powerpoint/2010/main" val="3457762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F9B42-2A86-02BD-53C9-427C5D79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91D9B-A0FE-500D-0F79-11DE935AF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2006 NMFS trawl survey data for Georges Bank (GB) yellow tail flounder (YTF)</a:t>
            </a:r>
          </a:p>
          <a:p>
            <a:pPr lvl="1"/>
            <a:r>
              <a:rPr lang="en-US" altLang="en-US" sz="2400" dirty="0"/>
              <a:t>All  tows are 0.01 n.mi</a:t>
            </a:r>
            <a:r>
              <a:rPr lang="en-US" altLang="en-US" sz="2400" baseline="30000" dirty="0"/>
              <a:t>2</a:t>
            </a:r>
          </a:p>
          <a:p>
            <a:r>
              <a:rPr lang="en-US" altLang="en-US" sz="2800" dirty="0"/>
              <a:t>Tow data : GB_YTF_2006_Tows.csv</a:t>
            </a:r>
          </a:p>
          <a:p>
            <a:pPr lvl="1"/>
            <a:r>
              <a:rPr lang="en-US" altLang="en-US" sz="2400" dirty="0"/>
              <a:t>Stratum, tow #, # fish, total weight, season</a:t>
            </a:r>
          </a:p>
          <a:p>
            <a:r>
              <a:rPr lang="en-US" altLang="en-US" sz="2600" dirty="0"/>
              <a:t>strata.csv contains area (</a:t>
            </a:r>
            <a:r>
              <a:rPr lang="en-US" altLang="en-US" sz="2800" dirty="0"/>
              <a:t>n.mi</a:t>
            </a:r>
            <a:r>
              <a:rPr lang="en-US" altLang="en-US" sz="2800" baseline="30000" dirty="0"/>
              <a:t>2</a:t>
            </a:r>
            <a:r>
              <a:rPr lang="en-US" altLang="en-US" sz="2600" dirty="0"/>
              <a:t> ) for each spatial stratum</a:t>
            </a:r>
          </a:p>
          <a:p>
            <a:r>
              <a:rPr lang="en-US" dirty="0"/>
              <a:t>Keep spring and fall surveys separate</a:t>
            </a:r>
          </a:p>
          <a:p>
            <a:r>
              <a:rPr lang="en-US" dirty="0"/>
              <a:t>From Brad Stevens, UMES</a:t>
            </a:r>
          </a:p>
        </p:txBody>
      </p:sp>
    </p:spTree>
    <p:extLst>
      <p:ext uri="{BB962C8B-B14F-4D97-AF65-F5344CB8AC3E}">
        <p14:creationId xmlns:p14="http://schemas.microsoft.com/office/powerpoint/2010/main" val="4204032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5D766FC-1D46-4ADA-9BA0-CAD2B8E95D20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  <p:pic>
        <p:nvPicPr>
          <p:cNvPr id="28675" name="Picture 2" descr="YTF Survey Strat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290513"/>
            <a:ext cx="753427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Box 4"/>
          <p:cNvSpPr txBox="1">
            <a:spLocks noChangeArrowheads="1"/>
          </p:cNvSpPr>
          <p:nvPr/>
        </p:nvSpPr>
        <p:spPr bwMode="auto">
          <a:xfrm>
            <a:off x="4724400" y="5410200"/>
            <a:ext cx="2300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NMFS Survey Strata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194973" y="3000171"/>
            <a:ext cx="16594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Georges Bank</a:t>
            </a:r>
          </a:p>
        </p:txBody>
      </p:sp>
      <p:sp>
        <p:nvSpPr>
          <p:cNvPr id="2" name="Oval 1"/>
          <p:cNvSpPr/>
          <p:nvPr/>
        </p:nvSpPr>
        <p:spPr>
          <a:xfrm rot="20477770">
            <a:off x="5673286" y="1779673"/>
            <a:ext cx="22860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4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1810-59B7-E72A-C53A-B5868F27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with SE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33B099C-224E-BE1F-7B89-FE05201D8A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94" y="1272365"/>
            <a:ext cx="7073130" cy="505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523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9E993-91C2-32AF-563C-330BB4B4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N estimates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D7D0D23-FFAA-B1FC-2905-969A7B8512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6080761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D445FB-0E1C-047A-7C85-EF36AC25367D}"/>
              </a:ext>
            </a:extLst>
          </p:cNvPr>
          <p:cNvSpPr txBox="1"/>
          <p:nvPr/>
        </p:nvSpPr>
        <p:spPr>
          <a:xfrm>
            <a:off x="6705600" y="2514600"/>
            <a:ext cx="2057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random and stratified estimates gave similar results</a:t>
            </a:r>
          </a:p>
          <a:p>
            <a:endParaRPr lang="en-US" dirty="0"/>
          </a:p>
          <a:p>
            <a:r>
              <a:rPr lang="en-US" dirty="0"/>
              <a:t>How to deal with strata with no data? </a:t>
            </a:r>
          </a:p>
          <a:p>
            <a:pPr marL="285750" indent="-285750">
              <a:buFontTx/>
              <a:buChar char="-"/>
            </a:pPr>
            <a:r>
              <a:rPr lang="en-US" dirty="0"/>
              <a:t>pool strata (e.g. combine across years)</a:t>
            </a:r>
          </a:p>
          <a:p>
            <a:pPr marL="285750" indent="-285750">
              <a:buFontTx/>
              <a:buChar char="-"/>
            </a:pPr>
            <a:r>
              <a:rPr lang="en-US" dirty="0"/>
              <a:t>model-based methods</a:t>
            </a:r>
          </a:p>
        </p:txBody>
      </p:sp>
    </p:spTree>
    <p:extLst>
      <p:ext uri="{BB962C8B-B14F-4D97-AF65-F5344CB8AC3E}">
        <p14:creationId xmlns:p14="http://schemas.microsoft.com/office/powerpoint/2010/main" val="2859818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94B9-FC10-6F13-5A88-C62ECD27A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Shark bottom longline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AC755-9A28-05D8-4A8E-08DA0CF0E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raw data, not yet cleaned</a:t>
            </a:r>
          </a:p>
          <a:p>
            <a:r>
              <a:rPr lang="en-US" dirty="0"/>
              <a:t>Catch data includes data on individual sharks caught</a:t>
            </a:r>
          </a:p>
          <a:p>
            <a:r>
              <a:rPr lang="en-US" dirty="0"/>
              <a:t>Station data has information on sampling stations</a:t>
            </a:r>
          </a:p>
          <a:p>
            <a:r>
              <a:rPr lang="en-US" dirty="0"/>
              <a:t>Correct sample unit is the individual stations. Need to use the catch data to summarize number of each species caught without losing the zeros. </a:t>
            </a:r>
          </a:p>
        </p:txBody>
      </p:sp>
    </p:spTree>
    <p:extLst>
      <p:ext uri="{BB962C8B-B14F-4D97-AF65-F5344CB8AC3E}">
        <p14:creationId xmlns:p14="http://schemas.microsoft.com/office/powerpoint/2010/main" val="10159555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90FE-B25D-453A-11E7-716E4EC0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CDA28-742E-BACA-6397-1D73233C8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 the number of each species in each station/date/cruise in “catch”</a:t>
            </a:r>
          </a:p>
          <a:p>
            <a:r>
              <a:rPr lang="en-US" dirty="0" err="1"/>
              <a:t>Left_join</a:t>
            </a:r>
            <a:r>
              <a:rPr lang="en-US" dirty="0"/>
              <a:t> station with catch on station/date/cruise</a:t>
            </a:r>
          </a:p>
          <a:p>
            <a:r>
              <a:rPr lang="en-US" dirty="0"/>
              <a:t>Fill in zeros for stations with no catch of each species</a:t>
            </a:r>
          </a:p>
          <a:p>
            <a:r>
              <a:rPr lang="en-US" dirty="0"/>
              <a:t>Analyze catches per station/date/cruise </a:t>
            </a:r>
          </a:p>
        </p:txBody>
      </p:sp>
    </p:spTree>
    <p:extLst>
      <p:ext uri="{BB962C8B-B14F-4D97-AF65-F5344CB8AC3E}">
        <p14:creationId xmlns:p14="http://schemas.microsoft.com/office/powerpoint/2010/main" val="1718180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59F1-25A7-2631-145E-E6D2AAF2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Atlantic </a:t>
            </a:r>
            <a:r>
              <a:rPr lang="en-US" dirty="0" err="1"/>
              <a:t>sharpnose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9115083-DDF8-4F4B-B133-4852F8C942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26682"/>
            <a:ext cx="7286490" cy="520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62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AB740-4712-52EA-709D-43510392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90135-2453-1CD2-32C1-A94E13AD6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visual transects, record distance from observer to animal, </a:t>
            </a:r>
          </a:p>
          <a:p>
            <a:r>
              <a:rPr lang="en-US" dirty="0"/>
              <a:t>Probability of detection decreases with distance</a:t>
            </a:r>
          </a:p>
          <a:p>
            <a:r>
              <a:rPr lang="en-US" dirty="0"/>
              <a:t>Adjust sampling area for detection distance</a:t>
            </a:r>
          </a:p>
          <a:p>
            <a:r>
              <a:rPr lang="en-US" dirty="0"/>
              <a:t>Examples from Distance library in R</a:t>
            </a:r>
          </a:p>
          <a:p>
            <a:r>
              <a:rPr lang="en-US" dirty="0"/>
              <a:t>https://distancesampling.org/Distance/articles/lines-distill.html</a:t>
            </a:r>
          </a:p>
          <a:p>
            <a:r>
              <a:rPr lang="en-US" dirty="0"/>
              <a:t>https://distancesampling.org/Distance/articles/web-only/points/pointtransects-distill.html</a:t>
            </a:r>
          </a:p>
        </p:txBody>
      </p:sp>
    </p:spTree>
    <p:extLst>
      <p:ext uri="{BB962C8B-B14F-4D97-AF65-F5344CB8AC3E}">
        <p14:creationId xmlns:p14="http://schemas.microsoft.com/office/powerpoint/2010/main" val="40172593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A85D-1BAE-4745-8B0A-ECEE7212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81557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Line transect distance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A95BC-1547-4585-AD03-39228C6E7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052" y="722442"/>
            <a:ext cx="4163148" cy="5525958"/>
          </a:xfrm>
        </p:spPr>
        <p:txBody>
          <a:bodyPr/>
          <a:lstStyle/>
          <a:p>
            <a:r>
              <a:rPr lang="en-US" sz="2400" dirty="0"/>
              <a:t>Observer travels a certain distance  </a:t>
            </a:r>
            <a:r>
              <a:rPr lang="en-US" sz="2400" dirty="0">
                <a:solidFill>
                  <a:srgbClr val="0000FF"/>
                </a:solidFill>
              </a:rPr>
              <a:t>L, </a:t>
            </a:r>
            <a:r>
              <a:rPr lang="en-US" sz="2400" dirty="0"/>
              <a:t>records animals observed and </a:t>
            </a:r>
          </a:p>
          <a:p>
            <a:pPr lvl="1"/>
            <a:r>
              <a:rPr lang="en-US" sz="2400" dirty="0"/>
              <a:t>Right angle distance from animal sighted to observer </a:t>
            </a:r>
            <a:r>
              <a:rPr lang="en-US" sz="2400" dirty="0">
                <a:solidFill>
                  <a:srgbClr val="C00000"/>
                </a:solidFill>
              </a:rPr>
              <a:t>(y)</a:t>
            </a:r>
          </a:p>
          <a:p>
            <a:r>
              <a:rPr lang="en-US" sz="2400" dirty="0"/>
              <a:t>Calculate detection probability (p) as a function of distance from line, and use to adjust number caught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95261DBC-FF76-43C9-8B8B-3967169BD974}"/>
              </a:ext>
            </a:extLst>
          </p:cNvPr>
          <p:cNvSpPr/>
          <p:nvPr/>
        </p:nvSpPr>
        <p:spPr>
          <a:xfrm>
            <a:off x="6019800" y="1417638"/>
            <a:ext cx="381000" cy="391636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Fish">
            <a:extLst>
              <a:ext uri="{FF2B5EF4-FFF2-40B4-BE49-F238E27FC236}">
                <a16:creationId xmlns:a16="http://schemas.microsoft.com/office/drawing/2014/main" id="{1196B834-4F4F-46A2-A537-45E59CA17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2157" y="2183209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F44664-BD31-40DD-A9B3-4DC492D6F5A3}"/>
              </a:ext>
            </a:extLst>
          </p:cNvPr>
          <p:cNvCxnSpPr>
            <a:cxnSpLocks/>
          </p:cNvCxnSpPr>
          <p:nvPr/>
        </p:nvCxnSpPr>
        <p:spPr>
          <a:xfrm>
            <a:off x="6326407" y="2895600"/>
            <a:ext cx="83639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6D43046-DBB8-435C-BB84-F53D30F6C58D}"/>
              </a:ext>
            </a:extLst>
          </p:cNvPr>
          <p:cNvSpPr txBox="1"/>
          <p:nvPr/>
        </p:nvSpPr>
        <p:spPr>
          <a:xfrm>
            <a:off x="6405580" y="242857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DED3D9-483F-44B7-B0DB-360B676D3C43}"/>
              </a:ext>
            </a:extLst>
          </p:cNvPr>
          <p:cNvSpPr txBox="1"/>
          <p:nvPr/>
        </p:nvSpPr>
        <p:spPr>
          <a:xfrm>
            <a:off x="5724334" y="312536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015656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7749-608D-D28F-DDC8-F9697E0A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Assumptions, line vs.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67A55-6F38-938D-CA4E-E7B8565B1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Animals are randomly distributed</a:t>
            </a:r>
          </a:p>
          <a:p>
            <a:r>
              <a:rPr lang="en-US" dirty="0"/>
              <a:t>Detection probability drops with distance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8FF23-CCB6-5FDD-3299-9B94CEB4CCD4}"/>
              </a:ext>
            </a:extLst>
          </p:cNvPr>
          <p:cNvSpPr txBox="1"/>
          <p:nvPr/>
        </p:nvSpPr>
        <p:spPr>
          <a:xfrm>
            <a:off x="6858000" y="6398696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Miller et al. 2019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675B8A-DD91-22A0-8022-06D2E6C36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34" y="2154942"/>
            <a:ext cx="6568666" cy="426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D02F80-A7F6-12E2-9926-CA54B4A7D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209800"/>
            <a:ext cx="1143000" cy="2224216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B1D7CC7A-595A-FE02-B270-1942CDBDC7DA}"/>
              </a:ext>
            </a:extLst>
          </p:cNvPr>
          <p:cNvSpPr/>
          <p:nvPr/>
        </p:nvSpPr>
        <p:spPr>
          <a:xfrm>
            <a:off x="7315200" y="4648200"/>
            <a:ext cx="1295400" cy="1219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21804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52B6-C98A-4449-A9EB-B7504069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Assumptions, line vs. point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E2CBDA-39A8-6D4B-708A-BFC22390F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57122" y="990600"/>
            <a:ext cx="6229756" cy="513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398BA7-F92C-6935-5C97-A995344D478A}"/>
              </a:ext>
            </a:extLst>
          </p:cNvPr>
          <p:cNvSpPr txBox="1"/>
          <p:nvPr/>
        </p:nvSpPr>
        <p:spPr>
          <a:xfrm>
            <a:off x="5943600" y="6398696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Miller et al. 2019</a:t>
            </a:r>
          </a:p>
        </p:txBody>
      </p:sp>
    </p:spTree>
    <p:extLst>
      <p:ext uri="{BB962C8B-B14F-4D97-AF65-F5344CB8AC3E}">
        <p14:creationId xmlns:p14="http://schemas.microsoft.com/office/powerpoint/2010/main" val="1509682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4341-D5A8-E19D-7E7D-F6190330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detection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D4091C-E4B9-6CDE-CDEE-80BA9DEF9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28600" y="762000"/>
            <a:ext cx="8229600" cy="243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D52096-4F4E-FDF1-23F8-39916642A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68274"/>
            <a:ext cx="3405913" cy="3315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BB8FD1-F478-CA08-CF17-E667490580BD}"/>
              </a:ext>
            </a:extLst>
          </p:cNvPr>
          <p:cNvSpPr txBox="1"/>
          <p:nvPr/>
        </p:nvSpPr>
        <p:spPr>
          <a:xfrm>
            <a:off x="5105400" y="40386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Estimate parameters of detection function with  likelihood, Choose detection function with AIC, etc.</a:t>
            </a:r>
          </a:p>
        </p:txBody>
      </p:sp>
    </p:spTree>
    <p:extLst>
      <p:ext uri="{BB962C8B-B14F-4D97-AF65-F5344CB8AC3E}">
        <p14:creationId xmlns:p14="http://schemas.microsoft.com/office/powerpoint/2010/main" val="415695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6DE9-7C8D-EA70-6ED8-A5C2EAF24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76F5E-C1A0-5BDD-BAA0-C61D6F64AE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Fit the detection function, if there are no covariates, then you can calculate the average detection probability across the transect area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/>
                  <a:t>, and total number in transect is number is count/p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/>
                  <a:t>   </a:t>
                </a:r>
              </a:p>
              <a:p>
                <a:r>
                  <a:rPr lang="en-US" dirty="0"/>
                  <a:t>Density is number in covered area divided by covered area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=transect length * transect width)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Density is N*area in region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76F5E-C1A0-5BDD-BAA0-C61D6F64AE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95079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F151-4879-A2D6-BD61-0D3E2CA4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Wren line transect from Distance library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416B27F-A4FC-069C-7917-1E19796692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151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254F-890D-EA43-1DE2-0AB0FC2D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Wren counts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4AE18DB-246A-2FC7-D403-A56277E90E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EDCB4E-E6A0-E8DA-8640-832DEEAD2B78}"/>
              </a:ext>
            </a:extLst>
          </p:cNvPr>
          <p:cNvSpPr txBox="1"/>
          <p:nvPr/>
        </p:nvSpPr>
        <p:spPr>
          <a:xfrm>
            <a:off x="7086600" y="1676400"/>
            <a:ext cx="2209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 transects,</a:t>
            </a:r>
          </a:p>
          <a:p>
            <a:r>
              <a:rPr lang="en-US" dirty="0"/>
              <a:t>each 0.416 wide,</a:t>
            </a:r>
          </a:p>
          <a:p>
            <a:r>
              <a:rPr lang="en-US" dirty="0"/>
              <a:t>Max distance is 100,</a:t>
            </a:r>
          </a:p>
          <a:p>
            <a:r>
              <a:rPr lang="en-US" dirty="0"/>
              <a:t>so area sampled is </a:t>
            </a:r>
          </a:p>
          <a:p>
            <a:endParaRPr lang="en-US" dirty="0"/>
          </a:p>
          <a:p>
            <a:r>
              <a:rPr lang="en-US" dirty="0"/>
              <a:t>100*2*19*0.416</a:t>
            </a:r>
          </a:p>
          <a:p>
            <a:endParaRPr lang="en-US" dirty="0"/>
          </a:p>
          <a:p>
            <a:r>
              <a:rPr lang="en-US" dirty="0"/>
              <a:t>156 wrens observed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23703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4D94-8647-4D38-797D-DC8AFCFA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Half normal function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FA7E9F4-5C18-F0AE-F6A6-D30CE702D4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0508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D81A-A155-BB59-068B-E9DD30CE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values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411DD6-4CBF-7010-D23E-72371491E4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466305"/>
              </p:ext>
            </p:extLst>
          </p:nvPr>
        </p:nvGraphicFramePr>
        <p:xfrm>
          <a:off x="483577" y="1051941"/>
          <a:ext cx="5465128" cy="13603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4728">
                  <a:extLst>
                    <a:ext uri="{9D8B030D-6E8A-4147-A177-3AD203B41FA5}">
                      <a16:colId xmlns:a16="http://schemas.microsoft.com/office/drawing/2014/main" val="61996498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8717486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846181924"/>
                    </a:ext>
                  </a:extLst>
                </a:gridCol>
              </a:tblGrid>
              <a:tr h="1515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Estimate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9105866"/>
                  </a:ext>
                </a:extLst>
              </a:tr>
              <a:tr h="2841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Detection Scale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4.11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0.13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6556915"/>
                  </a:ext>
                </a:extLst>
              </a:tr>
              <a:tr h="2841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Average 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0.68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0.057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2934439"/>
                  </a:ext>
                </a:extLst>
              </a:tr>
              <a:tr h="4230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N in covered region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227.72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0.094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7804587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1A94FD-3E47-8B8C-D36C-0D3C1BAFF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960372"/>
              </p:ext>
            </p:extLst>
          </p:nvPr>
        </p:nvGraphicFramePr>
        <p:xfrm>
          <a:off x="342900" y="2533080"/>
          <a:ext cx="8458200" cy="1234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109669843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54129902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252294718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3617555314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999747548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40603534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3480117248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14963199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Region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Area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CoveredArea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Effort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se.ER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88996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Montrave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33.2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193.2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156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16.15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1.23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56626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F8902B-6D9D-9D49-682D-43BC2A83F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122117"/>
              </p:ext>
            </p:extLst>
          </p:nvPr>
        </p:nvGraphicFramePr>
        <p:xfrm>
          <a:off x="515815" y="3785105"/>
          <a:ext cx="3886200" cy="62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396896544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31085274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19077879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Estimate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53480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Density: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1.18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0.13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018746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3C991C-33C9-68F5-3C8A-A789CFCD740C}"/>
              </a:ext>
            </a:extLst>
          </p:cNvPr>
          <p:cNvSpPr txBox="1"/>
          <p:nvPr/>
        </p:nvSpPr>
        <p:spPr>
          <a:xfrm>
            <a:off x="483577" y="4684058"/>
            <a:ext cx="88890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 in covered region is the number observed (156) divided by average p </a:t>
            </a:r>
          </a:p>
          <a:p>
            <a:r>
              <a:rPr lang="en-US" dirty="0"/>
              <a:t>Effort is sum of transect lengths in km</a:t>
            </a:r>
          </a:p>
          <a:p>
            <a:r>
              <a:rPr lang="en-US" dirty="0"/>
              <a:t>Covered area is Effort time max distance*2 in hectares </a:t>
            </a:r>
          </a:p>
          <a:p>
            <a:r>
              <a:rPr lang="en-US" dirty="0"/>
              <a:t>ER is encounter rate per transect</a:t>
            </a:r>
          </a:p>
          <a:p>
            <a:r>
              <a:rPr lang="en-US" dirty="0"/>
              <a:t>Density is N in covered area/covered area</a:t>
            </a:r>
          </a:p>
          <a:p>
            <a:r>
              <a:rPr lang="en-US" dirty="0"/>
              <a:t>Abundance is density times region area</a:t>
            </a:r>
          </a:p>
        </p:txBody>
      </p:sp>
    </p:spTree>
    <p:extLst>
      <p:ext uri="{BB962C8B-B14F-4D97-AF65-F5344CB8AC3E}">
        <p14:creationId xmlns:p14="http://schemas.microsoft.com/office/powerpoint/2010/main" val="36414750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CEBE-D786-CC06-BA57-642AD0736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distance functions with AIC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FC8B86B1-BD28-66DA-B6C7-8B694BFF5D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4373903" cy="312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1F77FF-A5E3-7043-23E3-E0A4F61FE005}"/>
              </a:ext>
            </a:extLst>
          </p:cNvPr>
          <p:cNvSpPr txBox="1"/>
          <p:nvPr/>
        </p:nvSpPr>
        <p:spPr>
          <a:xfrm>
            <a:off x="685800" y="4732347"/>
            <a:ext cx="4572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spcAft>
                <a:spcPts val="750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             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     AIC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wren.hn        1 1418.188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wren.hr.poly</a:t>
            </a:r>
            <a:r>
              <a:rPr 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  2 1412.133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wren.unif.cos</a:t>
            </a:r>
            <a:r>
              <a:rPr 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 3 1416.431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A1440D-BCC6-E833-873D-DD66F46EC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385" y="1524000"/>
            <a:ext cx="432384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8402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DC37-9C10-A386-DC15-8079FC643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of best model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85EB5E98-8065-6B97-5214-6A7510CFE9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5427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584AE-3EF9-2F41-0F91-70759894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Savannah Sparrow point transect example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3393299-908D-C620-F04D-1AD6CAE731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7741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3513-B093-F5E6-B42C-E52CE867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Sparrow model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511C4269-832C-F734-C986-72767AAE21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9860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B48C-CE3A-7B85-03C5-074E16911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D8F2-9623-8F10-E8EC-2F67AFBE7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Salvanes</a:t>
            </a:r>
            <a:r>
              <a:rPr lang="en-US" dirty="0"/>
              <a:t> et al. Marine Ecological Field Methods, Chapter 2 on survey types</a:t>
            </a:r>
          </a:p>
          <a:p>
            <a:r>
              <a:rPr lang="en-US" dirty="0"/>
              <a:t>Miller et al. on Distance Sampling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39168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11933</TotalTime>
  <Words>1680</Words>
  <Application>Microsoft Office PowerPoint</Application>
  <PresentationFormat>On-screen Show (4:3)</PresentationFormat>
  <Paragraphs>230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Albertus Extra Bold</vt:lpstr>
      <vt:lpstr>Aptos Narrow</vt:lpstr>
      <vt:lpstr>Arial</vt:lpstr>
      <vt:lpstr>Cambria Math</vt:lpstr>
      <vt:lpstr>Courier New</vt:lpstr>
      <vt:lpstr>Default Design</vt:lpstr>
      <vt:lpstr>Scientific surveys for animal abundance</vt:lpstr>
      <vt:lpstr>Data for trends in animal abundance from best to worst</vt:lpstr>
      <vt:lpstr>Surveys</vt:lpstr>
      <vt:lpstr>Quadrats</vt:lpstr>
      <vt:lpstr>Visual Transect</vt:lpstr>
      <vt:lpstr>Stationary point count</vt:lpstr>
      <vt:lpstr>Boat-based visual surveys</vt:lpstr>
      <vt:lpstr>Trawl survey</vt:lpstr>
      <vt:lpstr>Longline survey</vt:lpstr>
      <vt:lpstr>Acoustic surveys</vt:lpstr>
      <vt:lpstr>Types of surveys</vt:lpstr>
      <vt:lpstr>Types of surveys</vt:lpstr>
      <vt:lpstr>NOAA surveys</vt:lpstr>
      <vt:lpstr>Using surveys to estimate animal abundance</vt:lpstr>
      <vt:lpstr>Survey design</vt:lpstr>
      <vt:lpstr>Potential bias: animal behavior</vt:lpstr>
      <vt:lpstr>Survey Designs</vt:lpstr>
      <vt:lpstr>Methods for analyzing survey data</vt:lpstr>
      <vt:lpstr>Design-based estimate for simple random sample</vt:lpstr>
      <vt:lpstr>Design-based estimates for simple random sample, area swept</vt:lpstr>
      <vt:lpstr>Stratified random sample</vt:lpstr>
      <vt:lpstr>Stratified sample allocation by variance</vt:lpstr>
      <vt:lpstr>Simulated example (100 x 100 units) Poisson numbers</vt:lpstr>
      <vt:lpstr>Random sample (n)</vt:lpstr>
      <vt:lpstr>Stratified sample, n=c(3,7,10,30)</vt:lpstr>
      <vt:lpstr>Simple vs. stratified estimate</vt:lpstr>
      <vt:lpstr>Example</vt:lpstr>
      <vt:lpstr>PowerPoint Presentation</vt:lpstr>
      <vt:lpstr>Mean with SE</vt:lpstr>
      <vt:lpstr>Total N estimates</vt:lpstr>
      <vt:lpstr>Example 2: Shark bottom longline</vt:lpstr>
      <vt:lpstr>Data cleaning</vt:lpstr>
      <vt:lpstr>Atlantic sharpnose</vt:lpstr>
      <vt:lpstr>Distance sampling</vt:lpstr>
      <vt:lpstr>Line transect distance sampling</vt:lpstr>
      <vt:lpstr>Assumptions, line vs. point</vt:lpstr>
      <vt:lpstr>Assumptions, line vs. point</vt:lpstr>
      <vt:lpstr>Possible detection functions</vt:lpstr>
      <vt:lpstr>Calculations</vt:lpstr>
      <vt:lpstr>Wren line transect from Distance library</vt:lpstr>
      <vt:lpstr>Wren counts</vt:lpstr>
      <vt:lpstr>Half normal function</vt:lpstr>
      <vt:lpstr>Summary values</vt:lpstr>
      <vt:lpstr>Compare distance functions with AIC</vt:lpstr>
      <vt:lpstr>Fit of best model</vt:lpstr>
      <vt:lpstr>Savannah Sparrow point transect example</vt:lpstr>
      <vt:lpstr>Sparrow model</vt:lpstr>
      <vt:lpstr>Reading</vt:lpstr>
    </vt:vector>
  </TitlesOfParts>
  <Company>Wildlife Conservation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Rebecca Cerroni</dc:creator>
  <cp:lastModifiedBy>Babcock, Elizabeth A</cp:lastModifiedBy>
  <cp:revision>622</cp:revision>
  <dcterms:created xsi:type="dcterms:W3CDTF">2002-07-02T19:54:08Z</dcterms:created>
  <dcterms:modified xsi:type="dcterms:W3CDTF">2025-11-02T15:34:42Z</dcterms:modified>
</cp:coreProperties>
</file>