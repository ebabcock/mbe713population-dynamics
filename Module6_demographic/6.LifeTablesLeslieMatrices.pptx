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53" r:id="rId1"/>
  </p:sldMasterIdLst>
  <p:notesMasterIdLst>
    <p:notesMasterId r:id="rId37"/>
  </p:notesMasterIdLst>
  <p:handoutMasterIdLst>
    <p:handoutMasterId r:id="rId38"/>
  </p:handoutMasterIdLst>
  <p:sldIdLst>
    <p:sldId id="297" r:id="rId2"/>
    <p:sldId id="298" r:id="rId3"/>
    <p:sldId id="306" r:id="rId4"/>
    <p:sldId id="304" r:id="rId5"/>
    <p:sldId id="299" r:id="rId6"/>
    <p:sldId id="305" r:id="rId7"/>
    <p:sldId id="307" r:id="rId8"/>
    <p:sldId id="309" r:id="rId9"/>
    <p:sldId id="308" r:id="rId10"/>
    <p:sldId id="310" r:id="rId11"/>
    <p:sldId id="314" r:id="rId12"/>
    <p:sldId id="315" r:id="rId13"/>
    <p:sldId id="311" r:id="rId14"/>
    <p:sldId id="312" r:id="rId15"/>
    <p:sldId id="303" r:id="rId16"/>
    <p:sldId id="313" r:id="rId17"/>
    <p:sldId id="316" r:id="rId18"/>
    <p:sldId id="338" r:id="rId19"/>
    <p:sldId id="317" r:id="rId20"/>
    <p:sldId id="318" r:id="rId21"/>
    <p:sldId id="320" r:id="rId22"/>
    <p:sldId id="322" r:id="rId23"/>
    <p:sldId id="321" r:id="rId24"/>
    <p:sldId id="319" r:id="rId25"/>
    <p:sldId id="323" r:id="rId26"/>
    <p:sldId id="327" r:id="rId27"/>
    <p:sldId id="328" r:id="rId28"/>
    <p:sldId id="329" r:id="rId29"/>
    <p:sldId id="330" r:id="rId30"/>
    <p:sldId id="332" r:id="rId31"/>
    <p:sldId id="333" r:id="rId32"/>
    <p:sldId id="336" r:id="rId33"/>
    <p:sldId id="324" r:id="rId34"/>
    <p:sldId id="294" r:id="rId35"/>
    <p:sldId id="337" r:id="rId36"/>
  </p:sldIdLst>
  <p:sldSz cx="9144000" cy="6858000" type="screen4x3"/>
  <p:notesSz cx="7315200" cy="9601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FFFF00"/>
    <a:srgbClr val="0000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05" autoAdjust="0"/>
    <p:restoredTop sz="94590" autoAdjust="0"/>
  </p:normalViewPr>
  <p:slideViewPr>
    <p:cSldViewPr>
      <p:cViewPr varScale="1">
        <p:scale>
          <a:sx n="109" d="100"/>
          <a:sy n="109" d="100"/>
        </p:scale>
        <p:origin x="706" y="8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59" d="100"/>
          <a:sy n="59" d="100"/>
        </p:scale>
        <p:origin x="-1140" y="-90"/>
      </p:cViewPr>
      <p:guideLst>
        <p:guide orient="horz" pos="3024"/>
        <p:guide pos="2304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69920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 eaLnBrk="0" hangingPunct="0">
              <a:defRPr sz="1300">
                <a:latin typeface="Albertus Extra Bold" pitchFamily="34" charset="0"/>
              </a:defRPr>
            </a:lvl1pPr>
          </a:lstStyle>
          <a:p>
            <a:endParaRPr lang="en-US"/>
          </a:p>
        </p:txBody>
      </p:sp>
      <p:sp>
        <p:nvSpPr>
          <p:cNvPr id="93187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143587" y="0"/>
            <a:ext cx="3169920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 algn="r" eaLnBrk="0" hangingPunct="0">
              <a:defRPr sz="1300">
                <a:latin typeface="Albertus Extra Bold" pitchFamily="34" charset="0"/>
              </a:defRPr>
            </a:lvl1pPr>
          </a:lstStyle>
          <a:p>
            <a:endParaRPr lang="en-US"/>
          </a:p>
        </p:txBody>
      </p:sp>
      <p:sp>
        <p:nvSpPr>
          <p:cNvPr id="9318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119474"/>
            <a:ext cx="3169920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 eaLnBrk="0" hangingPunct="0">
              <a:defRPr sz="1300">
                <a:latin typeface="Albertus Extra Bold" pitchFamily="34" charset="0"/>
              </a:defRPr>
            </a:lvl1pPr>
          </a:lstStyle>
          <a:p>
            <a:endParaRPr lang="en-US"/>
          </a:p>
        </p:txBody>
      </p:sp>
      <p:sp>
        <p:nvSpPr>
          <p:cNvPr id="9318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143587" y="9119474"/>
            <a:ext cx="3169920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 algn="r" eaLnBrk="0" hangingPunct="0">
              <a:defRPr sz="1300">
                <a:latin typeface="Albertus Extra Bold" pitchFamily="34" charset="0"/>
              </a:defRPr>
            </a:lvl1pPr>
          </a:lstStyle>
          <a:p>
            <a:fld id="{44E1A066-3641-409E-B440-E03BE1A0AA53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37538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69920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 eaLnBrk="0" hangingPunct="0">
              <a:defRPr sz="1300">
                <a:latin typeface="Albertus Extra Bold" pitchFamily="34" charset="0"/>
              </a:defRPr>
            </a:lvl1pPr>
          </a:lstStyle>
          <a:p>
            <a:endParaRPr lang="en-US"/>
          </a:p>
        </p:txBody>
      </p:sp>
      <p:sp>
        <p:nvSpPr>
          <p:cNvPr id="2150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145280" y="0"/>
            <a:ext cx="3169920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 algn="r" eaLnBrk="0" hangingPunct="0">
              <a:defRPr sz="1300">
                <a:latin typeface="Albertus Extra Bold" pitchFamily="34" charset="0"/>
              </a:defRPr>
            </a:lvl1pPr>
          </a:lstStyle>
          <a:p>
            <a:endParaRPr lang="en-US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257300" y="720725"/>
            <a:ext cx="4800600" cy="36004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2150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75360" y="4560570"/>
            <a:ext cx="5364480" cy="43205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151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121140"/>
            <a:ext cx="3169920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 eaLnBrk="0" hangingPunct="0">
              <a:defRPr sz="1300">
                <a:latin typeface="Albertus Extra Bold" pitchFamily="34" charset="0"/>
              </a:defRPr>
            </a:lvl1pPr>
          </a:lstStyle>
          <a:p>
            <a:endParaRPr lang="en-US"/>
          </a:p>
        </p:txBody>
      </p:sp>
      <p:sp>
        <p:nvSpPr>
          <p:cNvPr id="2151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145280" y="9121140"/>
            <a:ext cx="3169920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 algn="r" eaLnBrk="0" hangingPunct="0">
              <a:defRPr sz="1300">
                <a:latin typeface="Albertus Extra Bold" pitchFamily="34" charset="0"/>
              </a:defRPr>
            </a:lvl1pPr>
          </a:lstStyle>
          <a:p>
            <a:fld id="{DB41E0A9-D23A-4D9E-8E36-829A8A18E11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512233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lbertus Extra Bold" pitchFamily="34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lbertus Extra Bold" pitchFamily="34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lbertus Extra Bold" pitchFamily="34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lbertus Extra Bold" pitchFamily="34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lbertus Extra Bold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41E0A9-D23A-4D9E-8E36-829A8A18E11B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82889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327676-EAFA-CBE8-90D6-67A51AB291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465FFE-5F7A-90CC-B314-A1FD21AEDD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289C4B-F939-3950-37E8-9024CC14AB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A9F152-F512-F994-8130-D2C5524E7AB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2EB341B-458B-4C5C-AC64-B33717B53EB3}" type="slidenum">
              <a:rPr lang="en-US" smtClean="0"/>
              <a:pPr>
                <a:defRPr/>
              </a:pPr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8877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2EB341B-458B-4C5C-AC64-B33717B53EB3}" type="slidenum">
              <a:rPr lang="en-US" smtClean="0"/>
              <a:pPr>
                <a:defRPr/>
              </a:pPr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09632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3062168-CA75-4DCB-ACA1-3CBE51E9BB6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487362"/>
          </a:xfrm>
        </p:spPr>
        <p:txBody>
          <a:bodyPr/>
          <a:lstStyle>
            <a:lvl1pPr>
              <a:defRPr sz="36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990600"/>
            <a:ext cx="8229600" cy="5135563"/>
          </a:xfrm>
        </p:spPr>
        <p:txBody>
          <a:bodyPr/>
          <a:lstStyle>
            <a:lvl1pPr>
              <a:defRPr sz="3000"/>
            </a:lvl1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64D0444-4EDE-4B38-A1B6-1736318DBC5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CFF321D8-A24E-4B03-8586-27459BEAE9B9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2C44912-138E-4802-853F-B984A9F1B841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E9CEF9F-1C92-4FF0-B96A-F7A26EAD5EF0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514A5D3-C54B-4997-83E3-9432E83EEA5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E565590-C750-4EBE-B003-8C25E87E5ED3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B296C32-B7AF-4AD0-8CF7-595A42FA598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1D90EA9-603D-4EE5-A1C2-41766C3D918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D17161DC-BD25-4CCF-BE89-96EEE98F52EE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DDDD1C5-1327-4575-9025-19C1051F18E6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 and Content ov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8229600" cy="21859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3938588"/>
            <a:ext cx="8229600" cy="21875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fld id="{4665C853-9B71-41A6-85AE-FF9CB414E8D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fld id="{A263BF0B-CADE-419C-AB13-4AA4FFFE67C9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648200" y="1600200"/>
            <a:ext cx="4038600" cy="21859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4648200" y="3938588"/>
            <a:ext cx="4038600" cy="21875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>
          <a:xfrm>
            <a:off x="6553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fld id="{910E6B2F-18C5-4BBA-93EB-6AAC223AFA90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Tx" preserve="1">
  <p:cSld name="Title, 2 Content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457200" y="1600200"/>
            <a:ext cx="4038600" cy="21859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57200" y="3938588"/>
            <a:ext cx="4038600" cy="21875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half" idx="3"/>
          </p:nvPr>
        </p:nvSpPr>
        <p:spPr>
          <a:xfrm>
            <a:off x="4648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>
          <a:xfrm>
            <a:off x="6553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fld id="{990D7465-2649-45B4-818D-D0220884C52B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x" preserve="1">
  <p:cSld name="Title, Content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fld id="{1073B23E-588F-4102-9F6B-DE52C387C6E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10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7510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7510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/>
            </a:lvl1pPr>
          </a:lstStyle>
          <a:p>
            <a:endParaRPr lang="en-US"/>
          </a:p>
        </p:txBody>
      </p:sp>
      <p:sp>
        <p:nvSpPr>
          <p:cNvPr id="17510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/>
            </a:lvl1pPr>
          </a:lstStyle>
          <a:p>
            <a:endParaRPr lang="en-US"/>
          </a:p>
        </p:txBody>
      </p:sp>
      <p:sp>
        <p:nvSpPr>
          <p:cNvPr id="17511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/>
            </a:lvl1pPr>
          </a:lstStyle>
          <a:p>
            <a:fld id="{AC57D645-5CE9-4EB9-B8B2-706EBA74EC38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  <p:sldLayoutId id="2147483664" r:id="rId11"/>
    <p:sldLayoutId id="2147483665" r:id="rId12"/>
    <p:sldLayoutId id="2147483666" r:id="rId13"/>
    <p:sldLayoutId id="2147483667" r:id="rId14"/>
    <p:sldLayoutId id="2147483668" r:id="rId15"/>
    <p:sldLayoutId id="2147483669" r:id="rId16"/>
  </p:sldLayoutIdLst>
  <p:txStyles>
    <p:titleStyle>
      <a:lvl1pPr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+mj-lt"/>
          <a:ea typeface="+mj-ea"/>
          <a:cs typeface="+mj-cs"/>
        </a:defRPr>
      </a:lvl1pPr>
      <a:lvl2pPr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2pPr>
      <a:lvl3pPr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3pPr>
      <a:lvl4pPr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4pPr>
      <a:lvl5pPr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fontAlgn="base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fontAlgn="base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</a:defRPr>
      </a:lvl2pPr>
      <a:lvl3pPr marL="1143000" indent="-228600" algn="l" rtl="0" fontAlgn="base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</a:defRPr>
      </a:lvl3pPr>
      <a:lvl4pPr marL="1600200" indent="-228600" algn="l" rtl="0" fontAlgn="base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</a:defRPr>
      </a:lvl4pPr>
      <a:lvl5pPr marL="20574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4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wmf"/><Relationship Id="rId3" Type="http://schemas.openxmlformats.org/officeDocument/2006/relationships/oleObject" Target="../embeddings/oleObject1.bin"/><Relationship Id="rId7" Type="http://schemas.openxmlformats.org/officeDocument/2006/relationships/oleObject" Target="../embeddings/oleObject3.bin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9.w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28.emf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6" name="Rectangle 4"/>
          <p:cNvSpPr>
            <a:spLocks noGrp="1" noChangeArrowheads="1"/>
          </p:cNvSpPr>
          <p:nvPr>
            <p:ph type="ctrTitle"/>
          </p:nvPr>
        </p:nvSpPr>
        <p:spPr>
          <a:xfrm>
            <a:off x="609600" y="1524000"/>
            <a:ext cx="7772400" cy="1470025"/>
          </a:xfrm>
        </p:spPr>
        <p:txBody>
          <a:bodyPr/>
          <a:lstStyle/>
          <a:p>
            <a:r>
              <a:rPr lang="en-US" sz="3600" dirty="0"/>
              <a:t>MBE 713: Marine Population Dynamics</a:t>
            </a:r>
            <a:br>
              <a:rPr lang="en-US" sz="3600" dirty="0"/>
            </a:br>
            <a:r>
              <a:rPr lang="en-US" sz="3600" dirty="0"/>
              <a:t>5: Life tables and Leslie matrices</a:t>
            </a:r>
          </a:p>
        </p:txBody>
      </p:sp>
      <p:sp>
        <p:nvSpPr>
          <p:cNvPr id="64517" name="Rectangle 5"/>
          <p:cNvSpPr>
            <a:spLocks noGrp="1" noChangeArrowheads="1"/>
          </p:cNvSpPr>
          <p:nvPr>
            <p:ph type="subTitle" idx="1"/>
          </p:nvPr>
        </p:nvSpPr>
        <p:spPr>
          <a:xfrm>
            <a:off x="2667000" y="4038600"/>
            <a:ext cx="4343400" cy="1189241"/>
          </a:xfrm>
        </p:spPr>
        <p:txBody>
          <a:bodyPr/>
          <a:lstStyle/>
          <a:p>
            <a:pPr algn="l"/>
            <a:r>
              <a:rPr lang="en-US" dirty="0"/>
              <a:t>Elizabeth A. Babcock</a:t>
            </a:r>
          </a:p>
        </p:txBody>
      </p:sp>
      <p:sp>
        <p:nvSpPr>
          <p:cNvPr id="64519" name="Text Box 7"/>
          <p:cNvSpPr txBox="1">
            <a:spLocks noChangeArrowheads="1"/>
          </p:cNvSpPr>
          <p:nvPr/>
        </p:nvSpPr>
        <p:spPr bwMode="auto">
          <a:xfrm>
            <a:off x="3124200" y="3124200"/>
            <a:ext cx="5334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eaLnBrk="0" hangingPunct="0"/>
            <a:endParaRPr lang="en-US" sz="2400">
              <a:latin typeface="Albertus Extra Bold" pitchFamily="34" charset="0"/>
            </a:endParaRPr>
          </a:p>
        </p:txBody>
      </p:sp>
      <p:pic>
        <p:nvPicPr>
          <p:cNvPr id="8" name="Picture 7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10" y="4953000"/>
            <a:ext cx="2990850" cy="17240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6803B1-E3C7-D288-AB34-789322252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Age-structured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D0DF42-6C52-3A1E-1B70-52455625B3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Leslie matrices and other demographic methods</a:t>
            </a:r>
          </a:p>
          <a:p>
            <a:pPr lvl="1"/>
            <a:r>
              <a:rPr lang="en-US" dirty="0"/>
              <a:t>Incorporate the idea that mortality rates and fecundity rates vary by age and sometimes sex</a:t>
            </a:r>
          </a:p>
          <a:p>
            <a:pPr lvl="1"/>
            <a:r>
              <a:rPr lang="en-US" dirty="0"/>
              <a:t>Generally no density dependence</a:t>
            </a:r>
          </a:p>
          <a:p>
            <a:r>
              <a:rPr lang="en-US" dirty="0"/>
              <a:t>These methods are often used to derive priors for r in logistic models</a:t>
            </a:r>
          </a:p>
          <a:p>
            <a:r>
              <a:rPr lang="en-US" dirty="0"/>
              <a:t>They are often used directly for protected species like sea turtles, marine mammals. </a:t>
            </a:r>
          </a:p>
        </p:txBody>
      </p:sp>
    </p:spTree>
    <p:extLst>
      <p:ext uri="{BB962C8B-B14F-4D97-AF65-F5344CB8AC3E}">
        <p14:creationId xmlns:p14="http://schemas.microsoft.com/office/powerpoint/2010/main" val="36973108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6286CA-F756-C0B3-4AA9-2E58FD4A1E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Life 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E3689E-9895-65EC-7A0C-B200F7A28D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Age or stage structured models require age (or stage) specific mortality and fecundity rates</a:t>
            </a:r>
          </a:p>
          <a:p>
            <a:r>
              <a:rPr lang="en-US" dirty="0"/>
              <a:t>Life table keeps track of numbers and mortality at age (or stage) to get the age specific mortality rates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1455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BD2E2C-8366-65E2-8104-97FD0213F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Galapagos finch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78A89AD-BA1F-DDC6-09DD-C7DAC786264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 bwMode="auto">
          <a:xfrm>
            <a:off x="990600" y="970835"/>
            <a:ext cx="4648849" cy="51251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A5B41CE-B765-2292-6EF5-02672E1D9F81}"/>
              </a:ext>
            </a:extLst>
          </p:cNvPr>
          <p:cNvSpPr txBox="1"/>
          <p:nvPr/>
        </p:nvSpPr>
        <p:spPr>
          <a:xfrm>
            <a:off x="6324600" y="6096000"/>
            <a:ext cx="2133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From Neal book, chapter 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967E6B-3D16-3851-298F-05F68AA1C2C9}"/>
              </a:ext>
            </a:extLst>
          </p:cNvPr>
          <p:cNvSpPr txBox="1"/>
          <p:nvPr/>
        </p:nvSpPr>
        <p:spPr>
          <a:xfrm>
            <a:off x="5410200" y="1600200"/>
            <a:ext cx="28956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Survivors to each age </a:t>
            </a:r>
            <a:r>
              <a:rPr lang="en-US" dirty="0" err="1"/>
              <a:t>Sx</a:t>
            </a:r>
            <a:r>
              <a:rPr lang="en-US" dirty="0"/>
              <a:t>. Called a survivorship curve in demographic analysis. Plotted in log scale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Fraction dying by age </a:t>
            </a:r>
            <a:r>
              <a:rPr lang="en-US" dirty="0" err="1"/>
              <a:t>qx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19671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CCD397-66F6-5987-EC49-3A1D15A37A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Cohort life table. 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CDD4F774-AC67-CE7C-D595-E75C23CA5FB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74376943"/>
              </p:ext>
            </p:extLst>
          </p:nvPr>
        </p:nvGraphicFramePr>
        <p:xfrm>
          <a:off x="685800" y="980440"/>
          <a:ext cx="7848600" cy="486196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03493">
                  <a:extLst>
                    <a:ext uri="{9D8B030D-6E8A-4147-A177-3AD203B41FA5}">
                      <a16:colId xmlns:a16="http://schemas.microsoft.com/office/drawing/2014/main" val="906228204"/>
                    </a:ext>
                  </a:extLst>
                </a:gridCol>
                <a:gridCol w="1030107">
                  <a:extLst>
                    <a:ext uri="{9D8B030D-6E8A-4147-A177-3AD203B41FA5}">
                      <a16:colId xmlns:a16="http://schemas.microsoft.com/office/drawing/2014/main" val="4049712836"/>
                    </a:ext>
                  </a:extLst>
                </a:gridCol>
                <a:gridCol w="1190676">
                  <a:extLst>
                    <a:ext uri="{9D8B030D-6E8A-4147-A177-3AD203B41FA5}">
                      <a16:colId xmlns:a16="http://schemas.microsoft.com/office/drawing/2014/main" val="315989375"/>
                    </a:ext>
                  </a:extLst>
                </a:gridCol>
                <a:gridCol w="1131081">
                  <a:extLst>
                    <a:ext uri="{9D8B030D-6E8A-4147-A177-3AD203B41FA5}">
                      <a16:colId xmlns:a16="http://schemas.microsoft.com/office/drawing/2014/main" val="485178157"/>
                    </a:ext>
                  </a:extLst>
                </a:gridCol>
                <a:gridCol w="1031043">
                  <a:extLst>
                    <a:ext uri="{9D8B030D-6E8A-4147-A177-3AD203B41FA5}">
                      <a16:colId xmlns:a16="http://schemas.microsoft.com/office/drawing/2014/main" val="4128523387"/>
                    </a:ext>
                  </a:extLst>
                </a:gridCol>
                <a:gridCol w="1079390">
                  <a:extLst>
                    <a:ext uri="{9D8B030D-6E8A-4147-A177-3AD203B41FA5}">
                      <a16:colId xmlns:a16="http://schemas.microsoft.com/office/drawing/2014/main" val="118371232"/>
                    </a:ext>
                  </a:extLst>
                </a:gridCol>
                <a:gridCol w="1282810">
                  <a:extLst>
                    <a:ext uri="{9D8B030D-6E8A-4147-A177-3AD203B41FA5}">
                      <a16:colId xmlns:a16="http://schemas.microsoft.com/office/drawing/2014/main" val="4031326709"/>
                    </a:ext>
                  </a:extLst>
                </a:gridCol>
              </a:tblGrid>
              <a:tr h="2917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gridSpan="3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Males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Females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8178662"/>
                  </a:ext>
                </a:extLst>
              </a:tr>
              <a:tr h="2917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Age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Survivors At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No.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Mortality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Survivors. At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No.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>
                          <a:effectLst/>
                        </a:rPr>
                        <a:t>Mortality</a:t>
                      </a:r>
                      <a:endParaRPr lang="en-US" sz="16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101155384"/>
                  </a:ext>
                </a:extLst>
              </a:tr>
              <a:tr h="2917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interval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start of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dying in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fraction in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start of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dying in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fraction in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157102053"/>
                  </a:ext>
                </a:extLst>
              </a:tr>
              <a:tr h="2917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(years)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interval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interval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interval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interval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interval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interval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5713740"/>
                  </a:ext>
                </a:extLst>
              </a:tr>
              <a:tr h="57456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x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 err="1">
                          <a:effectLst/>
                        </a:rPr>
                        <a:t>S</a:t>
                      </a:r>
                      <a:r>
                        <a:rPr lang="en-US" sz="1050" b="1" u="none" strike="noStrike" dirty="0" err="1">
                          <a:effectLst/>
                        </a:rPr>
                        <a:t>x</a:t>
                      </a:r>
                      <a:endParaRPr lang="en-US" sz="1600" b="1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D</a:t>
                      </a:r>
                      <a:r>
                        <a:rPr lang="en-US" sz="1050" b="1" u="none" strike="noStrike" dirty="0">
                          <a:effectLst/>
                        </a:rPr>
                        <a:t>x</a:t>
                      </a:r>
                      <a:r>
                        <a:rPr lang="en-US" sz="1600" b="1" u="none" strike="noStrike" dirty="0">
                          <a:effectLst/>
                        </a:rPr>
                        <a:t> = </a:t>
                      </a:r>
                    </a:p>
                    <a:p>
                      <a:pPr algn="ctr" fontAlgn="b">
                        <a:buNone/>
                      </a:pPr>
                      <a:r>
                        <a:rPr lang="en-US" sz="1600" b="1" u="none" strike="noStrike" dirty="0" err="1">
                          <a:effectLst/>
                        </a:rPr>
                        <a:t>S</a:t>
                      </a:r>
                      <a:r>
                        <a:rPr lang="en-US" sz="1050" b="1" u="none" strike="noStrike" dirty="0" err="1">
                          <a:effectLst/>
                        </a:rPr>
                        <a:t>x</a:t>
                      </a:r>
                      <a:r>
                        <a:rPr lang="en-US" sz="1600" b="1" u="none" strike="noStrike" dirty="0">
                          <a:effectLst/>
                        </a:rPr>
                        <a:t> - S</a:t>
                      </a:r>
                      <a:r>
                        <a:rPr lang="en-US" sz="1050" b="1" u="none" strike="noStrike" dirty="0">
                          <a:effectLst/>
                        </a:rPr>
                        <a:t>x+1</a:t>
                      </a:r>
                      <a:endParaRPr lang="en-US" sz="1600" b="1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 err="1">
                          <a:effectLst/>
                        </a:rPr>
                        <a:t>q</a:t>
                      </a:r>
                      <a:r>
                        <a:rPr lang="en-US" sz="1050" b="1" u="none" strike="noStrike" dirty="0" err="1">
                          <a:effectLst/>
                        </a:rPr>
                        <a:t>x</a:t>
                      </a:r>
                      <a:r>
                        <a:rPr lang="en-US" sz="1600" b="1" u="none" strike="noStrike" dirty="0">
                          <a:effectLst/>
                        </a:rPr>
                        <a:t> = </a:t>
                      </a:r>
                    </a:p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D</a:t>
                      </a:r>
                      <a:r>
                        <a:rPr lang="en-US" sz="1050" b="1" u="none" strike="noStrike" dirty="0">
                          <a:effectLst/>
                        </a:rPr>
                        <a:t>x</a:t>
                      </a:r>
                      <a:r>
                        <a:rPr lang="en-US" sz="1600" b="1" u="none" strike="noStrike" dirty="0">
                          <a:effectLst/>
                        </a:rPr>
                        <a:t>/</a:t>
                      </a:r>
                      <a:r>
                        <a:rPr lang="en-US" sz="1600" b="1" u="none" strike="noStrike" dirty="0" err="1">
                          <a:effectLst/>
                        </a:rPr>
                        <a:t>S</a:t>
                      </a:r>
                      <a:r>
                        <a:rPr lang="en-US" sz="1050" b="1" u="none" strike="noStrike" dirty="0" err="1">
                          <a:effectLst/>
                        </a:rPr>
                        <a:t>x</a:t>
                      </a:r>
                      <a:endParaRPr lang="en-US" sz="1600" b="1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 err="1">
                          <a:effectLst/>
                        </a:rPr>
                        <a:t>S</a:t>
                      </a:r>
                      <a:r>
                        <a:rPr lang="en-US" sz="1050" b="1" u="none" strike="noStrike" dirty="0" err="1">
                          <a:effectLst/>
                        </a:rPr>
                        <a:t>x</a:t>
                      </a:r>
                      <a:endParaRPr lang="en-US" sz="1600" b="1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D</a:t>
                      </a:r>
                      <a:r>
                        <a:rPr lang="en-US" sz="1050" b="1" u="none" strike="noStrike" dirty="0">
                          <a:effectLst/>
                        </a:rPr>
                        <a:t>x</a:t>
                      </a:r>
                      <a:r>
                        <a:rPr lang="en-US" sz="1600" b="1" u="none" strike="noStrike" dirty="0">
                          <a:effectLst/>
                        </a:rPr>
                        <a:t> =</a:t>
                      </a:r>
                    </a:p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 </a:t>
                      </a:r>
                      <a:r>
                        <a:rPr lang="en-US" sz="1600" b="1" u="none" strike="noStrike" dirty="0" err="1">
                          <a:effectLst/>
                        </a:rPr>
                        <a:t>S</a:t>
                      </a:r>
                      <a:r>
                        <a:rPr lang="en-US" sz="1050" b="1" u="none" strike="noStrike" dirty="0" err="1">
                          <a:effectLst/>
                        </a:rPr>
                        <a:t>x</a:t>
                      </a:r>
                      <a:r>
                        <a:rPr lang="en-US" sz="1600" b="1" u="none" strike="noStrike" dirty="0">
                          <a:effectLst/>
                        </a:rPr>
                        <a:t> - S</a:t>
                      </a:r>
                      <a:r>
                        <a:rPr lang="en-US" sz="1050" b="1" u="none" strike="noStrike" dirty="0">
                          <a:effectLst/>
                        </a:rPr>
                        <a:t>x+1</a:t>
                      </a:r>
                      <a:endParaRPr lang="en-US" sz="1600" b="1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 err="1">
                          <a:effectLst/>
                        </a:rPr>
                        <a:t>q</a:t>
                      </a:r>
                      <a:r>
                        <a:rPr lang="en-US" sz="1050" b="1" u="none" strike="noStrike" dirty="0" err="1">
                          <a:effectLst/>
                        </a:rPr>
                        <a:t>x</a:t>
                      </a:r>
                      <a:r>
                        <a:rPr lang="en-US" sz="1600" b="1" u="none" strike="noStrike" dirty="0">
                          <a:effectLst/>
                        </a:rPr>
                        <a:t> = </a:t>
                      </a:r>
                    </a:p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D</a:t>
                      </a:r>
                      <a:r>
                        <a:rPr lang="en-US" sz="1050" b="1" u="none" strike="noStrike" dirty="0">
                          <a:effectLst/>
                        </a:rPr>
                        <a:t>x</a:t>
                      </a:r>
                      <a:r>
                        <a:rPr lang="en-US" sz="1600" b="1" u="none" strike="noStrike" dirty="0">
                          <a:effectLst/>
                        </a:rPr>
                        <a:t>/</a:t>
                      </a:r>
                      <a:r>
                        <a:rPr lang="en-US" sz="1600" b="1" u="none" strike="noStrike" dirty="0" err="1">
                          <a:effectLst/>
                        </a:rPr>
                        <a:t>S</a:t>
                      </a:r>
                      <a:r>
                        <a:rPr lang="en-US" sz="1050" b="1" u="none" strike="noStrike" dirty="0" err="1">
                          <a:effectLst/>
                        </a:rPr>
                        <a:t>x</a:t>
                      </a:r>
                      <a:endParaRPr lang="en-US" sz="1600" b="1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04842665"/>
                  </a:ext>
                </a:extLst>
              </a:tr>
              <a:tr h="2917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0 - 1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225.5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127.5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0.565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225.5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129.5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0.574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661672505"/>
                  </a:ext>
                </a:extLst>
              </a:tr>
              <a:tr h="2917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1 - 2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98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51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0.52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96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53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0.552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052895598"/>
                  </a:ext>
                </a:extLst>
              </a:tr>
              <a:tr h="2917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2 - 3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47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10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0.213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43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18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0.419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858630473"/>
                  </a:ext>
                </a:extLst>
              </a:tr>
              <a:tr h="2917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3 - 4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37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10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0.27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25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10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0.400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045597414"/>
                  </a:ext>
                </a:extLst>
              </a:tr>
              <a:tr h="2917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4 - 5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27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9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0.333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15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8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0.533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874146339"/>
                  </a:ext>
                </a:extLst>
              </a:tr>
              <a:tr h="2917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5 - 6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18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8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0.444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7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6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0.857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961593734"/>
                  </a:ext>
                </a:extLst>
              </a:tr>
              <a:tr h="2917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6 - 7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10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5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0.5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1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1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1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272560420"/>
                  </a:ext>
                </a:extLst>
              </a:tr>
              <a:tr h="2917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7 - 8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5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3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0.6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247280499"/>
                  </a:ext>
                </a:extLst>
              </a:tr>
              <a:tr h="2917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8 - 9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2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2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1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541977446"/>
                  </a:ext>
                </a:extLst>
              </a:tr>
              <a:tr h="2917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9 - 10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0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252369059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5B7E20EE-3EC9-D8E2-BA60-7084AAEB18B9}"/>
              </a:ext>
            </a:extLst>
          </p:cNvPr>
          <p:cNvSpPr txBox="1"/>
          <p:nvPr/>
        </p:nvSpPr>
        <p:spPr>
          <a:xfrm>
            <a:off x="6324600" y="6326832"/>
            <a:ext cx="2819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From Neal chapter 6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B9BD834-DE5D-554E-4AEB-B4019FC2AE88}"/>
              </a:ext>
            </a:extLst>
          </p:cNvPr>
          <p:cNvSpPr txBox="1"/>
          <p:nvPr/>
        </p:nvSpPr>
        <p:spPr>
          <a:xfrm>
            <a:off x="682487" y="5772834"/>
            <a:ext cx="5105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Cohort: Animals born in same year. Follow one cohort over time (e.g. marked animals).</a:t>
            </a:r>
          </a:p>
          <a:p>
            <a:r>
              <a:rPr lang="en-US" dirty="0"/>
              <a:t>Age 0 are not aged, so assigned half to each</a:t>
            </a:r>
          </a:p>
        </p:txBody>
      </p:sp>
    </p:spTree>
    <p:extLst>
      <p:ext uri="{BB962C8B-B14F-4D97-AF65-F5344CB8AC3E}">
        <p14:creationId xmlns:p14="http://schemas.microsoft.com/office/powerpoint/2010/main" val="27151552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A00FE7-4452-B484-CC1B-B66AE91F24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Vertical life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99CB4D-479B-C0E3-CA57-1925490A19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Estimate the mortality rate of each age group at the time of the study. </a:t>
            </a:r>
          </a:p>
          <a:p>
            <a:r>
              <a:rPr lang="en-US" dirty="0"/>
              <a:t>Assuming that the same age-specific mortality rates apply for all cohorts, calculate the numbers for each cohort.  </a:t>
            </a:r>
          </a:p>
          <a:p>
            <a:r>
              <a:rPr lang="en-US" dirty="0"/>
              <a:t>Assumes mortality rates do not vary by year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23702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E0774-1725-B959-B4AC-42A5D3B851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vertical life table</a:t>
            </a:r>
          </a:p>
        </p:txBody>
      </p:sp>
      <p:graphicFrame>
        <p:nvGraphicFramePr>
          <p:cNvPr id="10" name="Content Placeholder 9">
            <a:extLst>
              <a:ext uri="{FF2B5EF4-FFF2-40B4-BE49-F238E27FC236}">
                <a16:creationId xmlns:a16="http://schemas.microsoft.com/office/drawing/2014/main" id="{019E42EC-9B57-1045-9F01-62A6D062370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11896968"/>
              </p:ext>
            </p:extLst>
          </p:nvPr>
        </p:nvGraphicFramePr>
        <p:xfrm>
          <a:off x="838200" y="1524000"/>
          <a:ext cx="7620001" cy="3421380"/>
        </p:xfrm>
        <a:graphic>
          <a:graphicData uri="http://schemas.openxmlformats.org/drawingml/2006/table">
            <a:tbl>
              <a:tblPr>
                <a:tableStyleId>{35758FB7-9AC5-4552-8A53-C91805E547FA}</a:tableStyleId>
              </a:tblPr>
              <a:tblGrid>
                <a:gridCol w="606136">
                  <a:extLst>
                    <a:ext uri="{9D8B030D-6E8A-4147-A177-3AD203B41FA5}">
                      <a16:colId xmlns:a16="http://schemas.microsoft.com/office/drawing/2014/main" val="3875881821"/>
                    </a:ext>
                  </a:extLst>
                </a:gridCol>
                <a:gridCol w="519545">
                  <a:extLst>
                    <a:ext uri="{9D8B030D-6E8A-4147-A177-3AD203B41FA5}">
                      <a16:colId xmlns:a16="http://schemas.microsoft.com/office/drawing/2014/main" val="1188345937"/>
                    </a:ext>
                  </a:extLst>
                </a:gridCol>
                <a:gridCol w="1298864">
                  <a:extLst>
                    <a:ext uri="{9D8B030D-6E8A-4147-A177-3AD203B41FA5}">
                      <a16:colId xmlns:a16="http://schemas.microsoft.com/office/drawing/2014/main" val="3630705789"/>
                    </a:ext>
                  </a:extLst>
                </a:gridCol>
                <a:gridCol w="1298864">
                  <a:extLst>
                    <a:ext uri="{9D8B030D-6E8A-4147-A177-3AD203B41FA5}">
                      <a16:colId xmlns:a16="http://schemas.microsoft.com/office/drawing/2014/main" val="3503004073"/>
                    </a:ext>
                  </a:extLst>
                </a:gridCol>
                <a:gridCol w="1298864">
                  <a:extLst>
                    <a:ext uri="{9D8B030D-6E8A-4147-A177-3AD203B41FA5}">
                      <a16:colId xmlns:a16="http://schemas.microsoft.com/office/drawing/2014/main" val="1146661208"/>
                    </a:ext>
                  </a:extLst>
                </a:gridCol>
                <a:gridCol w="1298864">
                  <a:extLst>
                    <a:ext uri="{9D8B030D-6E8A-4147-A177-3AD203B41FA5}">
                      <a16:colId xmlns:a16="http://schemas.microsoft.com/office/drawing/2014/main" val="1043557603"/>
                    </a:ext>
                  </a:extLst>
                </a:gridCol>
                <a:gridCol w="1298864">
                  <a:extLst>
                    <a:ext uri="{9D8B030D-6E8A-4147-A177-3AD203B41FA5}">
                      <a16:colId xmlns:a16="http://schemas.microsoft.com/office/drawing/2014/main" val="2975948043"/>
                    </a:ext>
                  </a:extLst>
                </a:gridCol>
              </a:tblGrid>
              <a:tr h="761826">
                <a:tc gridSpan="2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Age class</a:t>
                      </a:r>
                      <a:endParaRPr lang="en-US" sz="20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 hMerge="1"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Sample </a:t>
                      </a:r>
                    </a:p>
                    <a:p>
                      <a:pPr algn="ctr" fontAlgn="b">
                        <a:buNone/>
                      </a:pPr>
                      <a:r>
                        <a:rPr lang="en-US" sz="20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size</a:t>
                      </a:r>
                      <a:endParaRPr lang="en-US" sz="20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Deaths per year in sample</a:t>
                      </a:r>
                      <a:endParaRPr lang="en-US" sz="20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Years in </a:t>
                      </a:r>
                    </a:p>
                    <a:p>
                      <a:pPr algn="ctr" fontAlgn="b">
                        <a:buNone/>
                      </a:pPr>
                      <a:r>
                        <a:rPr lang="en-US" sz="2000" b="1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ageclass</a:t>
                      </a:r>
                      <a:endParaRPr lang="en-US" sz="20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annual mortality rate</a:t>
                      </a:r>
                      <a:endParaRPr lang="en-US" sz="20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Numbers per 1000</a:t>
                      </a:r>
                      <a:endParaRPr lang="en-US" sz="20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067065416"/>
                  </a:ext>
                </a:extLst>
              </a:tr>
              <a:tr h="27289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0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200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5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0.025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>
                          <a:solidFill>
                            <a:srgbClr val="000000"/>
                          </a:solidFill>
                          <a:effectLst/>
                        </a:rPr>
                        <a:t>1000.0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700051766"/>
                  </a:ext>
                </a:extLst>
              </a:tr>
              <a:tr h="27289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5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>
                          <a:solidFill>
                            <a:srgbClr val="000000"/>
                          </a:solidFill>
                          <a:effectLst/>
                        </a:rPr>
                        <a:t>200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4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0.005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975.0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94501379"/>
                  </a:ext>
                </a:extLst>
              </a:tr>
              <a:tr h="27289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5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10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>
                          <a:solidFill>
                            <a:srgbClr val="000000"/>
                          </a:solidFill>
                          <a:effectLst/>
                        </a:rPr>
                        <a:t>200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>
                          <a:solidFill>
                            <a:srgbClr val="000000"/>
                          </a:solidFill>
                          <a:effectLst/>
                        </a:rPr>
                        <a:t>3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>
                          <a:solidFill>
                            <a:srgbClr val="000000"/>
                          </a:solidFill>
                          <a:effectLst/>
                        </a:rPr>
                        <a:t>5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0.015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955.6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145061523"/>
                  </a:ext>
                </a:extLst>
              </a:tr>
              <a:tr h="27289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10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15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>
                          <a:solidFill>
                            <a:srgbClr val="000000"/>
                          </a:solidFill>
                          <a:effectLst/>
                        </a:rPr>
                        <a:t>200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>
                          <a:solidFill>
                            <a:srgbClr val="000000"/>
                          </a:solidFill>
                          <a:effectLst/>
                        </a:rPr>
                        <a:t>4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5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0.02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886.1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113492681"/>
                  </a:ext>
                </a:extLst>
              </a:tr>
              <a:tr h="27289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15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20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>
                          <a:solidFill>
                            <a:srgbClr val="000000"/>
                          </a:solidFill>
                          <a:effectLst/>
                        </a:rPr>
                        <a:t>200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>
                          <a:solidFill>
                            <a:srgbClr val="000000"/>
                          </a:solidFill>
                          <a:effectLst/>
                        </a:rPr>
                        <a:t>10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>
                          <a:solidFill>
                            <a:srgbClr val="000000"/>
                          </a:solidFill>
                          <a:effectLst/>
                        </a:rPr>
                        <a:t>5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0.05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801.0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977568836"/>
                  </a:ext>
                </a:extLst>
              </a:tr>
              <a:tr h="27289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20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25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>
                          <a:solidFill>
                            <a:srgbClr val="000000"/>
                          </a:solidFill>
                          <a:effectLst/>
                        </a:rPr>
                        <a:t>100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>
                          <a:solidFill>
                            <a:srgbClr val="000000"/>
                          </a:solidFill>
                          <a:effectLst/>
                        </a:rPr>
                        <a:t>15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>
                          <a:solidFill>
                            <a:srgbClr val="000000"/>
                          </a:solidFill>
                          <a:effectLst/>
                        </a:rPr>
                        <a:t>5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0.15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619.8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955126806"/>
                  </a:ext>
                </a:extLst>
              </a:tr>
              <a:tr h="27289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25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30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>
                          <a:solidFill>
                            <a:srgbClr val="000000"/>
                          </a:solidFill>
                          <a:effectLst/>
                        </a:rPr>
                        <a:t>50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>
                          <a:solidFill>
                            <a:srgbClr val="000000"/>
                          </a:solidFill>
                          <a:effectLst/>
                        </a:rPr>
                        <a:t>10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>
                          <a:solidFill>
                            <a:srgbClr val="000000"/>
                          </a:solidFill>
                          <a:effectLst/>
                        </a:rPr>
                        <a:t>5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0.2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275.0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675983008"/>
                  </a:ext>
                </a:extLst>
              </a:tr>
              <a:tr h="27289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30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35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>
                          <a:solidFill>
                            <a:srgbClr val="000000"/>
                          </a:solidFill>
                          <a:effectLst/>
                        </a:rPr>
                        <a:t>5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N 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90.1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860830003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A518F679-5B50-9C03-88AC-FD34298A5D89}"/>
              </a:ext>
            </a:extLst>
          </p:cNvPr>
          <p:cNvSpPr txBox="1"/>
          <p:nvPr/>
        </p:nvSpPr>
        <p:spPr>
          <a:xfrm>
            <a:off x="6324600" y="6096000"/>
            <a:ext cx="2133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From Neal book, chapter 6</a:t>
            </a:r>
          </a:p>
        </p:txBody>
      </p:sp>
    </p:spTree>
    <p:extLst>
      <p:ext uri="{BB962C8B-B14F-4D97-AF65-F5344CB8AC3E}">
        <p14:creationId xmlns:p14="http://schemas.microsoft.com/office/powerpoint/2010/main" val="36249523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895731-B4EB-D05B-77BB-CBCFCBD7D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D00DA-34A8-82E0-3D7C-08BA2ADA57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Fecundity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29B821-0B50-4A21-5B0C-8829C00110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also need age-specific fecundity to track population dynamics</a:t>
            </a:r>
          </a:p>
          <a:p>
            <a:r>
              <a:rPr lang="en-US" dirty="0"/>
              <a:t>Demographic models are often conducted for females only, as tracking females gives number of births (for dioecious animals: with two fixed sexes)</a:t>
            </a:r>
          </a:p>
          <a:p>
            <a:pPr lvl="1"/>
            <a:r>
              <a:rPr lang="en-US" dirty="0"/>
              <a:t>2-sex models are needed if mating system involves possible limitation in fecundity with fewer males (e.g. sea turtles)</a:t>
            </a:r>
          </a:p>
        </p:txBody>
      </p:sp>
    </p:spTree>
    <p:extLst>
      <p:ext uri="{BB962C8B-B14F-4D97-AF65-F5344CB8AC3E}">
        <p14:creationId xmlns:p14="http://schemas.microsoft.com/office/powerpoint/2010/main" val="11200039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1E0B3A-60A2-E18A-5D4D-E197C112A8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Demographic terminology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56E98AC-5FD0-2D5E-89F6-56D525EADF1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In demographic analysis, parameters are called</a:t>
                </a:r>
              </a:p>
              <a:p>
                <a:pPr marL="0" indent="0">
                  <a:buNone/>
                </a:pPr>
                <a:r>
                  <a:rPr lang="en-US" dirty="0"/>
                  <a:t>x for age or stage</a:t>
                </a:r>
              </a:p>
              <a:p>
                <a:pPr marL="0" indent="0">
                  <a:buNone/>
                </a:pPr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</a:t>
                </a:r>
                <a:r>
                  <a:rPr lang="en-US" i="1" baseline="-25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</a:t>
                </a:r>
                <a:r>
                  <a:rPr lang="en-US" dirty="0"/>
                  <a:t> is the fraction of females surviving to the beginning of x  (lowercase ell)</a:t>
                </a:r>
              </a:p>
              <a:p>
                <a:pPr marL="0" indent="0">
                  <a:buNone/>
                </a:pPr>
                <a:r>
                  <a:rPr lang="en-US" i="1" dirty="0"/>
                  <a:t>m</a:t>
                </a:r>
                <a:r>
                  <a:rPr lang="en-US" i="1" baseline="-25000" dirty="0"/>
                  <a:t>x</a:t>
                </a:r>
                <a:r>
                  <a:rPr lang="en-US" dirty="0"/>
                  <a:t> is production of female offspring per female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𝐹𝑒𝑐𝑢𝑛𝑑𝑖𝑡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56E98AC-5FD0-2D5E-89F6-56D525EADF1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04" t="-15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54650816-6C66-71E3-E97A-0DA9268FCDBA}"/>
              </a:ext>
            </a:extLst>
          </p:cNvPr>
          <p:cNvSpPr txBox="1"/>
          <p:nvPr/>
        </p:nvSpPr>
        <p:spPr>
          <a:xfrm>
            <a:off x="6400800" y="6354763"/>
            <a:ext cx="2743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Neal book, chapter 7</a:t>
            </a:r>
          </a:p>
        </p:txBody>
      </p:sp>
    </p:spTree>
    <p:extLst>
      <p:ext uri="{BB962C8B-B14F-4D97-AF65-F5344CB8AC3E}">
        <p14:creationId xmlns:p14="http://schemas.microsoft.com/office/powerpoint/2010/main" val="11002691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C09132-243D-CBBC-722F-7E37415D50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Ground squirrel example 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4FC273D-539A-8C26-2431-9B916E17439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-1" r="-7338" b="28127"/>
          <a:stretch>
            <a:fillRect/>
          </a:stretch>
        </p:blipFill>
        <p:spPr bwMode="auto">
          <a:xfrm>
            <a:off x="685800" y="1066800"/>
            <a:ext cx="7467600" cy="495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30AD76B-E180-5A6F-0025-F41155BE4E4F}"/>
              </a:ext>
            </a:extLst>
          </p:cNvPr>
          <p:cNvSpPr txBox="1"/>
          <p:nvPr/>
        </p:nvSpPr>
        <p:spPr>
          <a:xfrm>
            <a:off x="6400800" y="6354763"/>
            <a:ext cx="2743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Neal book, chapter 7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AF6DCFC-FD29-2807-A869-EBEAC56A779C}"/>
              </a:ext>
            </a:extLst>
          </p:cNvPr>
          <p:cNvSpPr txBox="1"/>
          <p:nvPr/>
        </p:nvSpPr>
        <p:spPr>
          <a:xfrm>
            <a:off x="7429500" y="1060084"/>
            <a:ext cx="1447800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i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l</a:t>
            </a:r>
            <a:r>
              <a:rPr lang="en-US" i="1" baseline="-250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x</a:t>
            </a:r>
            <a:r>
              <a:rPr lang="en-US" i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= survival m</a:t>
            </a:r>
            <a:r>
              <a:rPr lang="en-US" i="1" baseline="-250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x</a:t>
            </a:r>
            <a:r>
              <a:rPr lang="en-US" i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=fecundity</a:t>
            </a:r>
          </a:p>
        </p:txBody>
      </p:sp>
    </p:spTree>
    <p:extLst>
      <p:ext uri="{BB962C8B-B14F-4D97-AF65-F5344CB8AC3E}">
        <p14:creationId xmlns:p14="http://schemas.microsoft.com/office/powerpoint/2010/main" val="13006457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02CD06-6376-316A-E5C6-C5B423F4EB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487362"/>
          </a:xfrm>
        </p:spPr>
        <p:txBody>
          <a:bodyPr wrap="square"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2800"/>
              <a:t>Squirrels</a:t>
            </a: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58A45EFF-C657-6EAA-8999-5C731379B267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1576" y="1272365"/>
            <a:ext cx="6400847" cy="4572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86534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1D7560-9826-2FE2-B217-B3CFDFEDB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Squirrel mortality rate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3A326556-3612-9175-6C6E-A58C4EA987A5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1576" y="1272365"/>
            <a:ext cx="6400847" cy="4572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665163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4418E0-F9A8-003E-2BCF-ADA3912620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Population growth parameters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1AB3AAC-D312-5BBA-CF31-8F77B6903A2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990600"/>
                <a:ext cx="8458200" cy="5135563"/>
              </a:xfrm>
            </p:spPr>
            <p:txBody>
              <a:bodyPr/>
              <a:lstStyle/>
              <a:p>
                <a:r>
                  <a:rPr lang="en-US" sz="2800" dirty="0"/>
                  <a:t>The net reproduction rate is the total lifetime reproduction per female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8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n"/>
                          <m:supHide m:val="o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  <m:sub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sz="2800" dirty="0"/>
              </a:p>
              <a:p>
                <a:r>
                  <a:rPr lang="en-US" sz="2800" dirty="0"/>
                  <a:t>Mean generation time is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n"/>
                              <m:supHide m:val="on"/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b>
                                <m:sSub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e>
                                <m:sub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n"/>
                              <m:supHide m:val="on"/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e>
                                <m:sub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e>
                          </m:nary>
                        </m:den>
                      </m:f>
                    </m:oMath>
                  </m:oMathPara>
                </a14:m>
                <a:endParaRPr lang="en-US" sz="2800" dirty="0"/>
              </a:p>
              <a:p>
                <a:r>
                  <a:rPr lang="en-US" sz="2800" dirty="0"/>
                  <a:t>which is the average age of the mothers of offspring</a:t>
                </a:r>
              </a:p>
              <a:p>
                <a:r>
                  <a:rPr lang="en-US" sz="2800" dirty="0"/>
                  <a:t>A population of females producing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2800" dirty="0"/>
                  <a:t> offspring at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>
                        <a:latin typeface="Cambria Math" panose="02040503050406030204" pitchFamily="18" charset="0"/>
                      </a:rPr>
                      <m:t>T</m:t>
                    </m:r>
                  </m:oMath>
                </a14:m>
                <a:r>
                  <a:rPr lang="en-US" sz="2800" dirty="0"/>
                  <a:t> years of age would have roughly the same population growth rate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b="0" i="0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800" b="0" i="0" smtClean="0">
                            <a:latin typeface="Cambria Math" panose="02040503050406030204" pitchFamily="18" charset="0"/>
                          </a:rPr>
                          <m:t>m</m:t>
                        </m:r>
                      </m:sub>
                    </m:sSub>
                  </m:oMath>
                </a14:m>
                <a:r>
                  <a:rPr lang="en-US" sz="2800" dirty="0"/>
                  <a:t>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λ</m:t>
                    </m:r>
                  </m:oMath>
                </a14:m>
                <a:r>
                  <a:rPr lang="en-US" sz="2800" dirty="0"/>
                  <a:t>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1AB3AAC-D312-5BBA-CF31-8F77B6903A2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990600"/>
                <a:ext cx="8458200" cy="5135563"/>
              </a:xfrm>
              <a:blipFill>
                <a:blip r:embed="rId2"/>
                <a:stretch>
                  <a:fillRect l="-1297" t="-1306" r="-144" b="-140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3D21141F-94BA-625E-A683-F6669EFAB30D}"/>
              </a:ext>
            </a:extLst>
          </p:cNvPr>
          <p:cNvSpPr txBox="1"/>
          <p:nvPr/>
        </p:nvSpPr>
        <p:spPr>
          <a:xfrm>
            <a:off x="6400800" y="6354763"/>
            <a:ext cx="2743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Neal book, chapter 7</a:t>
            </a:r>
          </a:p>
        </p:txBody>
      </p:sp>
    </p:spTree>
    <p:extLst>
      <p:ext uri="{BB962C8B-B14F-4D97-AF65-F5344CB8AC3E}">
        <p14:creationId xmlns:p14="http://schemas.microsoft.com/office/powerpoint/2010/main" val="13521702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36B780F-664D-94DF-EA21-A42F576EDD5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How to calculate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>
                            <a:latin typeface="Cambria Math" panose="02040503050406030204" pitchFamily="18" charset="0"/>
                          </a:rPr>
                          <m:t>m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λ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36B780F-664D-94DF-EA21-A42F576EDD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t="-35000" b="-63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8D6679-84FA-DD23-C567-5CB514D32D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Euler-Lotka equation</a:t>
            </a:r>
          </a:p>
          <a:p>
            <a:r>
              <a:rPr lang="en-US" dirty="0"/>
              <a:t>Leslie matrix methods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87BDBF1-2386-32C7-CE65-5850B43EC299}"/>
              </a:ext>
            </a:extLst>
          </p:cNvPr>
          <p:cNvSpPr txBox="1"/>
          <p:nvPr/>
        </p:nvSpPr>
        <p:spPr>
          <a:xfrm>
            <a:off x="6400800" y="6354763"/>
            <a:ext cx="2743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Neal book, chapter 7</a:t>
            </a:r>
          </a:p>
        </p:txBody>
      </p:sp>
    </p:spTree>
    <p:extLst>
      <p:ext uri="{BB962C8B-B14F-4D97-AF65-F5344CB8AC3E}">
        <p14:creationId xmlns:p14="http://schemas.microsoft.com/office/powerpoint/2010/main" val="42429056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86655-F83F-2920-4F7B-F10F57654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5DFA819-D557-D8AC-DECA-D192178AEB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Euler-Lotka method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DFEB0CD-B4EF-84FF-4860-6543392203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600" y="762000"/>
            <a:ext cx="8610600" cy="5105400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r>
              <a:rPr lang="en-US" dirty="0"/>
              <a:t>Use function minimizer to estimate </a:t>
            </a:r>
            <a:endParaRPr lang="en-US" i="1" baseline="30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1311EF5-24DD-D170-3688-4E2E14D58D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275473"/>
            <a:ext cx="6906589" cy="430590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00E984F-F8CB-3DC9-545D-A7FFAF559343}"/>
              </a:ext>
            </a:extLst>
          </p:cNvPr>
          <p:cNvSpPr txBox="1"/>
          <p:nvPr/>
        </p:nvSpPr>
        <p:spPr>
          <a:xfrm>
            <a:off x="6400800" y="6354763"/>
            <a:ext cx="2743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Neal book, chapter 7</a:t>
            </a:r>
          </a:p>
        </p:txBody>
      </p:sp>
    </p:spTree>
    <p:extLst>
      <p:ext uri="{BB962C8B-B14F-4D97-AF65-F5344CB8AC3E}">
        <p14:creationId xmlns:p14="http://schemas.microsoft.com/office/powerpoint/2010/main" val="104132070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6C3792-7804-1EEF-A499-F91B75477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Euler-Lotka assumption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2777FEA-70C3-33EA-9FB3-E6533D22CA5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Assume age structure (fraction in each age class) is constant, called a stable age structure</a:t>
                </a:r>
              </a:p>
              <a:p>
                <a:r>
                  <a:rPr lang="en-US" dirty="0"/>
                  <a:t>If population is increasing exponentially at  a rate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r>
                  <a:rPr lang="en-US" dirty="0"/>
                  <a:t>, each age class is increasing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endParaRPr lang="en-US" altLang="en-US" dirty="0"/>
              </a:p>
              <a:p>
                <a:r>
                  <a:rPr lang="en-US" altLang="en-US" sz="3200" dirty="0">
                    <a:solidFill>
                      <a:srgbClr val="333333"/>
                    </a:solidFill>
                    <a:latin typeface="Helvetica Neue"/>
                  </a:rPr>
                  <a:t>Births at time t are equal to the sum over age groups (x) of the number of females born x years ago, times their survival to age x (lx) times their fecundity at age x (mx).</a:t>
                </a:r>
                <a:endParaRPr lang="en-US" altLang="en-US" sz="1800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2777FEA-70C3-33EA-9FB3-E6533D22CA5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04" t="-1544" r="-74" b="-16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A7593977-105D-21D6-8CD4-65633B0D5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8400" y="5440202"/>
            <a:ext cx="3439005" cy="114316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EE6AE85-3BC4-72A1-A95A-5F4DD6D0A7BF}"/>
              </a:ext>
            </a:extLst>
          </p:cNvPr>
          <p:cNvSpPr txBox="1"/>
          <p:nvPr/>
        </p:nvSpPr>
        <p:spPr>
          <a:xfrm>
            <a:off x="6400800" y="6354763"/>
            <a:ext cx="2743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Neal book, chapter 7</a:t>
            </a:r>
          </a:p>
        </p:txBody>
      </p:sp>
    </p:spTree>
    <p:extLst>
      <p:ext uri="{BB962C8B-B14F-4D97-AF65-F5344CB8AC3E}">
        <p14:creationId xmlns:p14="http://schemas.microsoft.com/office/powerpoint/2010/main" val="11741920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CF4EFA-12DE-E376-A271-B00314B9DC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Euler equation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7C13B71-7124-05C1-7362-936C3B355AD8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57200" y="711469"/>
            <a:ext cx="7696200" cy="56938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Helvetica Neue"/>
              </a:rPr>
              <a:t>And population is growing (or declining) at rate </a:t>
            </a:r>
          </a:p>
          <a:p>
            <a:pPr>
              <a:spcBef>
                <a:spcPct val="0"/>
              </a:spcBef>
            </a:pPr>
            <a:endParaRPr lang="en-US" altLang="en-US" sz="2800" dirty="0">
              <a:solidFill>
                <a:srgbClr val="333333"/>
              </a:solidFill>
              <a:latin typeface="Helvetica Neue"/>
            </a:endParaRPr>
          </a:p>
          <a:p>
            <a:pPr>
              <a:spcBef>
                <a:spcPct val="0"/>
              </a:spcBef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Helvetica Neue"/>
              </a:rPr>
              <a:t>So births are</a:t>
            </a:r>
          </a:p>
          <a:p>
            <a:pPr>
              <a:spcBef>
                <a:spcPct val="0"/>
              </a:spcBef>
            </a:pPr>
            <a:endParaRPr lang="en-US" altLang="en-US" sz="2800" dirty="0">
              <a:solidFill>
                <a:srgbClr val="333333"/>
              </a:solidFill>
              <a:latin typeface="Helvetica Neue"/>
            </a:endParaRPr>
          </a:p>
          <a:p>
            <a:pPr>
              <a:spcBef>
                <a:spcPct val="0"/>
              </a:spcBef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Helvetica Neue"/>
              </a:rPr>
              <a:t>Substituting </a:t>
            </a: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>
              <a:spcBef>
                <a:spcPct val="0"/>
              </a:spcBef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>
              <a:spcBef>
                <a:spcPct val="0"/>
              </a:spcBef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Helvetica Neue"/>
              </a:rPr>
              <a:t>          cancels out, leaving</a:t>
            </a: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>
              <a:spcBef>
                <a:spcPct val="0"/>
              </a:spcBef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rgbClr val="333333"/>
              </a:solidFill>
              <a:effectLst/>
              <a:latin typeface="Helvetica Neue"/>
            </a:endParaRPr>
          </a:p>
          <a:p>
            <a:pPr>
              <a:spcBef>
                <a:spcPct val="0"/>
              </a:spcBef>
            </a:pPr>
            <a:endParaRPr lang="en-US" altLang="en-US" sz="2800" dirty="0">
              <a:solidFill>
                <a:srgbClr val="333333"/>
              </a:solidFill>
              <a:latin typeface="Helvetica Neue"/>
            </a:endParaRPr>
          </a:p>
          <a:p>
            <a:pPr>
              <a:spcBef>
                <a:spcPct val="0"/>
              </a:spcBef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rgbClr val="333333"/>
              </a:solidFill>
              <a:effectLst/>
              <a:latin typeface="Helvetica Neue"/>
            </a:endParaRPr>
          </a:p>
          <a:p>
            <a:pPr>
              <a:spcBef>
                <a:spcPct val="0"/>
              </a:spcBef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Helvetica Neue"/>
              </a:rPr>
              <a:t>Or equivalently</a:t>
            </a: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>
              <a:spcBef>
                <a:spcPct val="0"/>
              </a:spcBef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Helvetica Neue"/>
              </a:rPr>
              <a:t>Solve numerically for </a:t>
            </a: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MathJax_Math-italic"/>
              </a:rPr>
              <a:t>r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MathJax_Math-italic"/>
              </a:rPr>
              <a:t>m</a:t>
            </a: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3FA4BBE-6DF9-915A-D03B-1A5064AF32B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382" b="23088"/>
          <a:stretch>
            <a:fillRect/>
          </a:stretch>
        </p:blipFill>
        <p:spPr>
          <a:xfrm>
            <a:off x="1524000" y="1292867"/>
            <a:ext cx="1981477" cy="6096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FA412BE-4B8F-0872-0C30-D713603859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0" y="1961386"/>
            <a:ext cx="1790950" cy="60015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896743A-5D22-DA54-A591-20C14D02F4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71800" y="2620464"/>
            <a:ext cx="3743847" cy="105742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8721EBB-A7D0-D104-ED53-298DCB2B6DE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0600" y="3558402"/>
            <a:ext cx="800212" cy="54300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DC59E7B-0EEC-FDD3-C807-CC266982A1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4785" y="4135856"/>
            <a:ext cx="2867425" cy="96215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4E55DC7-3414-8FCF-6D85-AE1410221F4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34619" y="4724400"/>
            <a:ext cx="2991267" cy="1057423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A5785F86-22EF-C53E-9BB1-119910758C44}"/>
              </a:ext>
            </a:extLst>
          </p:cNvPr>
          <p:cNvSpPr txBox="1"/>
          <p:nvPr/>
        </p:nvSpPr>
        <p:spPr>
          <a:xfrm>
            <a:off x="6400800" y="6354763"/>
            <a:ext cx="2743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Neal book, chapter 7</a:t>
            </a:r>
          </a:p>
        </p:txBody>
      </p:sp>
    </p:spTree>
    <p:extLst>
      <p:ext uri="{BB962C8B-B14F-4D97-AF65-F5344CB8AC3E}">
        <p14:creationId xmlns:p14="http://schemas.microsoft.com/office/powerpoint/2010/main" val="309343204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23FCEE-1167-1458-AAC3-AFBD0055D9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Euler-Lotka interpretation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50550B1-6AD5-D990-80E0-D5FE5A21D16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30569" t="1" b="-887"/>
          <a:stretch>
            <a:fillRect/>
          </a:stretch>
        </p:blipFill>
        <p:spPr>
          <a:xfrm>
            <a:off x="609600" y="1295400"/>
            <a:ext cx="2076867" cy="10668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06A14E3-C3B8-140C-E41E-B75C1EE643C5}"/>
              </a:ext>
            </a:extLst>
          </p:cNvPr>
          <p:cNvSpPr txBox="1"/>
          <p:nvPr/>
        </p:nvSpPr>
        <p:spPr>
          <a:xfrm>
            <a:off x="3048000" y="1644134"/>
            <a:ext cx="502920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  is a female’s lifetime reproduction discounted by the fact that ones born later contribute less to population growth</a:t>
            </a:r>
          </a:p>
          <a:p>
            <a:endParaRPr lang="en-US" sz="2000" dirty="0"/>
          </a:p>
          <a:p>
            <a:r>
              <a:rPr lang="en-US" sz="2000" dirty="0"/>
              <a:t>This must equal 1 to maintain a stable age structure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3E39CBA-CEDF-9726-F5E3-06C8F87251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4785" y="4135856"/>
            <a:ext cx="2867425" cy="962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100209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DBFDD1-2AA6-3DCE-7336-9A52064CD6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Squirrel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E61170-0023-1FFF-D41E-ADB1D06D71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</a:t>
            </a:r>
            <a:r>
              <a:rPr lang="en-US" baseline="-25000" dirty="0"/>
              <a:t>m</a:t>
            </a:r>
            <a:r>
              <a:rPr lang="en-US" dirty="0"/>
              <a:t>=0.0488</a:t>
            </a:r>
          </a:p>
          <a:p>
            <a:r>
              <a:rPr lang="en-US" dirty="0"/>
              <a:t>Similar to what you would get from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 err="1"/>
              <a:t>r</a:t>
            </a:r>
            <a:r>
              <a:rPr lang="en-US" baseline="-25000" dirty="0" err="1"/>
              <a:t>c</a:t>
            </a:r>
            <a:r>
              <a:rPr lang="en-US" dirty="0"/>
              <a:t>=0.0482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B80AAE7-D3EA-ED9B-A935-327ECC23AE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9400" y="2514600"/>
            <a:ext cx="2819794" cy="60015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145C2C2-8FB8-C6E4-4C8B-BC8C3C6FF137}"/>
              </a:ext>
            </a:extLst>
          </p:cNvPr>
          <p:cNvSpPr txBox="1"/>
          <p:nvPr/>
        </p:nvSpPr>
        <p:spPr>
          <a:xfrm>
            <a:off x="6400800" y="6354763"/>
            <a:ext cx="2743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Neal book, chapter 7</a:t>
            </a:r>
          </a:p>
        </p:txBody>
      </p:sp>
    </p:spTree>
    <p:extLst>
      <p:ext uri="{BB962C8B-B14F-4D97-AF65-F5344CB8AC3E}">
        <p14:creationId xmlns:p14="http://schemas.microsoft.com/office/powerpoint/2010/main" val="97194765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4B9A7-8F29-39C6-690E-212C71DA8E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Matrix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6098A1C-E60A-F07C-80DC-F0321B40A27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Vector of Numbers at each age in each year can be converted into Numbers at age in the following year by multiplying the number by a transition matrix called a </a:t>
                </a:r>
                <a:r>
                  <a:rPr lang="en-US" b="1" dirty="0"/>
                  <a:t>Leslie matrix</a:t>
                </a:r>
              </a:p>
              <a:p>
                <a:r>
                  <a:rPr lang="en-US" dirty="0"/>
                  <a:t>To solve for lambda or r</a:t>
                </a:r>
              </a:p>
              <a:p>
                <a:pPr lvl="1"/>
                <a:r>
                  <a:rPr lang="en-US" dirty="0"/>
                  <a:t>Multiply thousands of times until age structure stabilizes and calculate 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∑"/>
                            <m:limLoc m:val="undOvr"/>
                            <m:subHide m:val="on"/>
                            <m:supHide m:val="on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/>
                          <m:sup/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</m:sSub>
                          </m:e>
                        </m:nary>
                      </m:num>
                      <m:den>
                        <m:nary>
                          <m:naryPr>
                            <m:chr m:val="∑"/>
                            <m:limLoc m:val="undOvr"/>
                            <m:subHide m:val="on"/>
                            <m:supHide m:val="on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/>
                          <m:sup/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nary>
                      </m:den>
                    </m:f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Lamba is the first eigenvalue of the Leslie matrix, and the stable age structure is the first eigenvector</a:t>
                </a:r>
              </a:p>
              <a:p>
                <a:pPr lvl="1"/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6098A1C-E60A-F07C-80DC-F0321B40A27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81" t="-1544" r="-1778" b="-11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BB3B04ED-32CC-D0BA-F6EA-03EA8DE9178F}"/>
              </a:ext>
            </a:extLst>
          </p:cNvPr>
          <p:cNvSpPr txBox="1"/>
          <p:nvPr/>
        </p:nvSpPr>
        <p:spPr>
          <a:xfrm>
            <a:off x="6400800" y="6354763"/>
            <a:ext cx="2743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Neal book, chapter 7</a:t>
            </a:r>
          </a:p>
        </p:txBody>
      </p:sp>
    </p:spTree>
    <p:extLst>
      <p:ext uri="{BB962C8B-B14F-4D97-AF65-F5344CB8AC3E}">
        <p14:creationId xmlns:p14="http://schemas.microsoft.com/office/powerpoint/2010/main" val="16003801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C618C3-F23D-82E0-B4A3-E0E9E8418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Squirrel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C1C013-B24B-F880-21DC-05B86728E1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Must have equal-duration (annual) time steps.</a:t>
            </a:r>
          </a:p>
          <a:p>
            <a:r>
              <a:rPr lang="en-US" dirty="0"/>
              <a:t>Leslie matrix has fecundity at each age in top row and probability of survival from age t to t+1 one below the diagonal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78C212A-2511-19EE-0E16-D196F7AC7C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3804303"/>
            <a:ext cx="5982535" cy="235300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AC56BA1-E8BD-4580-CDC6-5E11A55E2229}"/>
              </a:ext>
            </a:extLst>
          </p:cNvPr>
          <p:cNvSpPr txBox="1"/>
          <p:nvPr/>
        </p:nvSpPr>
        <p:spPr>
          <a:xfrm>
            <a:off x="6400800" y="6354763"/>
            <a:ext cx="2743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Neal book, chapter 7</a:t>
            </a:r>
          </a:p>
        </p:txBody>
      </p:sp>
    </p:spTree>
    <p:extLst>
      <p:ext uri="{BB962C8B-B14F-4D97-AF65-F5344CB8AC3E}">
        <p14:creationId xmlns:p14="http://schemas.microsoft.com/office/powerpoint/2010/main" val="22585184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92B029-0C01-E901-6B57-B786D8A211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Timing of census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F997EF-FFEE-9666-0923-5D37ED0013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squirrel example, the animals are counted when the pubs are born. So the pups are all alive, but the females have had one year of mortality since their last census. 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8A5D884-ED14-768A-97DC-341831B290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137" y="2865437"/>
            <a:ext cx="8391028" cy="300196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CCCC339-BE4F-1D71-E6BC-69ADEAC15610}"/>
              </a:ext>
            </a:extLst>
          </p:cNvPr>
          <p:cNvSpPr txBox="1"/>
          <p:nvPr/>
        </p:nvSpPr>
        <p:spPr>
          <a:xfrm>
            <a:off x="685800" y="6126163"/>
            <a:ext cx="5669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Different census timing would change the calculations</a:t>
            </a:r>
          </a:p>
        </p:txBody>
      </p:sp>
    </p:spTree>
    <p:extLst>
      <p:ext uri="{BB962C8B-B14F-4D97-AF65-F5344CB8AC3E}">
        <p14:creationId xmlns:p14="http://schemas.microsoft.com/office/powerpoint/2010/main" val="305340320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1F4AFE-E887-8DED-8231-87F1D6364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91962-2FEE-4962-1395-A7A37B6A0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Squirrel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750190-67EF-CB00-C940-1B9B6CD0F1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3962400"/>
            <a:ext cx="8610600" cy="2163763"/>
          </a:xfrm>
        </p:spPr>
        <p:txBody>
          <a:bodyPr/>
          <a:lstStyle/>
          <a:p>
            <a:r>
              <a:rPr lang="en-US" dirty="0"/>
              <a:t>F</a:t>
            </a:r>
            <a:r>
              <a:rPr lang="en-US" baseline="-25000" dirty="0"/>
              <a:t>1</a:t>
            </a:r>
            <a:r>
              <a:rPr lang="en-US" dirty="0"/>
              <a:t> is fecundity of age 1 times survival to age 1</a:t>
            </a:r>
          </a:p>
          <a:p>
            <a:r>
              <a:rPr lang="en-US" dirty="0"/>
              <a:t>F</a:t>
            </a:r>
            <a:r>
              <a:rPr lang="en-US" baseline="-25000" dirty="0"/>
              <a:t>1</a:t>
            </a:r>
            <a:r>
              <a:rPr lang="en-US" dirty="0"/>
              <a:t> is fecundity of age 2 times survival to age 2 from age 1</a:t>
            </a:r>
          </a:p>
          <a:p>
            <a:r>
              <a:rPr lang="en-US" dirty="0"/>
              <a:t>P</a:t>
            </a:r>
            <a:r>
              <a:rPr lang="en-US" baseline="-25000" dirty="0"/>
              <a:t>1</a:t>
            </a:r>
            <a:r>
              <a:rPr lang="en-US" dirty="0"/>
              <a:t> is survival from age 1 to age 2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C2A3765-AB5C-C298-7F84-EC09C951D8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075997"/>
            <a:ext cx="5982535" cy="235300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D4AEAC9-5F3B-C459-EB59-8C4B93EE9BA4}"/>
              </a:ext>
            </a:extLst>
          </p:cNvPr>
          <p:cNvSpPr txBox="1"/>
          <p:nvPr/>
        </p:nvSpPr>
        <p:spPr>
          <a:xfrm>
            <a:off x="6400800" y="6354763"/>
            <a:ext cx="2743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Neal book, chapter 7</a:t>
            </a:r>
          </a:p>
        </p:txBody>
      </p:sp>
    </p:spTree>
    <p:extLst>
      <p:ext uri="{BB962C8B-B14F-4D97-AF65-F5344CB8AC3E}">
        <p14:creationId xmlns:p14="http://schemas.microsoft.com/office/powerpoint/2010/main" val="189116505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B87070-1C67-54E0-F6C6-5A0C5D383A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Leslie matrix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0D4E76A-DCF3-A7BE-3BB5-84B7E9DEC1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9585164"/>
              </p:ext>
            </p:extLst>
          </p:nvPr>
        </p:nvGraphicFramePr>
        <p:xfrm>
          <a:off x="609600" y="1447800"/>
          <a:ext cx="7696200" cy="4419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2700">
                  <a:extLst>
                    <a:ext uri="{9D8B030D-6E8A-4147-A177-3AD203B41FA5}">
                      <a16:colId xmlns:a16="http://schemas.microsoft.com/office/drawing/2014/main" val="3645529084"/>
                    </a:ext>
                  </a:extLst>
                </a:gridCol>
                <a:gridCol w="1282700">
                  <a:extLst>
                    <a:ext uri="{9D8B030D-6E8A-4147-A177-3AD203B41FA5}">
                      <a16:colId xmlns:a16="http://schemas.microsoft.com/office/drawing/2014/main" val="3189406312"/>
                    </a:ext>
                  </a:extLst>
                </a:gridCol>
                <a:gridCol w="1282700">
                  <a:extLst>
                    <a:ext uri="{9D8B030D-6E8A-4147-A177-3AD203B41FA5}">
                      <a16:colId xmlns:a16="http://schemas.microsoft.com/office/drawing/2014/main" val="416725904"/>
                    </a:ext>
                  </a:extLst>
                </a:gridCol>
                <a:gridCol w="1282700">
                  <a:extLst>
                    <a:ext uri="{9D8B030D-6E8A-4147-A177-3AD203B41FA5}">
                      <a16:colId xmlns:a16="http://schemas.microsoft.com/office/drawing/2014/main" val="2344419912"/>
                    </a:ext>
                  </a:extLst>
                </a:gridCol>
                <a:gridCol w="1282700">
                  <a:extLst>
                    <a:ext uri="{9D8B030D-6E8A-4147-A177-3AD203B41FA5}">
                      <a16:colId xmlns:a16="http://schemas.microsoft.com/office/drawing/2014/main" val="3171933934"/>
                    </a:ext>
                  </a:extLst>
                </a:gridCol>
                <a:gridCol w="1282700">
                  <a:extLst>
                    <a:ext uri="{9D8B030D-6E8A-4147-A177-3AD203B41FA5}">
                      <a16:colId xmlns:a16="http://schemas.microsoft.com/office/drawing/2014/main" val="2912546099"/>
                    </a:ext>
                  </a:extLst>
                </a:gridCol>
              </a:tblGrid>
              <a:tr h="45539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[,1]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[,2]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[,3]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[,4]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[,5]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690885304"/>
                  </a:ext>
                </a:extLst>
              </a:tr>
              <a:tr h="87720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[1,]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0.572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1.197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0.874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0.866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0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052967706"/>
                  </a:ext>
                </a:extLst>
              </a:tr>
              <a:tr h="87720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[2,]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0.292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0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0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0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0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762802486"/>
                  </a:ext>
                </a:extLst>
              </a:tr>
              <a:tr h="87720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[3,]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0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0.438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0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0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0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43467656"/>
                  </a:ext>
                </a:extLst>
              </a:tr>
              <a:tr h="45539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[4,]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0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0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 dirty="0">
                          <a:effectLst/>
                        </a:rPr>
                        <a:t>0.320</a:t>
                      </a:r>
                      <a:endParaRPr lang="en-US" sz="2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0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0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096625781"/>
                  </a:ext>
                </a:extLst>
              </a:tr>
              <a:tr h="87720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[5,]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0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0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0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0.317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 dirty="0">
                          <a:effectLst/>
                        </a:rPr>
                        <a:t>0</a:t>
                      </a:r>
                      <a:endParaRPr lang="en-US" sz="2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7261482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6373274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C5F401C-6CD3-B6F0-F65E-1EF5E60E41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 from Leslie matrix multiplied over time</a:t>
            </a: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41D0CBB0-2440-955F-2052-592E9E28AE5C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7800" y="1295400"/>
            <a:ext cx="4726170" cy="33758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6EA6E47-06F9-93C2-C7A8-702B630AAF37}"/>
              </a:ext>
            </a:extLst>
          </p:cNvPr>
          <p:cNvSpPr txBox="1"/>
          <p:nvPr/>
        </p:nvSpPr>
        <p:spPr>
          <a:xfrm>
            <a:off x="609600" y="5204635"/>
            <a:ext cx="774339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Lambda=0.042. rm=0.041</a:t>
            </a:r>
          </a:p>
          <a:p>
            <a:r>
              <a:rPr lang="en-US" dirty="0"/>
              <a:t>Note that the Euler-Lotka method would be identical if the timing of</a:t>
            </a:r>
          </a:p>
          <a:p>
            <a:r>
              <a:rPr lang="en-US" dirty="0"/>
              <a:t>events was the same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70496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10C504-3719-4138-3BD8-FCF460C6D7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Elasticity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5B476B-DD63-AD77-D96F-5092DC3F9B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33400" y="1384687"/>
            <a:ext cx="8305800" cy="4525963"/>
          </a:xfrm>
        </p:spPr>
        <p:txBody>
          <a:bodyPr/>
          <a:lstStyle/>
          <a:p>
            <a:r>
              <a:rPr lang="en-US" dirty="0"/>
              <a:t>Elasticity is how much lambda changes for a given change in a cell in the Leslie matrix</a:t>
            </a:r>
          </a:p>
          <a:p>
            <a:r>
              <a:rPr lang="en-US" dirty="0"/>
              <a:t>Ages or parameters with higher elasticity are more influential on population growth, so are more important for conservation actions</a:t>
            </a:r>
          </a:p>
          <a:p>
            <a:pPr lvl="1"/>
            <a:r>
              <a:rPr lang="en-US" dirty="0"/>
              <a:t>Often protecting older females from mortality is more important than protecting juveniles, because of their high fecundity</a:t>
            </a:r>
          </a:p>
          <a:p>
            <a:r>
              <a:rPr lang="en-US" dirty="0"/>
              <a:t>Elasticity can be calculated with matrix algebra</a:t>
            </a:r>
          </a:p>
          <a:p>
            <a:r>
              <a:rPr lang="en-US" dirty="0"/>
              <a:t>Elasticities are additive, so you can calculate the total elasticity of a life stage (Juvenile, adult, etc.)</a:t>
            </a:r>
          </a:p>
        </p:txBody>
      </p:sp>
    </p:spTree>
    <p:extLst>
      <p:ext uri="{BB962C8B-B14F-4D97-AF65-F5344CB8AC3E}">
        <p14:creationId xmlns:p14="http://schemas.microsoft.com/office/powerpoint/2010/main" val="239030119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CB2281-3D49-37F7-979C-8E4F033F4B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/>
              <a:t>Elasticity calculations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243FE8-9BBC-D502-15B0-1F5C179B72A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68411" y="1166018"/>
            <a:ext cx="8270789" cy="4525963"/>
          </a:xfrm>
        </p:spPr>
        <p:txBody>
          <a:bodyPr/>
          <a:lstStyle/>
          <a:p>
            <a:r>
              <a:rPr lang="en-US" sz="2400" dirty="0"/>
              <a:t>Elasticity is change in proportional change lambda with change in a cell in the Leslie matrix (A)</a:t>
            </a:r>
          </a:p>
          <a:p>
            <a:r>
              <a:rPr lang="en-US" sz="2400" dirty="0"/>
              <a:t>Elasticity=</a:t>
            </a:r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From sensitivity matrix </a:t>
            </a:r>
          </a:p>
          <a:p>
            <a:r>
              <a:rPr lang="en-US" sz="2400" dirty="0"/>
              <a:t>w is the stable age distribution = right eigenvector of A, scaled to sum to 1</a:t>
            </a:r>
          </a:p>
          <a:p>
            <a:r>
              <a:rPr lang="en-US" sz="2400" dirty="0"/>
              <a:t>v is the age specific mortality vector = left eigenvector of A (eigenvector of transpose), scaled so first value is 1</a:t>
            </a:r>
          </a:p>
          <a:p>
            <a:r>
              <a:rPr lang="en-US" sz="2400" dirty="0"/>
              <a:t>The inner product            is the sum of w1*v1+w1*v2, etc. </a:t>
            </a:r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1557756-D53E-00F5-9BD9-EDEB44237D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0" y="3377031"/>
            <a:ext cx="2038635" cy="92405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641BAB8-7C25-98D6-C969-4E72D98FE6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63862" y="5864802"/>
            <a:ext cx="885949" cy="34294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85B8EAE-C1EF-9A77-692F-836071A09F26}"/>
              </a:ext>
            </a:extLst>
          </p:cNvPr>
          <p:cNvSpPr txBox="1"/>
          <p:nvPr/>
        </p:nvSpPr>
        <p:spPr>
          <a:xfrm>
            <a:off x="6858000" y="6248400"/>
            <a:ext cx="19812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Heppell 2007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3B57403-CF57-FAD5-F9D0-02B41E9D1EA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69224" b="5522"/>
          <a:stretch>
            <a:fillRect/>
          </a:stretch>
        </p:blipFill>
        <p:spPr>
          <a:xfrm>
            <a:off x="2528687" y="2004571"/>
            <a:ext cx="1509913" cy="89102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1C8D38B-5B15-33A7-6E7E-2339C7BD752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0287"/>
          <a:stretch>
            <a:fillRect/>
          </a:stretch>
        </p:blipFill>
        <p:spPr>
          <a:xfrm>
            <a:off x="4149811" y="2059799"/>
            <a:ext cx="1948347" cy="943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833328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1D0610-8EA0-6E8E-A0C8-A98E1F72B1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Elasticity for squirrels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2F69596C-E9C0-9785-695E-FE7F23F6CD3B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3819756815"/>
              </p:ext>
            </p:extLst>
          </p:nvPr>
        </p:nvGraphicFramePr>
        <p:xfrm>
          <a:off x="990600" y="1524000"/>
          <a:ext cx="4572000" cy="22248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62000">
                  <a:extLst>
                    <a:ext uri="{9D8B030D-6E8A-4147-A177-3AD203B41FA5}">
                      <a16:colId xmlns:a16="http://schemas.microsoft.com/office/drawing/2014/main" val="2120907187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160110545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1418670477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961258084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1952923094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357754842"/>
                    </a:ext>
                  </a:extLst>
                </a:gridCol>
              </a:tblGrid>
              <a:tr h="3708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[,1]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[,2]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[,3]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[,4]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[,5]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596258354"/>
                  </a:ext>
                </a:extLst>
              </a:tr>
              <a:tr h="3708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[1,]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000" u="none" strike="noStrike" dirty="0">
                          <a:effectLst/>
                        </a:rPr>
                        <a:t>0.34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000" u="none" strike="noStrike" dirty="0">
                          <a:effectLst/>
                        </a:rPr>
                        <a:t>0.20 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0.06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0.02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0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233104178"/>
                  </a:ext>
                </a:extLst>
              </a:tr>
              <a:tr h="3708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[2,]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0.28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0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0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0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0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66938762"/>
                  </a:ext>
                </a:extLst>
              </a:tr>
              <a:tr h="3708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[3,]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0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0.08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000" u="none" strike="noStrike" dirty="0">
                          <a:effectLst/>
                        </a:rPr>
                        <a:t>0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0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0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753957334"/>
                  </a:ext>
                </a:extLst>
              </a:tr>
              <a:tr h="3708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[4,]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0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0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0.02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0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000" u="none" strike="noStrike" dirty="0">
                          <a:effectLst/>
                        </a:rPr>
                        <a:t>0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666235910"/>
                  </a:ext>
                </a:extLst>
              </a:tr>
              <a:tr h="3708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[5,]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0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0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0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0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000" u="none" strike="noStrike" dirty="0">
                          <a:effectLst/>
                        </a:rPr>
                        <a:t>0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52415676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CB0B2BBC-2987-CB35-C4A9-A08314C8A1F3}"/>
              </a:ext>
            </a:extLst>
          </p:cNvPr>
          <p:cNvSpPr txBox="1"/>
          <p:nvPr/>
        </p:nvSpPr>
        <p:spPr>
          <a:xfrm>
            <a:off x="838200" y="4114800"/>
            <a:ext cx="7162800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Read as proportional change in lambda with proportional change in the cell of the Leslie matrix.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E.g. 10% change in probability of surviving to age 1 and reproducing is a 3.4% change in lambda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936551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0FD09B-1A7E-D993-A4D5-588CD9B5E5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Elasticity summaries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8CC92AE5-9BE4-E265-4E82-07BF155D75C0}"/>
              </a:ext>
            </a:extLst>
          </p:cNvPr>
          <p:cNvPicPr>
            <a:picLocks noGrp="1" noChangeAspect="1" noChangeArrowheads="1"/>
          </p:cNvPicPr>
          <p:nvPr>
            <p:ph sz="half"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0955" y="1828800"/>
            <a:ext cx="4267202" cy="304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F98436FA-9E97-BDDE-1629-AC30B7D1F1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53906" y="1770288"/>
            <a:ext cx="4267496" cy="304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1BA6A5A-F823-538A-75E9-99400B1CCA1C}"/>
              </a:ext>
            </a:extLst>
          </p:cNvPr>
          <p:cNvSpPr txBox="1"/>
          <p:nvPr/>
        </p:nvSpPr>
        <p:spPr>
          <a:xfrm>
            <a:off x="914400" y="5486400"/>
            <a:ext cx="7086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Young animals are more important</a:t>
            </a:r>
          </a:p>
          <a:p>
            <a:r>
              <a:rPr lang="en-US" dirty="0"/>
              <a:t>For every age, reproduction matters more than survival</a:t>
            </a:r>
          </a:p>
        </p:txBody>
      </p:sp>
    </p:spTree>
    <p:extLst>
      <p:ext uri="{BB962C8B-B14F-4D97-AF65-F5344CB8AC3E}">
        <p14:creationId xmlns:p14="http://schemas.microsoft.com/office/powerpoint/2010/main" val="385679344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CF5AD8-E80E-DB4E-814C-71568956F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uncertainty and variability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D3D96E-424F-981A-7890-B0052A9606C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7772400" cy="4525963"/>
          </a:xfrm>
        </p:spPr>
        <p:txBody>
          <a:bodyPr/>
          <a:lstStyle/>
          <a:p>
            <a:r>
              <a:rPr lang="en-US" dirty="0"/>
              <a:t>Estimates of lx and mx are not known without error</a:t>
            </a:r>
          </a:p>
          <a:p>
            <a:r>
              <a:rPr lang="en-US" dirty="0"/>
              <a:t>They are often calculated from models fitted to data for maturity at size, etc. </a:t>
            </a:r>
          </a:p>
          <a:p>
            <a:r>
              <a:rPr lang="en-US" dirty="0"/>
              <a:t>Can add uncertainty to the estimates and get confidence intervals. </a:t>
            </a:r>
          </a:p>
        </p:txBody>
      </p:sp>
    </p:spTree>
    <p:extLst>
      <p:ext uri="{BB962C8B-B14F-4D97-AF65-F5344CB8AC3E}">
        <p14:creationId xmlns:p14="http://schemas.microsoft.com/office/powerpoint/2010/main" val="61813136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0A517B-7A5C-EB50-B068-8302EBB815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Monte Carlo simulation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BA8036-55BC-2E0B-71DE-6E57360F5A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all the relevant parameters with a statistical distribution</a:t>
            </a:r>
          </a:p>
          <a:p>
            <a:r>
              <a:rPr lang="en-US" dirty="0"/>
              <a:t>Draw random values from each distribution</a:t>
            </a:r>
          </a:p>
          <a:p>
            <a:r>
              <a:rPr lang="en-US" dirty="0"/>
              <a:t>Recalculate lambda, R0, etc. </a:t>
            </a:r>
          </a:p>
          <a:p>
            <a:r>
              <a:rPr lang="en-US" dirty="0"/>
              <a:t>Calculate mean, </a:t>
            </a:r>
            <a:r>
              <a:rPr lang="en-US" dirty="0" err="1"/>
              <a:t>sd</a:t>
            </a:r>
            <a:r>
              <a:rPr lang="en-US" dirty="0"/>
              <a:t>, quantiles to get confidence intervals</a:t>
            </a:r>
          </a:p>
        </p:txBody>
      </p:sp>
    </p:spTree>
    <p:extLst>
      <p:ext uri="{BB962C8B-B14F-4D97-AF65-F5344CB8AC3E}">
        <p14:creationId xmlns:p14="http://schemas.microsoft.com/office/powerpoint/2010/main" val="88048633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714C9-2830-8F52-48E1-0DE77A33E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Squirrel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99C2D4-C910-A3FA-78EC-E5C64BEF7B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a CV of 0.02 to all lx values, and 0.05 to mx values, with normal error</a:t>
            </a:r>
          </a:p>
          <a:p>
            <a:r>
              <a:rPr lang="en-US" dirty="0"/>
              <a:t>Results, 95% confidence interval of lambda is 0.95 to 1.14. </a:t>
            </a:r>
          </a:p>
          <a:p>
            <a:endParaRPr lang="en-US" dirty="0"/>
          </a:p>
          <a:p>
            <a:endParaRPr lang="en-US" dirty="0"/>
          </a:p>
        </p:txBody>
      </p:sp>
      <p:pic>
        <p:nvPicPr>
          <p:cNvPr id="3076" name="Picture 4">
            <a:extLst>
              <a:ext uri="{FF2B5EF4-FFF2-40B4-BE49-F238E27FC236}">
                <a16:creationId xmlns:a16="http://schemas.microsoft.com/office/drawing/2014/main" id="{28D90E2E-B9AD-D77F-1FA8-452D29E07B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" y="3352800"/>
            <a:ext cx="4724400" cy="33743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7945254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D6BCB5-BC62-F2C7-6256-29E9558579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Effect of density-dependence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0DD640-8FF3-8D49-8951-303E2466B7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logistic growth models rm is the growth at low population size.</a:t>
            </a:r>
          </a:p>
          <a:p>
            <a:r>
              <a:rPr lang="en-US" dirty="0"/>
              <a:t>Lambda and r</a:t>
            </a:r>
            <a:r>
              <a:rPr lang="en-US" baseline="-25000" dirty="0"/>
              <a:t>m</a:t>
            </a:r>
            <a:r>
              <a:rPr lang="en-US" dirty="0"/>
              <a:t> calculated from demographic methods is the value at the population level </a:t>
            </a:r>
            <a:r>
              <a:rPr lang="en-US" i="1" dirty="0"/>
              <a:t>when the survival and fecundity rates were calculated. </a:t>
            </a:r>
          </a:p>
          <a:p>
            <a:r>
              <a:rPr lang="en-US" dirty="0"/>
              <a:t>If population is currently at half of K, then the calculated r could be half of rm if logistic model is right</a:t>
            </a:r>
          </a:p>
        </p:txBody>
      </p:sp>
    </p:spTree>
    <p:extLst>
      <p:ext uri="{BB962C8B-B14F-4D97-AF65-F5344CB8AC3E}">
        <p14:creationId xmlns:p14="http://schemas.microsoft.com/office/powerpoint/2010/main" val="82546786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152400"/>
            <a:ext cx="7772400" cy="990600"/>
          </a:xfrm>
        </p:spPr>
        <p:txBody>
          <a:bodyPr/>
          <a:lstStyle/>
          <a:p>
            <a:r>
              <a:rPr lang="en-US" dirty="0"/>
              <a:t>Density dependence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1"/>
          </p:nvPr>
        </p:nvSpPr>
        <p:spPr>
          <a:xfrm>
            <a:off x="152400" y="4038600"/>
            <a:ext cx="8991600" cy="2743200"/>
          </a:xfrm>
        </p:spPr>
        <p:txBody>
          <a:bodyPr/>
          <a:lstStyle/>
          <a:p>
            <a:r>
              <a:rPr lang="en-US" dirty="0"/>
              <a:t>Demographic: no density dependence, so demographic </a:t>
            </a:r>
            <a:r>
              <a:rPr lang="en-US" i="1" dirty="0"/>
              <a:t>r</a:t>
            </a:r>
            <a:r>
              <a:rPr lang="en-US" dirty="0"/>
              <a:t> would be same as logistic </a:t>
            </a:r>
            <a:r>
              <a:rPr lang="en-US" i="1" dirty="0"/>
              <a:t>r </a:t>
            </a:r>
            <a:r>
              <a:rPr lang="en-US" dirty="0"/>
              <a:t>if the population was low when the fecundity, etc. were estimated</a:t>
            </a:r>
          </a:p>
          <a:p>
            <a:r>
              <a:rPr lang="en-US" dirty="0"/>
              <a:t>If the population was </a:t>
            </a:r>
            <a:r>
              <a:rPr lang="en-US"/>
              <a:t>at MSY demographic </a:t>
            </a:r>
            <a:r>
              <a:rPr lang="en-US" i="1" dirty="0"/>
              <a:t>r</a:t>
            </a:r>
            <a:r>
              <a:rPr lang="en-US" dirty="0"/>
              <a:t> should </a:t>
            </a:r>
            <a:r>
              <a:rPr lang="en-US"/>
              <a:t>be increased </a:t>
            </a:r>
            <a:r>
              <a:rPr lang="en-US" dirty="0"/>
              <a:t>by a factor of about 2. </a:t>
            </a:r>
          </a:p>
          <a:p>
            <a:endParaRPr lang="en-US" dirty="0"/>
          </a:p>
        </p:txBody>
      </p:sp>
      <p:graphicFrame>
        <p:nvGraphicFramePr>
          <p:cNvPr id="92163" name="Object 3"/>
          <p:cNvGraphicFramePr>
            <a:graphicFrameLocks noChangeAspect="1"/>
          </p:cNvGraphicFramePr>
          <p:nvPr/>
        </p:nvGraphicFramePr>
        <p:xfrm>
          <a:off x="381000" y="1457882"/>
          <a:ext cx="4343400" cy="24114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3" imgW="4353151" imgH="2448407" progId="Excel.Sheet.8">
                  <p:embed/>
                </p:oleObj>
              </mc:Choice>
              <mc:Fallback>
                <p:oleObj name="Worksheet" r:id="rId3" imgW="4353151" imgH="2448407" progId="Excel.Sheet.8">
                  <p:embed/>
                  <p:pic>
                    <p:nvPicPr>
                      <p:cNvPr id="92163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81000" y="1457882"/>
                        <a:ext cx="4343400" cy="241149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2164" name="Object 5"/>
          <p:cNvGraphicFramePr>
            <a:graphicFrameLocks noChangeAspect="1"/>
          </p:cNvGraphicFramePr>
          <p:nvPr/>
        </p:nvGraphicFramePr>
        <p:xfrm>
          <a:off x="5562600" y="1676400"/>
          <a:ext cx="3276600" cy="15922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307880" imgH="634680" progId="Equation.3">
                  <p:embed/>
                </p:oleObj>
              </mc:Choice>
              <mc:Fallback>
                <p:oleObj name="Equation" r:id="rId5" imgW="1307880" imgH="634680" progId="Equation.3">
                  <p:embed/>
                  <p:pic>
                    <p:nvPicPr>
                      <p:cNvPr id="92164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562600" y="1676400"/>
                        <a:ext cx="3276600" cy="159226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tx1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2165" name="Object 5"/>
          <p:cNvGraphicFramePr>
            <a:graphicFrameLocks noChangeAspect="1"/>
          </p:cNvGraphicFramePr>
          <p:nvPr/>
        </p:nvGraphicFramePr>
        <p:xfrm>
          <a:off x="5527675" y="3048000"/>
          <a:ext cx="1558925" cy="15922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622080" imgH="634680" progId="Equation.3">
                  <p:embed/>
                </p:oleObj>
              </mc:Choice>
              <mc:Fallback>
                <p:oleObj name="Equation" r:id="rId7" imgW="622080" imgH="634680" progId="Equation.3">
                  <p:embed/>
                  <p:pic>
                    <p:nvPicPr>
                      <p:cNvPr id="92165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527675" y="3048000"/>
                        <a:ext cx="1558925" cy="159226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tx1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181600" y="1295400"/>
            <a:ext cx="1447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Logistic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0" y="2667000"/>
            <a:ext cx="3657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Demographic exponential growth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8374FB-CB6B-6925-182D-EA907602BCD1}"/>
              </a:ext>
            </a:extLst>
          </p:cNvPr>
          <p:cNvSpPr txBox="1"/>
          <p:nvPr/>
        </p:nvSpPr>
        <p:spPr>
          <a:xfrm>
            <a:off x="6781800" y="6412468"/>
            <a:ext cx="23006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Mcallister et al. 2002</a:t>
            </a:r>
          </a:p>
        </p:txBody>
      </p:sp>
    </p:spTree>
    <p:extLst>
      <p:ext uri="{BB962C8B-B14F-4D97-AF65-F5344CB8AC3E}">
        <p14:creationId xmlns:p14="http://schemas.microsoft.com/office/powerpoint/2010/main" val="395977172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8A8085-845B-0813-A438-B52CAE80DB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3BF1BE-5303-204E-84E6-5E38A753D0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Cortes, 2002. ​Incorporating Uncertainty into Demographic Modeling: Application to Shark Populations and Their Conservation</a:t>
            </a:r>
          </a:p>
          <a:p>
            <a:r>
              <a:rPr lang="en-US" dirty="0"/>
              <a:t>Cortes, 2012. Perspectives on the intrinsic rate of population growth</a:t>
            </a:r>
          </a:p>
          <a:p>
            <a:r>
              <a:rPr lang="en-US" dirty="0"/>
              <a:t>McAllister, et al. 2001. ​Using demographic methods to construct Bayesian priors for the intrinsic rate of increase in the Schaefer model and implications for stock rebuilding</a:t>
            </a:r>
          </a:p>
          <a:p>
            <a:r>
              <a:rPr lang="en-US" dirty="0"/>
              <a:t>Heppell. 2007. Elasticity analysis of green sturgeon life history</a:t>
            </a:r>
          </a:p>
        </p:txBody>
      </p:sp>
    </p:spTree>
    <p:extLst>
      <p:ext uri="{BB962C8B-B14F-4D97-AF65-F5344CB8AC3E}">
        <p14:creationId xmlns:p14="http://schemas.microsoft.com/office/powerpoint/2010/main" val="357437557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fault Desig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9098</TotalTime>
  <Words>1724</Words>
  <Application>Microsoft Office PowerPoint</Application>
  <PresentationFormat>On-screen Show (4:3)</PresentationFormat>
  <Paragraphs>397</Paragraphs>
  <Slides>35</Slides>
  <Notes>3</Notes>
  <HiddenSlides>0</HiddenSlides>
  <MMClips>0</MMClips>
  <ScaleCrop>false</ScaleCrop>
  <HeadingPairs>
    <vt:vector size="8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35</vt:i4>
      </vt:variant>
    </vt:vector>
  </HeadingPairs>
  <TitlesOfParts>
    <vt:vector size="46" baseType="lpstr">
      <vt:lpstr>Albertus Extra Bold</vt:lpstr>
      <vt:lpstr>Aptos Narrow</vt:lpstr>
      <vt:lpstr>Arial</vt:lpstr>
      <vt:lpstr>Calibri</vt:lpstr>
      <vt:lpstr>Cambria Math</vt:lpstr>
      <vt:lpstr>Helvetica Neue</vt:lpstr>
      <vt:lpstr>MathJax_Math-italic</vt:lpstr>
      <vt:lpstr>Times New Roman</vt:lpstr>
      <vt:lpstr>Default Design</vt:lpstr>
      <vt:lpstr>Worksheet</vt:lpstr>
      <vt:lpstr>Equation</vt:lpstr>
      <vt:lpstr>MBE 713: Marine Population Dynamics 5: Life tables and Leslie matrices</vt:lpstr>
      <vt:lpstr>Age-structured models</vt:lpstr>
      <vt:lpstr>Life tables</vt:lpstr>
      <vt:lpstr>Galapagos finch</vt:lpstr>
      <vt:lpstr>Cohort life table. </vt:lpstr>
      <vt:lpstr>Vertical life table</vt:lpstr>
      <vt:lpstr>Example vertical life table</vt:lpstr>
      <vt:lpstr>Fecundity</vt:lpstr>
      <vt:lpstr>Demographic terminology</vt:lpstr>
      <vt:lpstr>Ground squirrel example </vt:lpstr>
      <vt:lpstr>Squirrels</vt:lpstr>
      <vt:lpstr>Squirrel mortality rate</vt:lpstr>
      <vt:lpstr>Population growth parameters</vt:lpstr>
      <vt:lpstr>How to calculate r_m and λ </vt:lpstr>
      <vt:lpstr>Euler-Lotka method</vt:lpstr>
      <vt:lpstr>Euler-Lotka assumption</vt:lpstr>
      <vt:lpstr>Euler equation</vt:lpstr>
      <vt:lpstr>Euler-Lotka interpretation</vt:lpstr>
      <vt:lpstr>Squirrel example</vt:lpstr>
      <vt:lpstr> Matrix methods</vt:lpstr>
      <vt:lpstr>Squirrel example</vt:lpstr>
      <vt:lpstr>Timing of census</vt:lpstr>
      <vt:lpstr>Squirrel example</vt:lpstr>
      <vt:lpstr>Leslie matrix</vt:lpstr>
      <vt:lpstr>Results from Leslie matrix multiplied over time</vt:lpstr>
      <vt:lpstr>Elasticity analysis</vt:lpstr>
      <vt:lpstr>Elasticity calculations</vt:lpstr>
      <vt:lpstr>Elasticity for squirrels</vt:lpstr>
      <vt:lpstr>Elasticity summaries</vt:lpstr>
      <vt:lpstr>Adding uncertainty and variability</vt:lpstr>
      <vt:lpstr>Monte Carlo simulation</vt:lpstr>
      <vt:lpstr>Squirrel example</vt:lpstr>
      <vt:lpstr>Effect of density-dependence</vt:lpstr>
      <vt:lpstr>Density dependence</vt:lpstr>
      <vt:lpstr>References</vt:lpstr>
    </vt:vector>
  </TitlesOfParts>
  <Company>Wildlife Conservation Society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 Slide Title</dc:title>
  <dc:creator>Rebecca Cerroni</dc:creator>
  <cp:lastModifiedBy>Babcock, Elizabeth A</cp:lastModifiedBy>
  <cp:revision>652</cp:revision>
  <dcterms:created xsi:type="dcterms:W3CDTF">2002-07-02T19:54:08Z</dcterms:created>
  <dcterms:modified xsi:type="dcterms:W3CDTF">2026-09-07T17:49:28Z</dcterms:modified>
</cp:coreProperties>
</file>