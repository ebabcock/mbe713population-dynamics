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38"/>
  </p:notesMasterIdLst>
  <p:handoutMasterIdLst>
    <p:handoutMasterId r:id="rId39"/>
  </p:handoutMasterIdLst>
  <p:sldIdLst>
    <p:sldId id="297" r:id="rId2"/>
    <p:sldId id="298" r:id="rId3"/>
    <p:sldId id="306" r:id="rId4"/>
    <p:sldId id="304" r:id="rId5"/>
    <p:sldId id="299" r:id="rId6"/>
    <p:sldId id="305" r:id="rId7"/>
    <p:sldId id="307" r:id="rId8"/>
    <p:sldId id="309" r:id="rId9"/>
    <p:sldId id="308" r:id="rId10"/>
    <p:sldId id="310" r:id="rId11"/>
    <p:sldId id="314" r:id="rId12"/>
    <p:sldId id="315" r:id="rId13"/>
    <p:sldId id="311" r:id="rId14"/>
    <p:sldId id="312" r:id="rId15"/>
    <p:sldId id="303" r:id="rId16"/>
    <p:sldId id="313" r:id="rId17"/>
    <p:sldId id="316" r:id="rId18"/>
    <p:sldId id="338" r:id="rId19"/>
    <p:sldId id="317" r:id="rId20"/>
    <p:sldId id="318" r:id="rId21"/>
    <p:sldId id="320" r:id="rId22"/>
    <p:sldId id="322" r:id="rId23"/>
    <p:sldId id="321" r:id="rId24"/>
    <p:sldId id="319" r:id="rId25"/>
    <p:sldId id="323" r:id="rId26"/>
    <p:sldId id="327" r:id="rId27"/>
    <p:sldId id="328" r:id="rId28"/>
    <p:sldId id="329" r:id="rId29"/>
    <p:sldId id="330" r:id="rId30"/>
    <p:sldId id="332" r:id="rId31"/>
    <p:sldId id="333" r:id="rId32"/>
    <p:sldId id="339" r:id="rId33"/>
    <p:sldId id="336" r:id="rId34"/>
    <p:sldId id="324" r:id="rId35"/>
    <p:sldId id="294" r:id="rId36"/>
    <p:sldId id="337" r:id="rId3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75E69D-7075-489B-B61A-F5DAB412FA31}" v="1" dt="2026-09-10T17:08:28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 autoAdjust="0"/>
    <p:restoredTop sz="94590" autoAdjust="0"/>
  </p:normalViewPr>
  <p:slideViewPr>
    <p:cSldViewPr>
      <p:cViewPr varScale="1">
        <p:scale>
          <a:sx n="97" d="100"/>
          <a:sy n="97" d="100"/>
        </p:scale>
        <p:origin x="16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140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bcock, Elizabeth A" userId="02b9ec88-22ae-4f16-80a8-fd6316399148" providerId="ADAL" clId="{CFAE71B8-9659-41D1-BF87-D488A69E897D}"/>
    <pc:docChg chg="addSld modSld">
      <pc:chgData name="Babcock, Elizabeth A" userId="02b9ec88-22ae-4f16-80a8-fd6316399148" providerId="ADAL" clId="{CFAE71B8-9659-41D1-BF87-D488A69E897D}" dt="2026-09-10T17:08:59.118" v="35" actId="14100"/>
      <pc:docMkLst>
        <pc:docMk/>
      </pc:docMkLst>
      <pc:sldChg chg="modSp mod">
        <pc:chgData name="Babcock, Elizabeth A" userId="02b9ec88-22ae-4f16-80a8-fd6316399148" providerId="ADAL" clId="{CFAE71B8-9659-41D1-BF87-D488A69E897D}" dt="2026-09-08T17:27:12.400" v="0" actId="20577"/>
        <pc:sldMkLst>
          <pc:docMk/>
          <pc:sldMk cId="0" sldId="297"/>
        </pc:sldMkLst>
        <pc:spChg chg="mod">
          <ac:chgData name="Babcock, Elizabeth A" userId="02b9ec88-22ae-4f16-80a8-fd6316399148" providerId="ADAL" clId="{CFAE71B8-9659-41D1-BF87-D488A69E897D}" dt="2026-09-08T17:27:12.400" v="0" actId="20577"/>
          <ac:spMkLst>
            <pc:docMk/>
            <pc:sldMk cId="0" sldId="297"/>
            <ac:spMk id="64516" creationId="{00000000-0000-0000-0000-000000000000}"/>
          </ac:spMkLst>
        </pc:spChg>
      </pc:sldChg>
      <pc:sldChg chg="addSp delSp modSp new mod">
        <pc:chgData name="Babcock, Elizabeth A" userId="02b9ec88-22ae-4f16-80a8-fd6316399148" providerId="ADAL" clId="{CFAE71B8-9659-41D1-BF87-D488A69E897D}" dt="2026-09-10T17:08:59.118" v="35" actId="14100"/>
        <pc:sldMkLst>
          <pc:docMk/>
          <pc:sldMk cId="2865451843" sldId="339"/>
        </pc:sldMkLst>
        <pc:spChg chg="mod">
          <ac:chgData name="Babcock, Elizabeth A" userId="02b9ec88-22ae-4f16-80a8-fd6316399148" providerId="ADAL" clId="{CFAE71B8-9659-41D1-BF87-D488A69E897D}" dt="2026-09-10T17:08:04.090" v="24" actId="20577"/>
          <ac:spMkLst>
            <pc:docMk/>
            <pc:sldMk cId="2865451843" sldId="339"/>
            <ac:spMk id="2" creationId="{A28175A0-0301-D92C-F2CB-9A1399C9B9A3}"/>
          </ac:spMkLst>
        </pc:spChg>
        <pc:spChg chg="del">
          <ac:chgData name="Babcock, Elizabeth A" userId="02b9ec88-22ae-4f16-80a8-fd6316399148" providerId="ADAL" clId="{CFAE71B8-9659-41D1-BF87-D488A69E897D}" dt="2026-09-10T17:08:28.848" v="25"/>
          <ac:spMkLst>
            <pc:docMk/>
            <pc:sldMk cId="2865451843" sldId="339"/>
            <ac:spMk id="3" creationId="{A86EEB8D-87FF-2214-04DD-84EBF3020B3B}"/>
          </ac:spMkLst>
        </pc:spChg>
        <pc:picChg chg="add mod">
          <ac:chgData name="Babcock, Elizabeth A" userId="02b9ec88-22ae-4f16-80a8-fd6316399148" providerId="ADAL" clId="{CFAE71B8-9659-41D1-BF87-D488A69E897D}" dt="2026-09-10T17:08:50.495" v="32" actId="14100"/>
          <ac:picMkLst>
            <pc:docMk/>
            <pc:sldMk cId="2865451843" sldId="339"/>
            <ac:picMk id="4" creationId="{5B857F27-2688-5949-4A98-51930D575E40}"/>
          </ac:picMkLst>
        </pc:picChg>
        <pc:picChg chg="add mod">
          <ac:chgData name="Babcock, Elizabeth A" userId="02b9ec88-22ae-4f16-80a8-fd6316399148" providerId="ADAL" clId="{CFAE71B8-9659-41D1-BF87-D488A69E897D}" dt="2026-09-10T17:08:59.118" v="35" actId="14100"/>
          <ac:picMkLst>
            <pc:docMk/>
            <pc:sldMk cId="2865451843" sldId="339"/>
            <ac:picMk id="5" creationId="{865310A2-85C9-C3F6-8681-CBE4F8FD2D5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44E1A066-3641-409E-B440-E03BE1A0AA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3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DB41E0A9-D23A-4D9E-8E36-829A8A18E1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2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1E0A9-D23A-4D9E-8E36-829A8A18E11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8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27676-EAFA-CBE8-90D6-67A51AB29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465FFE-5F7A-90CC-B314-A1FD21AED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89C4B-F939-3950-37E8-9024CC14A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9F152-F512-F994-8130-D2C5524E7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EB341B-458B-4C5C-AC64-B33717B53EB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7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EB341B-458B-4C5C-AC64-B33717B53EB3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63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062168-CA75-4DCB-ACA1-3CBE51E9B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4D0444-4EDE-4B38-A1B6-1736318DBC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321D8-A24E-4B03-8586-27459BEAE9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C44912-138E-4802-853F-B984A9F1B8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9CEF9F-1C92-4FF0-B96A-F7A26EAD5E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4A5D3-C54B-4997-83E3-9432E83EEA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65590-C750-4EBE-B003-8C25E87E5E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96C32-B7AF-4AD0-8CF7-595A42FA59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90EA9-603D-4EE5-A1C2-41766C3D91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161DC-BD25-4CCF-BE89-96EEE98F52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DDD1C5-1327-4575-9025-19C1051F18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665C853-9B71-41A6-85AE-FF9CB414E8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263BF0B-CADE-419C-AB13-4AA4FFFE67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10E6B2F-18C5-4BBA-93EB-6AAC223AFA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90D7465-2649-45B4-818D-D0220884C5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073B23E-588F-4102-9F6B-DE52C387C6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751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C57D645-5CE9-4EB9-B8B2-706EBA74EC3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0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7772400" cy="1470025"/>
          </a:xfrm>
        </p:spPr>
        <p:txBody>
          <a:bodyPr/>
          <a:lstStyle/>
          <a:p>
            <a:r>
              <a:rPr lang="en-US" sz="3600" dirty="0"/>
              <a:t>MBE 713: Marine Population Dynamics</a:t>
            </a:r>
            <a:br>
              <a:rPr lang="en-US" sz="3600"/>
            </a:br>
            <a:r>
              <a:rPr lang="en-US" sz="3600"/>
              <a:t>6: </a:t>
            </a:r>
            <a:r>
              <a:rPr lang="en-US" sz="3600" dirty="0"/>
              <a:t>Life tables and Leslie matrices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7000" y="4038600"/>
            <a:ext cx="4343400" cy="1189241"/>
          </a:xfrm>
        </p:spPr>
        <p:txBody>
          <a:bodyPr/>
          <a:lstStyle/>
          <a:p>
            <a:pPr algn="l"/>
            <a:r>
              <a:rPr lang="en-US" dirty="0"/>
              <a:t>Elizabeth A. Babcock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3124200" y="3124200"/>
            <a:ext cx="533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endParaRPr lang="en-US" sz="2400">
              <a:latin typeface="Albertus Extra Bold" pitchFamily="34" charset="0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" y="4953000"/>
            <a:ext cx="299085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03B1-E3C7-D288-AB34-78932225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Age-structured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0DF42-6C52-3A1E-1B70-52455625B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Leslie matrices and other demographic methods</a:t>
            </a:r>
          </a:p>
          <a:p>
            <a:pPr lvl="1"/>
            <a:r>
              <a:rPr lang="en-US" dirty="0"/>
              <a:t>Incorporate the idea that mortality rates and fecundity rates vary by age and sometimes sex</a:t>
            </a:r>
          </a:p>
          <a:p>
            <a:pPr lvl="1"/>
            <a:r>
              <a:rPr lang="en-US" dirty="0"/>
              <a:t>Generally no density dependence</a:t>
            </a:r>
          </a:p>
          <a:p>
            <a:r>
              <a:rPr lang="en-US" dirty="0"/>
              <a:t>These methods are often used to derive priors for r in logistic models</a:t>
            </a:r>
          </a:p>
          <a:p>
            <a:r>
              <a:rPr lang="en-US" dirty="0"/>
              <a:t>They are often used directly for protected species like sea turtles, marine mammals. </a:t>
            </a:r>
          </a:p>
        </p:txBody>
      </p:sp>
    </p:spTree>
    <p:extLst>
      <p:ext uri="{BB962C8B-B14F-4D97-AF65-F5344CB8AC3E}">
        <p14:creationId xmlns:p14="http://schemas.microsoft.com/office/powerpoint/2010/main" val="3697310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286CA-F756-C0B3-4AA9-2E58FD4A1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3689E-9895-65EC-7A0C-B200F7A28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 or stage structured models require age (or stage) specific mortality and fecundity rates</a:t>
            </a:r>
          </a:p>
          <a:p>
            <a:r>
              <a:rPr lang="en-US" dirty="0"/>
              <a:t>Life table keeps track of numbers and mortality at age (or stage) to get the age specific mortality rates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5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D2E2C-8366-65E2-8104-97FD0213F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Galapagos finch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8A89AD-BA1F-DDC6-09DD-C7DAC7862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90600" y="970835"/>
            <a:ext cx="4648849" cy="5125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5B41CE-B765-2292-6EF5-02672E1D9F81}"/>
              </a:ext>
            </a:extLst>
          </p:cNvPr>
          <p:cNvSpPr txBox="1"/>
          <p:nvPr/>
        </p:nvSpPr>
        <p:spPr>
          <a:xfrm>
            <a:off x="6324600" y="60960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Neal book, chapter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67E6B-3D16-3851-298F-05F68AA1C2C9}"/>
              </a:ext>
            </a:extLst>
          </p:cNvPr>
          <p:cNvSpPr txBox="1"/>
          <p:nvPr/>
        </p:nvSpPr>
        <p:spPr>
          <a:xfrm>
            <a:off x="5410200" y="1600200"/>
            <a:ext cx="289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Survivors to each age </a:t>
            </a:r>
            <a:r>
              <a:rPr lang="en-US" dirty="0" err="1"/>
              <a:t>Sx</a:t>
            </a:r>
            <a:r>
              <a:rPr lang="en-US" dirty="0"/>
              <a:t>. Called a survivorship curve in demographic analysis. Plotted in log scale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Fraction dying by age </a:t>
            </a:r>
            <a:r>
              <a:rPr lang="en-US" dirty="0" err="1"/>
              <a:t>qx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967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D397-66F6-5987-EC49-3A1D15A3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Cohort life table.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DD4F774-AC67-CE7C-D595-E75C23CA5F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376943"/>
              </p:ext>
            </p:extLst>
          </p:nvPr>
        </p:nvGraphicFramePr>
        <p:xfrm>
          <a:off x="685800" y="980440"/>
          <a:ext cx="7848600" cy="48619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493">
                  <a:extLst>
                    <a:ext uri="{9D8B030D-6E8A-4147-A177-3AD203B41FA5}">
                      <a16:colId xmlns:a16="http://schemas.microsoft.com/office/drawing/2014/main" val="906228204"/>
                    </a:ext>
                  </a:extLst>
                </a:gridCol>
                <a:gridCol w="1030107">
                  <a:extLst>
                    <a:ext uri="{9D8B030D-6E8A-4147-A177-3AD203B41FA5}">
                      <a16:colId xmlns:a16="http://schemas.microsoft.com/office/drawing/2014/main" val="4049712836"/>
                    </a:ext>
                  </a:extLst>
                </a:gridCol>
                <a:gridCol w="1190676">
                  <a:extLst>
                    <a:ext uri="{9D8B030D-6E8A-4147-A177-3AD203B41FA5}">
                      <a16:colId xmlns:a16="http://schemas.microsoft.com/office/drawing/2014/main" val="315989375"/>
                    </a:ext>
                  </a:extLst>
                </a:gridCol>
                <a:gridCol w="1131081">
                  <a:extLst>
                    <a:ext uri="{9D8B030D-6E8A-4147-A177-3AD203B41FA5}">
                      <a16:colId xmlns:a16="http://schemas.microsoft.com/office/drawing/2014/main" val="485178157"/>
                    </a:ext>
                  </a:extLst>
                </a:gridCol>
                <a:gridCol w="1031043">
                  <a:extLst>
                    <a:ext uri="{9D8B030D-6E8A-4147-A177-3AD203B41FA5}">
                      <a16:colId xmlns:a16="http://schemas.microsoft.com/office/drawing/2014/main" val="4128523387"/>
                    </a:ext>
                  </a:extLst>
                </a:gridCol>
                <a:gridCol w="1079390">
                  <a:extLst>
                    <a:ext uri="{9D8B030D-6E8A-4147-A177-3AD203B41FA5}">
                      <a16:colId xmlns:a16="http://schemas.microsoft.com/office/drawing/2014/main" val="118371232"/>
                    </a:ext>
                  </a:extLst>
                </a:gridCol>
                <a:gridCol w="1282810">
                  <a:extLst>
                    <a:ext uri="{9D8B030D-6E8A-4147-A177-3AD203B41FA5}">
                      <a16:colId xmlns:a16="http://schemas.microsoft.com/office/drawing/2014/main" val="4031326709"/>
                    </a:ext>
                  </a:extLst>
                </a:gridCol>
              </a:tblGrid>
              <a:tr h="291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Males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Females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178662"/>
                  </a:ext>
                </a:extLst>
              </a:tr>
              <a:tr h="291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Age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Survivors At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No.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Mortality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Survivors. At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No.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Mortality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01155384"/>
                  </a:ext>
                </a:extLst>
              </a:tr>
              <a:tr h="291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interval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start of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dying in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fraction in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start of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dying in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fraction in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57102053"/>
                  </a:ext>
                </a:extLst>
              </a:tr>
              <a:tr h="291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(years)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interval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interval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interval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interval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interval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interval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713740"/>
                  </a:ext>
                </a:extLst>
              </a:tr>
              <a:tr h="5745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x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S</a:t>
                      </a:r>
                      <a:r>
                        <a:rPr lang="en-US" sz="1050" b="1" u="none" strike="noStrike" dirty="0" err="1">
                          <a:effectLst/>
                        </a:rPr>
                        <a:t>x</a:t>
                      </a:r>
                      <a:endParaRPr lang="en-US" sz="16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D</a:t>
                      </a:r>
                      <a:r>
                        <a:rPr lang="en-US" sz="1050" b="1" u="none" strike="noStrike" dirty="0">
                          <a:effectLst/>
                        </a:rPr>
                        <a:t>x</a:t>
                      </a:r>
                      <a:r>
                        <a:rPr lang="en-US" sz="1600" b="1" u="none" strike="noStrike" dirty="0">
                          <a:effectLst/>
                        </a:rPr>
                        <a:t> =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S</a:t>
                      </a:r>
                      <a:r>
                        <a:rPr lang="en-US" sz="1050" b="1" u="none" strike="noStrike" dirty="0" err="1">
                          <a:effectLst/>
                        </a:rPr>
                        <a:t>x</a:t>
                      </a:r>
                      <a:r>
                        <a:rPr lang="en-US" sz="1600" b="1" u="none" strike="noStrike" dirty="0">
                          <a:effectLst/>
                        </a:rPr>
                        <a:t> - S</a:t>
                      </a:r>
                      <a:r>
                        <a:rPr lang="en-US" sz="1050" b="1" u="none" strike="noStrike" dirty="0">
                          <a:effectLst/>
                        </a:rPr>
                        <a:t>x+1</a:t>
                      </a:r>
                      <a:endParaRPr lang="en-US" sz="16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q</a:t>
                      </a:r>
                      <a:r>
                        <a:rPr lang="en-US" sz="1050" b="1" u="none" strike="noStrike" dirty="0" err="1">
                          <a:effectLst/>
                        </a:rPr>
                        <a:t>x</a:t>
                      </a:r>
                      <a:r>
                        <a:rPr lang="en-US" sz="1600" b="1" u="none" strike="noStrike" dirty="0">
                          <a:effectLst/>
                        </a:rPr>
                        <a:t> =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D</a:t>
                      </a:r>
                      <a:r>
                        <a:rPr lang="en-US" sz="1050" b="1" u="none" strike="noStrike" dirty="0">
                          <a:effectLst/>
                        </a:rPr>
                        <a:t>x</a:t>
                      </a:r>
                      <a:r>
                        <a:rPr lang="en-US" sz="1600" b="1" u="none" strike="noStrike" dirty="0">
                          <a:effectLst/>
                        </a:rPr>
                        <a:t>/</a:t>
                      </a:r>
                      <a:r>
                        <a:rPr lang="en-US" sz="1600" b="1" u="none" strike="noStrike" dirty="0" err="1">
                          <a:effectLst/>
                        </a:rPr>
                        <a:t>S</a:t>
                      </a:r>
                      <a:r>
                        <a:rPr lang="en-US" sz="1050" b="1" u="none" strike="noStrike" dirty="0" err="1">
                          <a:effectLst/>
                        </a:rPr>
                        <a:t>x</a:t>
                      </a:r>
                      <a:endParaRPr lang="en-US" sz="16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S</a:t>
                      </a:r>
                      <a:r>
                        <a:rPr lang="en-US" sz="1050" b="1" u="none" strike="noStrike" dirty="0" err="1">
                          <a:effectLst/>
                        </a:rPr>
                        <a:t>x</a:t>
                      </a:r>
                      <a:endParaRPr lang="en-US" sz="16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D</a:t>
                      </a:r>
                      <a:r>
                        <a:rPr lang="en-US" sz="1050" b="1" u="none" strike="noStrike" dirty="0">
                          <a:effectLst/>
                        </a:rPr>
                        <a:t>x</a:t>
                      </a:r>
                      <a:r>
                        <a:rPr lang="en-US" sz="1600" b="1" u="none" strike="noStrike" dirty="0">
                          <a:effectLst/>
                        </a:rPr>
                        <a:t> =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 </a:t>
                      </a:r>
                      <a:r>
                        <a:rPr lang="en-US" sz="1600" b="1" u="none" strike="noStrike" dirty="0" err="1">
                          <a:effectLst/>
                        </a:rPr>
                        <a:t>S</a:t>
                      </a:r>
                      <a:r>
                        <a:rPr lang="en-US" sz="1050" b="1" u="none" strike="noStrike" dirty="0" err="1">
                          <a:effectLst/>
                        </a:rPr>
                        <a:t>x</a:t>
                      </a:r>
                      <a:r>
                        <a:rPr lang="en-US" sz="1600" b="1" u="none" strike="noStrike" dirty="0">
                          <a:effectLst/>
                        </a:rPr>
                        <a:t> - S</a:t>
                      </a:r>
                      <a:r>
                        <a:rPr lang="en-US" sz="1050" b="1" u="none" strike="noStrike" dirty="0">
                          <a:effectLst/>
                        </a:rPr>
                        <a:t>x+1</a:t>
                      </a:r>
                      <a:endParaRPr lang="en-US" sz="16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q</a:t>
                      </a:r>
                      <a:r>
                        <a:rPr lang="en-US" sz="1050" b="1" u="none" strike="noStrike" dirty="0" err="1">
                          <a:effectLst/>
                        </a:rPr>
                        <a:t>x</a:t>
                      </a:r>
                      <a:r>
                        <a:rPr lang="en-US" sz="1600" b="1" u="none" strike="noStrike" dirty="0">
                          <a:effectLst/>
                        </a:rPr>
                        <a:t> =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D</a:t>
                      </a:r>
                      <a:r>
                        <a:rPr lang="en-US" sz="1050" b="1" u="none" strike="noStrike" dirty="0">
                          <a:effectLst/>
                        </a:rPr>
                        <a:t>x</a:t>
                      </a:r>
                      <a:r>
                        <a:rPr lang="en-US" sz="1600" b="1" u="none" strike="noStrike" dirty="0">
                          <a:effectLst/>
                        </a:rPr>
                        <a:t>/</a:t>
                      </a:r>
                      <a:r>
                        <a:rPr lang="en-US" sz="1600" b="1" u="none" strike="noStrike" dirty="0" err="1">
                          <a:effectLst/>
                        </a:rPr>
                        <a:t>S</a:t>
                      </a:r>
                      <a:r>
                        <a:rPr lang="en-US" sz="1050" b="1" u="none" strike="noStrike" dirty="0" err="1">
                          <a:effectLst/>
                        </a:rPr>
                        <a:t>x</a:t>
                      </a:r>
                      <a:endParaRPr lang="en-US" sz="16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4842665"/>
                  </a:ext>
                </a:extLst>
              </a:tr>
              <a:tr h="291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0 - 1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225.5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127.5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0.565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225.5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129.5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0.574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61672505"/>
                  </a:ext>
                </a:extLst>
              </a:tr>
              <a:tr h="291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1 - 2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98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51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0.52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96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53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0.552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2895598"/>
                  </a:ext>
                </a:extLst>
              </a:tr>
              <a:tr h="291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2 - 3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47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0.213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43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0.419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8630473"/>
                  </a:ext>
                </a:extLst>
              </a:tr>
              <a:tr h="291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3 - 4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37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0.27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0.400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45597414"/>
                  </a:ext>
                </a:extLst>
              </a:tr>
              <a:tr h="291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4 - 5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0.333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0.533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74146339"/>
                  </a:ext>
                </a:extLst>
              </a:tr>
              <a:tr h="291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5 - 6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0.444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0.857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61593734"/>
                  </a:ext>
                </a:extLst>
              </a:tr>
              <a:tr h="291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6 - 7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72560420"/>
                  </a:ext>
                </a:extLst>
              </a:tr>
              <a:tr h="291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7 - 8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47280499"/>
                  </a:ext>
                </a:extLst>
              </a:tr>
              <a:tr h="291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8 - 9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1977446"/>
                  </a:ext>
                </a:extLst>
              </a:tr>
              <a:tr h="291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9 - 10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523690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B7E20EE-3EC9-D8E2-BA60-7084AAEB18B9}"/>
              </a:ext>
            </a:extLst>
          </p:cNvPr>
          <p:cNvSpPr txBox="1"/>
          <p:nvPr/>
        </p:nvSpPr>
        <p:spPr>
          <a:xfrm>
            <a:off x="6324600" y="6326832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Neal chapter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BD834-DE5D-554E-4AEB-B4019FC2AE88}"/>
              </a:ext>
            </a:extLst>
          </p:cNvPr>
          <p:cNvSpPr txBox="1"/>
          <p:nvPr/>
        </p:nvSpPr>
        <p:spPr>
          <a:xfrm>
            <a:off x="682487" y="5772834"/>
            <a:ext cx="510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Cohort: Animals born in same year. Follow one cohort over time (e.g. marked animals).</a:t>
            </a:r>
          </a:p>
          <a:p>
            <a:r>
              <a:rPr lang="en-US" dirty="0"/>
              <a:t>Age 0 are not aged, so assigned half to each</a:t>
            </a:r>
          </a:p>
        </p:txBody>
      </p:sp>
    </p:spTree>
    <p:extLst>
      <p:ext uri="{BB962C8B-B14F-4D97-AF65-F5344CB8AC3E}">
        <p14:creationId xmlns:p14="http://schemas.microsoft.com/office/powerpoint/2010/main" val="2715155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00FE7-4452-B484-CC1B-B66AE91F2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life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9CB4D-479B-C0E3-CA57-1925490A1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Estimate the mortality rate of each age group at the time of the study. </a:t>
            </a:r>
          </a:p>
          <a:p>
            <a:r>
              <a:rPr lang="en-US" dirty="0"/>
              <a:t>Assuming that the same age-specific mortality rates apply for all cohorts, calculate the numbers for each cohort.  </a:t>
            </a:r>
          </a:p>
          <a:p>
            <a:r>
              <a:rPr lang="en-US" dirty="0"/>
              <a:t>Assumes mortality rates do not vary by year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370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0774-1725-B959-B4AC-42A5D3B8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vertical life table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19E42EC-9B57-1045-9F01-62A6D06237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1896968"/>
              </p:ext>
            </p:extLst>
          </p:nvPr>
        </p:nvGraphicFramePr>
        <p:xfrm>
          <a:off x="838200" y="1524000"/>
          <a:ext cx="7620001" cy="34213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606136">
                  <a:extLst>
                    <a:ext uri="{9D8B030D-6E8A-4147-A177-3AD203B41FA5}">
                      <a16:colId xmlns:a16="http://schemas.microsoft.com/office/drawing/2014/main" val="3875881821"/>
                    </a:ext>
                  </a:extLst>
                </a:gridCol>
                <a:gridCol w="519545">
                  <a:extLst>
                    <a:ext uri="{9D8B030D-6E8A-4147-A177-3AD203B41FA5}">
                      <a16:colId xmlns:a16="http://schemas.microsoft.com/office/drawing/2014/main" val="1188345937"/>
                    </a:ext>
                  </a:extLst>
                </a:gridCol>
                <a:gridCol w="1298864">
                  <a:extLst>
                    <a:ext uri="{9D8B030D-6E8A-4147-A177-3AD203B41FA5}">
                      <a16:colId xmlns:a16="http://schemas.microsoft.com/office/drawing/2014/main" val="3630705789"/>
                    </a:ext>
                  </a:extLst>
                </a:gridCol>
                <a:gridCol w="1298864">
                  <a:extLst>
                    <a:ext uri="{9D8B030D-6E8A-4147-A177-3AD203B41FA5}">
                      <a16:colId xmlns:a16="http://schemas.microsoft.com/office/drawing/2014/main" val="3503004073"/>
                    </a:ext>
                  </a:extLst>
                </a:gridCol>
                <a:gridCol w="1298864">
                  <a:extLst>
                    <a:ext uri="{9D8B030D-6E8A-4147-A177-3AD203B41FA5}">
                      <a16:colId xmlns:a16="http://schemas.microsoft.com/office/drawing/2014/main" val="1146661208"/>
                    </a:ext>
                  </a:extLst>
                </a:gridCol>
                <a:gridCol w="1298864">
                  <a:extLst>
                    <a:ext uri="{9D8B030D-6E8A-4147-A177-3AD203B41FA5}">
                      <a16:colId xmlns:a16="http://schemas.microsoft.com/office/drawing/2014/main" val="1043557603"/>
                    </a:ext>
                  </a:extLst>
                </a:gridCol>
                <a:gridCol w="1298864">
                  <a:extLst>
                    <a:ext uri="{9D8B030D-6E8A-4147-A177-3AD203B41FA5}">
                      <a16:colId xmlns:a16="http://schemas.microsoft.com/office/drawing/2014/main" val="2975948043"/>
                    </a:ext>
                  </a:extLst>
                </a:gridCol>
              </a:tblGrid>
              <a:tr h="761826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 class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Sample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size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Deaths per year in sample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Years in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0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ageclass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annual mortality rate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Numbers per 1000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67065416"/>
                  </a:ext>
                </a:extLst>
              </a:tr>
              <a:tr h="2728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1000.0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0051766"/>
                  </a:ext>
                </a:extLst>
              </a:tr>
              <a:tr h="2728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975.0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4501379"/>
                  </a:ext>
                </a:extLst>
              </a:tr>
              <a:tr h="2728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0.015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955.6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45061523"/>
                  </a:ext>
                </a:extLst>
              </a:tr>
              <a:tr h="2728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886.1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13492681"/>
                  </a:ext>
                </a:extLst>
              </a:tr>
              <a:tr h="2728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801.0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77568836"/>
                  </a:ext>
                </a:extLst>
              </a:tr>
              <a:tr h="2728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0.15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619.8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5126806"/>
                  </a:ext>
                </a:extLst>
              </a:tr>
              <a:tr h="2728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275.0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75983008"/>
                  </a:ext>
                </a:extLst>
              </a:tr>
              <a:tr h="2728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90.1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6083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518F679-5B50-9C03-88AC-FD34298A5D89}"/>
              </a:ext>
            </a:extLst>
          </p:cNvPr>
          <p:cNvSpPr txBox="1"/>
          <p:nvPr/>
        </p:nvSpPr>
        <p:spPr>
          <a:xfrm>
            <a:off x="6324600" y="60960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Neal book, chapter 6</a:t>
            </a:r>
          </a:p>
        </p:txBody>
      </p:sp>
    </p:spTree>
    <p:extLst>
      <p:ext uri="{BB962C8B-B14F-4D97-AF65-F5344CB8AC3E}">
        <p14:creationId xmlns:p14="http://schemas.microsoft.com/office/powerpoint/2010/main" val="362495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95731-B4EB-D05B-77BB-CBCFCBD7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D00DA-34A8-82E0-3D7C-08BA2ADA5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Fecundity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9B821-0B50-4A21-5B0C-8829C0011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also need age-specific fecundity to track population dynamics</a:t>
            </a:r>
          </a:p>
          <a:p>
            <a:r>
              <a:rPr lang="en-US" dirty="0"/>
              <a:t>Demographic models are often conducted for females only, as tracking females gives number of births (for dioecious animals: with two fixed sexes)</a:t>
            </a:r>
          </a:p>
          <a:p>
            <a:pPr lvl="1"/>
            <a:r>
              <a:rPr lang="en-US" dirty="0"/>
              <a:t>2-sex models are needed if mating system involves possible limitation in fecundity with fewer males (e.g. sea turtles)</a:t>
            </a:r>
          </a:p>
        </p:txBody>
      </p:sp>
    </p:spTree>
    <p:extLst>
      <p:ext uri="{BB962C8B-B14F-4D97-AF65-F5344CB8AC3E}">
        <p14:creationId xmlns:p14="http://schemas.microsoft.com/office/powerpoint/2010/main" val="1120003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E0B3A-60A2-E18A-5D4D-E197C112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 terminology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6E98AC-5FD0-2D5E-89F6-56D525EADF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demographic analysis, parameters are called</a:t>
                </a:r>
              </a:p>
              <a:p>
                <a:pPr marL="0" indent="0">
                  <a:buNone/>
                </a:pPr>
                <a:r>
                  <a:rPr lang="en-US" dirty="0"/>
                  <a:t>x for age or stage</a:t>
                </a:r>
              </a:p>
              <a:p>
                <a:pPr marL="0" indent="0">
                  <a:buNone/>
                </a:pP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is the fraction of females surviving to the beginning of x  (lowercase ell)</a:t>
                </a:r>
              </a:p>
              <a:p>
                <a:pPr marL="0" indent="0">
                  <a:buNone/>
                </a:pPr>
                <a:r>
                  <a:rPr lang="en-US" i="1" dirty="0"/>
                  <a:t>m</a:t>
                </a:r>
                <a:r>
                  <a:rPr lang="en-US" i="1" baseline="-25000" dirty="0"/>
                  <a:t>x</a:t>
                </a:r>
                <a:r>
                  <a:rPr lang="en-US" dirty="0"/>
                  <a:t> is production of female offspring per female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𝐹𝑒𝑐𝑢𝑛𝑑𝑖𝑡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6E98AC-5FD0-2D5E-89F6-56D525EADF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4650816-6C66-71E3-E97A-0DA9268FCDBA}"/>
              </a:ext>
            </a:extLst>
          </p:cNvPr>
          <p:cNvSpPr txBox="1"/>
          <p:nvPr/>
        </p:nvSpPr>
        <p:spPr>
          <a:xfrm>
            <a:off x="6400800" y="635476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Neal book, chapter 7</a:t>
            </a:r>
          </a:p>
        </p:txBody>
      </p:sp>
    </p:spTree>
    <p:extLst>
      <p:ext uri="{BB962C8B-B14F-4D97-AF65-F5344CB8AC3E}">
        <p14:creationId xmlns:p14="http://schemas.microsoft.com/office/powerpoint/2010/main" val="1100269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9132-243D-CBBC-722F-7E37415D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squirrel example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FC273D-539A-8C26-2431-9B916E174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" r="-7338" b="28127"/>
          <a:stretch>
            <a:fillRect/>
          </a:stretch>
        </p:blipFill>
        <p:spPr bwMode="auto">
          <a:xfrm>
            <a:off x="685800" y="1066800"/>
            <a:ext cx="7467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0AD76B-E180-5A6F-0025-F41155BE4E4F}"/>
              </a:ext>
            </a:extLst>
          </p:cNvPr>
          <p:cNvSpPr txBox="1"/>
          <p:nvPr/>
        </p:nvSpPr>
        <p:spPr>
          <a:xfrm>
            <a:off x="6400800" y="635476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Neal book, chapter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F6DCFC-FD29-2807-A869-EBEAC56A779C}"/>
              </a:ext>
            </a:extLst>
          </p:cNvPr>
          <p:cNvSpPr txBox="1"/>
          <p:nvPr/>
        </p:nvSpPr>
        <p:spPr>
          <a:xfrm>
            <a:off x="7429500" y="1060084"/>
            <a:ext cx="14478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i="1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survival m</a:t>
            </a:r>
            <a:r>
              <a:rPr lang="en-US" i="1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=fecundity</a:t>
            </a:r>
          </a:p>
        </p:txBody>
      </p:sp>
    </p:spTree>
    <p:extLst>
      <p:ext uri="{BB962C8B-B14F-4D97-AF65-F5344CB8AC3E}">
        <p14:creationId xmlns:p14="http://schemas.microsoft.com/office/powerpoint/2010/main" val="1300645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CD06-6376-316A-E5C6-C5B423F4E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Squirrels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8A45EFF-C657-6EAA-8999-5C731379B2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76" y="1272365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8653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D7560-9826-2FE2-B217-B3CFDFEDB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Squirrel mortality rate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A326556-3612-9175-6C6E-A58C4EA987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76" y="1272365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516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18E0-F9A8-003E-2BCF-ADA391262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growth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AB3AAC-D312-5BBA-CF31-8F77B6903A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458200" cy="5135563"/>
              </a:xfrm>
            </p:spPr>
            <p:txBody>
              <a:bodyPr/>
              <a:lstStyle/>
              <a:p>
                <a:r>
                  <a:rPr lang="en-US" sz="2800" dirty="0"/>
                  <a:t>The net reproduction rate is the total lifetime reproduction per female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Mean generation time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which is the average age of the mothers of offspring</a:t>
                </a:r>
              </a:p>
              <a:p>
                <a:r>
                  <a:rPr lang="en-US" sz="2800" dirty="0"/>
                  <a:t>A population of females producing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 offspring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/>
                  <a:t> years of age would have roughly the same population growth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AB3AAC-D312-5BBA-CF31-8F77B6903A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458200" cy="5135563"/>
              </a:xfrm>
              <a:blipFill>
                <a:blip r:embed="rId2"/>
                <a:stretch>
                  <a:fillRect l="-1297" t="-1306" r="-144" b="-14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D21141F-94BA-625E-A683-F6669EFAB30D}"/>
              </a:ext>
            </a:extLst>
          </p:cNvPr>
          <p:cNvSpPr txBox="1"/>
          <p:nvPr/>
        </p:nvSpPr>
        <p:spPr>
          <a:xfrm>
            <a:off x="6400800" y="635476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Neal book, chapter 7</a:t>
            </a:r>
          </a:p>
        </p:txBody>
      </p:sp>
    </p:spTree>
    <p:extLst>
      <p:ext uri="{BB962C8B-B14F-4D97-AF65-F5344CB8AC3E}">
        <p14:creationId xmlns:p14="http://schemas.microsoft.com/office/powerpoint/2010/main" val="1352170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36B780F-664D-94DF-EA21-A42F576EDD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to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36B780F-664D-94DF-EA21-A42F576EDD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5000" b="-6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D6679-84FA-DD23-C567-5CB514D32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Euler-Lotka equation</a:t>
            </a:r>
          </a:p>
          <a:p>
            <a:r>
              <a:rPr lang="en-US" dirty="0"/>
              <a:t>Leslie matrix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BDBF1-2386-32C7-CE65-5850B43EC299}"/>
              </a:ext>
            </a:extLst>
          </p:cNvPr>
          <p:cNvSpPr txBox="1"/>
          <p:nvPr/>
        </p:nvSpPr>
        <p:spPr>
          <a:xfrm>
            <a:off x="6400800" y="635476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Neal book, chapter 7</a:t>
            </a:r>
          </a:p>
        </p:txBody>
      </p:sp>
    </p:spTree>
    <p:extLst>
      <p:ext uri="{BB962C8B-B14F-4D97-AF65-F5344CB8AC3E}">
        <p14:creationId xmlns:p14="http://schemas.microsoft.com/office/powerpoint/2010/main" val="4242905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86655-F83F-2920-4F7B-F10F5765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DFA819-D557-D8AC-DECA-D192178A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Euler-Lotka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EB0CD-B4EF-84FF-4860-654339220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8610600" cy="51054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Use function minimizer to estimate </a:t>
            </a:r>
            <a:endParaRPr lang="en-US" i="1" baseline="30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311EF5-24DD-D170-3688-4E2E14D58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75473"/>
            <a:ext cx="6906589" cy="43059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0E984F-F8CB-3DC9-545D-A7FFAF559343}"/>
              </a:ext>
            </a:extLst>
          </p:cNvPr>
          <p:cNvSpPr txBox="1"/>
          <p:nvPr/>
        </p:nvSpPr>
        <p:spPr>
          <a:xfrm>
            <a:off x="6400800" y="635476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Neal book, chapter 7</a:t>
            </a:r>
          </a:p>
        </p:txBody>
      </p:sp>
    </p:spTree>
    <p:extLst>
      <p:ext uri="{BB962C8B-B14F-4D97-AF65-F5344CB8AC3E}">
        <p14:creationId xmlns:p14="http://schemas.microsoft.com/office/powerpoint/2010/main" val="1041320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3792-7804-1EEF-A499-F91B7547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Euler-Lotka assumption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77FEA-70C3-33EA-9FB3-E6533D22C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 age structure (fraction in each age class) is constant, called a stable age structure</a:t>
                </a:r>
              </a:p>
              <a:p>
                <a:r>
                  <a:rPr lang="en-US" dirty="0"/>
                  <a:t>If population is increasing exponentially at  a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, each age class is increasing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en-US" dirty="0"/>
              </a:p>
              <a:p>
                <a:r>
                  <a:rPr lang="en-US" altLang="en-US" sz="3200" dirty="0">
                    <a:solidFill>
                      <a:srgbClr val="333333"/>
                    </a:solidFill>
                    <a:latin typeface="Helvetica Neue"/>
                  </a:rPr>
                  <a:t>Births at time t are equal to the sum over age groups (x) of the number of females born x years ago, times their survival to age x (lx) times their fecundity at age x (mx).</a:t>
                </a:r>
                <a:endParaRPr lang="en-US" altLang="en-US" sz="1800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77FEA-70C3-33EA-9FB3-E6533D22C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544" r="-74" b="-1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7593977-105D-21D6-8CD4-65633B0D5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5440202"/>
            <a:ext cx="3439005" cy="11431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E6AE85-3BC4-72A1-A95A-5F4DD6D0A7BF}"/>
              </a:ext>
            </a:extLst>
          </p:cNvPr>
          <p:cNvSpPr txBox="1"/>
          <p:nvPr/>
        </p:nvSpPr>
        <p:spPr>
          <a:xfrm>
            <a:off x="6400800" y="635476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Neal book, chapter 7</a:t>
            </a:r>
          </a:p>
        </p:txBody>
      </p:sp>
    </p:spTree>
    <p:extLst>
      <p:ext uri="{BB962C8B-B14F-4D97-AF65-F5344CB8AC3E}">
        <p14:creationId xmlns:p14="http://schemas.microsoft.com/office/powerpoint/2010/main" val="1174192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F4EFA-12DE-E376-A271-B00314B9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equation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C13B71-7124-05C1-7362-936C3B355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711469"/>
            <a:ext cx="769620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</a:rPr>
              <a:t>And population is growing (or declining) at rate </a:t>
            </a:r>
          </a:p>
          <a:p>
            <a:pPr>
              <a:spcBef>
                <a:spcPct val="0"/>
              </a:spcBef>
            </a:pPr>
            <a:endParaRPr lang="en-US" altLang="en-US" sz="2800" dirty="0">
              <a:solidFill>
                <a:srgbClr val="333333"/>
              </a:solidFill>
              <a:latin typeface="Helvetica Neue"/>
            </a:endParaRPr>
          </a:p>
          <a:p>
            <a:pPr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</a:rPr>
              <a:t>So births are</a:t>
            </a:r>
          </a:p>
          <a:p>
            <a:pPr>
              <a:spcBef>
                <a:spcPct val="0"/>
              </a:spcBef>
            </a:pPr>
            <a:endParaRPr lang="en-US" altLang="en-US" sz="2800" dirty="0">
              <a:solidFill>
                <a:srgbClr val="333333"/>
              </a:solidFill>
              <a:latin typeface="Helvetica Neue"/>
            </a:endParaRPr>
          </a:p>
          <a:p>
            <a:pPr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</a:rPr>
              <a:t>Substituting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spcBef>
                <a:spcPct val="0"/>
              </a:spcBef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</a:rPr>
              <a:t>          cancels out, leaving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spcBef>
                <a:spcPct val="0"/>
              </a:spcBef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Helvetica Neue"/>
            </a:endParaRPr>
          </a:p>
          <a:p>
            <a:pPr>
              <a:spcBef>
                <a:spcPct val="0"/>
              </a:spcBef>
            </a:pPr>
            <a:endParaRPr lang="en-US" altLang="en-US" sz="2800" dirty="0">
              <a:solidFill>
                <a:srgbClr val="333333"/>
              </a:solidFill>
              <a:latin typeface="Helvetica Neue"/>
            </a:endParaRPr>
          </a:p>
          <a:p>
            <a:pPr>
              <a:spcBef>
                <a:spcPct val="0"/>
              </a:spcBef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Helvetica Neue"/>
            </a:endParaRPr>
          </a:p>
          <a:p>
            <a:pPr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</a:rPr>
              <a:t>Or equivalently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</a:rPr>
              <a:t>Solve numerically for 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athJax_Math-italic"/>
              </a:rPr>
              <a:t>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MathJax_Math-italic"/>
              </a:rPr>
              <a:t>m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FA4BBE-6DF9-915A-D03B-1A5064AF32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82" b="23088"/>
          <a:stretch>
            <a:fillRect/>
          </a:stretch>
        </p:blipFill>
        <p:spPr>
          <a:xfrm>
            <a:off x="1524000" y="1292867"/>
            <a:ext cx="1981477" cy="60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A412BE-4B8F-0872-0C30-D71360385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961386"/>
            <a:ext cx="1790950" cy="600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96743A-5D22-DA54-A591-20C14D02F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620464"/>
            <a:ext cx="3743847" cy="10574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721EBB-A7D0-D104-ED53-298DCB2B6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558402"/>
            <a:ext cx="800212" cy="543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C59E7B-0EEC-FDD3-C807-CC266982A1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85" y="4135856"/>
            <a:ext cx="2867425" cy="9621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E55DC7-3414-8FCF-6D85-AE1410221F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4619" y="4724400"/>
            <a:ext cx="2991267" cy="105742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5785F86-22EF-C53E-9BB1-119910758C44}"/>
              </a:ext>
            </a:extLst>
          </p:cNvPr>
          <p:cNvSpPr txBox="1"/>
          <p:nvPr/>
        </p:nvSpPr>
        <p:spPr>
          <a:xfrm>
            <a:off x="6400800" y="635476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Neal book, chapter 7</a:t>
            </a:r>
          </a:p>
        </p:txBody>
      </p:sp>
    </p:spTree>
    <p:extLst>
      <p:ext uri="{BB962C8B-B14F-4D97-AF65-F5344CB8AC3E}">
        <p14:creationId xmlns:p14="http://schemas.microsoft.com/office/powerpoint/2010/main" val="3093432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FCEE-1167-1458-AAC3-AFBD0055D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Euler-Lotka interpretation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0550B1-6AD5-D990-80E0-D5FE5A21D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0569" t="1" b="-887"/>
          <a:stretch>
            <a:fillRect/>
          </a:stretch>
        </p:blipFill>
        <p:spPr>
          <a:xfrm>
            <a:off x="609600" y="1295400"/>
            <a:ext cx="2076867" cy="1066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6A14E3-C3B8-140C-E41E-B75C1EE643C5}"/>
              </a:ext>
            </a:extLst>
          </p:cNvPr>
          <p:cNvSpPr txBox="1"/>
          <p:nvPr/>
        </p:nvSpPr>
        <p:spPr>
          <a:xfrm>
            <a:off x="3048000" y="1644134"/>
            <a:ext cx="50292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is a female’s lifetime reproduction discounted by the fact that ones born later contribute less to population growth</a:t>
            </a:r>
          </a:p>
          <a:p>
            <a:endParaRPr lang="en-US" sz="2000" dirty="0"/>
          </a:p>
          <a:p>
            <a:r>
              <a:rPr lang="en-US" sz="2000" dirty="0"/>
              <a:t>This must equal 1 to maintain a stable age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E39CBA-CEDF-9726-F5E3-06C8F8725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85" y="4135856"/>
            <a:ext cx="2867425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002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FDD1-2AA6-3DCE-7336-9A52064CD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Squirrel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61170-0023-1FFF-D41E-ADB1D06D7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baseline="-25000" dirty="0"/>
              <a:t>m</a:t>
            </a:r>
            <a:r>
              <a:rPr lang="en-US" dirty="0"/>
              <a:t>=0.0488</a:t>
            </a:r>
          </a:p>
          <a:p>
            <a:r>
              <a:rPr lang="en-US" dirty="0"/>
              <a:t>Similar to what you would get from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r</a:t>
            </a:r>
            <a:r>
              <a:rPr lang="en-US" baseline="-25000" dirty="0" err="1"/>
              <a:t>c</a:t>
            </a:r>
            <a:r>
              <a:rPr lang="en-US" dirty="0"/>
              <a:t>=0.0482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80AAE7-D3EA-ED9B-A935-327ECC23A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514600"/>
            <a:ext cx="2819794" cy="600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45C2C2-8FB8-C6E4-4C8B-BC8C3C6FF137}"/>
              </a:ext>
            </a:extLst>
          </p:cNvPr>
          <p:cNvSpPr txBox="1"/>
          <p:nvPr/>
        </p:nvSpPr>
        <p:spPr>
          <a:xfrm>
            <a:off x="6400800" y="635476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Neal book, chapter 7</a:t>
            </a:r>
          </a:p>
        </p:txBody>
      </p:sp>
    </p:spTree>
    <p:extLst>
      <p:ext uri="{BB962C8B-B14F-4D97-AF65-F5344CB8AC3E}">
        <p14:creationId xmlns:p14="http://schemas.microsoft.com/office/powerpoint/2010/main" val="971947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B9A7-8F29-39C6-690E-212C71DA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Matrix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098A1C-E60A-F07C-80DC-F0321B40A2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Vector of Numbers at each age in each year can be converted into Numbers at age in the following year by multiplying the number by a transition matrix called a </a:t>
                </a:r>
                <a:r>
                  <a:rPr lang="en-US" b="1" dirty="0"/>
                  <a:t>Leslie matrix</a:t>
                </a:r>
              </a:p>
              <a:p>
                <a:r>
                  <a:rPr lang="en-US" dirty="0"/>
                  <a:t>To solve for lambda or r</a:t>
                </a:r>
              </a:p>
              <a:p>
                <a:pPr lvl="1"/>
                <a:r>
                  <a:rPr lang="en-US" dirty="0"/>
                  <a:t>Multiply thousands of times until age structure stabilizes and calculate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Lamba is the first eigenvalue of the Leslie matrix, and the stable age structure is the first eigenvector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098A1C-E60A-F07C-80DC-F0321B40A2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544" r="-1778" b="-1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B3B04ED-32CC-D0BA-F6EA-03EA8DE9178F}"/>
              </a:ext>
            </a:extLst>
          </p:cNvPr>
          <p:cNvSpPr txBox="1"/>
          <p:nvPr/>
        </p:nvSpPr>
        <p:spPr>
          <a:xfrm>
            <a:off x="6400800" y="635476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Neal book, chapter 7</a:t>
            </a:r>
          </a:p>
        </p:txBody>
      </p:sp>
    </p:spTree>
    <p:extLst>
      <p:ext uri="{BB962C8B-B14F-4D97-AF65-F5344CB8AC3E}">
        <p14:creationId xmlns:p14="http://schemas.microsoft.com/office/powerpoint/2010/main" val="1600380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618C3-F23D-82E0-B4A3-E0E9E8418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Squirrel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1C013-B24B-F880-21DC-05B86728E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Must have equal-duration (annual) time steps.</a:t>
            </a:r>
          </a:p>
          <a:p>
            <a:r>
              <a:rPr lang="en-US" dirty="0"/>
              <a:t>Leslie matrix has fecundity at each age in top row and probability of survival from age t to t+1 one below the diagonal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C212A-2511-19EE-0E16-D196F7AC7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04303"/>
            <a:ext cx="5982535" cy="2353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C56BA1-E8BD-4580-CDC6-5E11A55E2229}"/>
              </a:ext>
            </a:extLst>
          </p:cNvPr>
          <p:cNvSpPr txBox="1"/>
          <p:nvPr/>
        </p:nvSpPr>
        <p:spPr>
          <a:xfrm>
            <a:off x="6400800" y="635476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Neal book, chapter 7</a:t>
            </a:r>
          </a:p>
        </p:txBody>
      </p:sp>
    </p:spTree>
    <p:extLst>
      <p:ext uri="{BB962C8B-B14F-4D97-AF65-F5344CB8AC3E}">
        <p14:creationId xmlns:p14="http://schemas.microsoft.com/office/powerpoint/2010/main" val="2258518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B029-0C01-E901-6B57-B786D8A2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of census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997EF-FFEE-9666-0923-5D37ED001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squirrel example, the animals are counted when the pubs are born. So the pups are all alive, but the females have had one year of mortality since their last census.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A5D884-ED14-768A-97DC-341831B29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7" y="2865437"/>
            <a:ext cx="8391028" cy="30019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CCC339-BE4F-1D71-E6BC-69ADEAC15610}"/>
              </a:ext>
            </a:extLst>
          </p:cNvPr>
          <p:cNvSpPr txBox="1"/>
          <p:nvPr/>
        </p:nvSpPr>
        <p:spPr>
          <a:xfrm>
            <a:off x="685800" y="6126163"/>
            <a:ext cx="5669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 census timing would change the calculations</a:t>
            </a:r>
          </a:p>
        </p:txBody>
      </p:sp>
    </p:spTree>
    <p:extLst>
      <p:ext uri="{BB962C8B-B14F-4D97-AF65-F5344CB8AC3E}">
        <p14:creationId xmlns:p14="http://schemas.microsoft.com/office/powerpoint/2010/main" val="3053403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F4AFE-E887-8DED-8231-87F1D6364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1962-2FEE-4962-1395-A7A37B6A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Squirrel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50190-67EF-CB00-C940-1B9B6CD0F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962400"/>
            <a:ext cx="8610600" cy="2163763"/>
          </a:xfrm>
        </p:spPr>
        <p:txBody>
          <a:bodyPr/>
          <a:lstStyle/>
          <a:p>
            <a:r>
              <a:rPr lang="en-US" dirty="0"/>
              <a:t>F</a:t>
            </a:r>
            <a:r>
              <a:rPr lang="en-US" baseline="-25000" dirty="0"/>
              <a:t>1</a:t>
            </a:r>
            <a:r>
              <a:rPr lang="en-US" dirty="0"/>
              <a:t> is fecundity of age 1 times survival to age 1</a:t>
            </a:r>
          </a:p>
          <a:p>
            <a:r>
              <a:rPr lang="en-US" dirty="0"/>
              <a:t>F</a:t>
            </a:r>
            <a:r>
              <a:rPr lang="en-US" baseline="-25000" dirty="0"/>
              <a:t>1</a:t>
            </a:r>
            <a:r>
              <a:rPr lang="en-US" dirty="0"/>
              <a:t> is fecundity of age 2 times survival to age 2 from age 1</a:t>
            </a:r>
          </a:p>
          <a:p>
            <a:r>
              <a:rPr lang="en-US" dirty="0"/>
              <a:t>P</a:t>
            </a:r>
            <a:r>
              <a:rPr lang="en-US" baseline="-25000" dirty="0"/>
              <a:t>1</a:t>
            </a:r>
            <a:r>
              <a:rPr lang="en-US" dirty="0"/>
              <a:t> is survival from age 1 to age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A3765-AB5C-C298-7F84-EC09C951D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75997"/>
            <a:ext cx="5982535" cy="2353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4AEAC9-5F3B-C459-EB59-8C4B93EE9BA4}"/>
              </a:ext>
            </a:extLst>
          </p:cNvPr>
          <p:cNvSpPr txBox="1"/>
          <p:nvPr/>
        </p:nvSpPr>
        <p:spPr>
          <a:xfrm>
            <a:off x="6400800" y="635476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Neal book, chapter 7</a:t>
            </a:r>
          </a:p>
        </p:txBody>
      </p:sp>
    </p:spTree>
    <p:extLst>
      <p:ext uri="{BB962C8B-B14F-4D97-AF65-F5344CB8AC3E}">
        <p14:creationId xmlns:p14="http://schemas.microsoft.com/office/powerpoint/2010/main" val="1891165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87070-1C67-54E0-F6C6-5A0C5D383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Leslie matrix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D4E76A-DCF3-A7BE-3BB5-84B7E9DEC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585164"/>
              </p:ext>
            </p:extLst>
          </p:nvPr>
        </p:nvGraphicFramePr>
        <p:xfrm>
          <a:off x="609600" y="1447800"/>
          <a:ext cx="7696200" cy="441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2700">
                  <a:extLst>
                    <a:ext uri="{9D8B030D-6E8A-4147-A177-3AD203B41FA5}">
                      <a16:colId xmlns:a16="http://schemas.microsoft.com/office/drawing/2014/main" val="3645529084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3189406312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416725904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344419912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3171933934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912546099"/>
                    </a:ext>
                  </a:extLst>
                </a:gridCol>
              </a:tblGrid>
              <a:tr h="455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[,1]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[,2]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[,3]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[,4]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[,5]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90885304"/>
                  </a:ext>
                </a:extLst>
              </a:tr>
              <a:tr h="8772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[1,]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0.572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1.197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0.874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0.866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52967706"/>
                  </a:ext>
                </a:extLst>
              </a:tr>
              <a:tr h="8772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[2,]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0.292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62802486"/>
                  </a:ext>
                </a:extLst>
              </a:tr>
              <a:tr h="8772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[3,]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0.438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3467656"/>
                  </a:ext>
                </a:extLst>
              </a:tr>
              <a:tr h="455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[4,]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0.320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6625781"/>
                  </a:ext>
                </a:extLst>
              </a:tr>
              <a:tr h="8772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[5,]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0.317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26148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732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5F401C-6CD3-B6F0-F65E-1EF5E60E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from Leslie matrix multiplied over time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1D0CBB0-2440-955F-2052-592E9E28AE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295400"/>
            <a:ext cx="4726170" cy="337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EA6E47-06F9-93C2-C7A8-702B630AAF37}"/>
              </a:ext>
            </a:extLst>
          </p:cNvPr>
          <p:cNvSpPr txBox="1"/>
          <p:nvPr/>
        </p:nvSpPr>
        <p:spPr>
          <a:xfrm>
            <a:off x="609600" y="5204635"/>
            <a:ext cx="7743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Lambda=0.042. rm=0.041</a:t>
            </a:r>
          </a:p>
          <a:p>
            <a:r>
              <a:rPr lang="en-US" dirty="0"/>
              <a:t>Note that the Euler-Lotka method would be identical if the timing of</a:t>
            </a:r>
          </a:p>
          <a:p>
            <a:r>
              <a:rPr lang="en-US" dirty="0"/>
              <a:t>events was the same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049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C504-3719-4138-3BD8-FCF460C6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B476B-DD63-AD77-D96F-5092DC3F9B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0" y="1384687"/>
            <a:ext cx="8305800" cy="4525963"/>
          </a:xfrm>
        </p:spPr>
        <p:txBody>
          <a:bodyPr/>
          <a:lstStyle/>
          <a:p>
            <a:r>
              <a:rPr lang="en-US" dirty="0"/>
              <a:t>Elasticity is how much lambda changes for a given change in a cell in the Leslie matrix</a:t>
            </a:r>
          </a:p>
          <a:p>
            <a:r>
              <a:rPr lang="en-US" dirty="0"/>
              <a:t>Ages or parameters with higher elasticity are more influential on population growth, so are more important for conservation actions</a:t>
            </a:r>
          </a:p>
          <a:p>
            <a:pPr lvl="1"/>
            <a:r>
              <a:rPr lang="en-US" dirty="0"/>
              <a:t>Often protecting older females from mortality is more important than protecting juveniles, because of their high fecundity</a:t>
            </a:r>
          </a:p>
          <a:p>
            <a:r>
              <a:rPr lang="en-US" dirty="0"/>
              <a:t>Elasticity can be calculated with matrix algebra</a:t>
            </a:r>
          </a:p>
          <a:p>
            <a:r>
              <a:rPr lang="en-US" dirty="0"/>
              <a:t>Elasticities are additive, so you can calculate the total elasticity of a life stage (Juvenile, adult, etc.)</a:t>
            </a:r>
          </a:p>
        </p:txBody>
      </p:sp>
    </p:spTree>
    <p:extLst>
      <p:ext uri="{BB962C8B-B14F-4D97-AF65-F5344CB8AC3E}">
        <p14:creationId xmlns:p14="http://schemas.microsoft.com/office/powerpoint/2010/main" val="2390301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2281-3D49-37F7-979C-8E4F033F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Elasticity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43FE8-9BBC-D502-15B0-1F5C179B7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8411" y="1166018"/>
            <a:ext cx="8270789" cy="4525963"/>
          </a:xfrm>
        </p:spPr>
        <p:txBody>
          <a:bodyPr/>
          <a:lstStyle/>
          <a:p>
            <a:r>
              <a:rPr lang="en-US" sz="2400" dirty="0"/>
              <a:t>Elasticity is change in proportional change lambda with change in a cell in the Leslie matrix (A)</a:t>
            </a:r>
          </a:p>
          <a:p>
            <a:r>
              <a:rPr lang="en-US" sz="2400" dirty="0"/>
              <a:t>Elasticity=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From sensitivity matrix </a:t>
            </a:r>
          </a:p>
          <a:p>
            <a:r>
              <a:rPr lang="en-US" sz="2400" dirty="0"/>
              <a:t>w is the stable age distribution = right eigenvector of A, scaled to sum to 1</a:t>
            </a:r>
          </a:p>
          <a:p>
            <a:r>
              <a:rPr lang="en-US" sz="2400" dirty="0"/>
              <a:t>v is the age specific mortality vector = left eigenvector of A (eigenvector of transpose), scaled so first value is 1</a:t>
            </a:r>
          </a:p>
          <a:p>
            <a:r>
              <a:rPr lang="en-US" sz="2400" dirty="0"/>
              <a:t>The inner product            is the sum of w1*v1+w1*v2, etc.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557756-D53E-00F5-9BD9-EDEB44237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377031"/>
            <a:ext cx="2038635" cy="924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41BAB8-7C25-98D6-C969-4E72D98FE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862" y="5864802"/>
            <a:ext cx="885949" cy="3429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5B8EAE-C1EF-9A77-692F-836071A09F26}"/>
              </a:ext>
            </a:extLst>
          </p:cNvPr>
          <p:cNvSpPr txBox="1"/>
          <p:nvPr/>
        </p:nvSpPr>
        <p:spPr>
          <a:xfrm>
            <a:off x="6858000" y="6248400"/>
            <a:ext cx="198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Heppell 2007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B57403-CF57-FAD5-F9D0-02B41E9D1E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9224" b="5522"/>
          <a:stretch>
            <a:fillRect/>
          </a:stretch>
        </p:blipFill>
        <p:spPr>
          <a:xfrm>
            <a:off x="2528687" y="2004571"/>
            <a:ext cx="1509913" cy="8910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C8D38B-5B15-33A7-6E7E-2339C7BD75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287"/>
          <a:stretch>
            <a:fillRect/>
          </a:stretch>
        </p:blipFill>
        <p:spPr>
          <a:xfrm>
            <a:off x="4149811" y="2059799"/>
            <a:ext cx="1948347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33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D0610-8EA0-6E8E-A0C8-A98E1F72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Elasticity for squirrels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F69596C-E9C0-9785-695E-FE7F23F6CD3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19756815"/>
              </p:ext>
            </p:extLst>
          </p:nvPr>
        </p:nvGraphicFramePr>
        <p:xfrm>
          <a:off x="990600" y="1524000"/>
          <a:ext cx="4572000" cy="22248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12090718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16011054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186704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6125808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5292309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357754842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[,1]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[,2]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[,3]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[,4]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[,5]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9625835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[1,]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0.34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0.20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0.06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0.02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3310417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[2,]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0.28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93876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[3,]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0.08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5395733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[4,]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0.02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662359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[5,]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241567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B0B2BBC-2987-CB35-C4A9-A08314C8A1F3}"/>
              </a:ext>
            </a:extLst>
          </p:cNvPr>
          <p:cNvSpPr txBox="1"/>
          <p:nvPr/>
        </p:nvSpPr>
        <p:spPr>
          <a:xfrm>
            <a:off x="838200" y="4114800"/>
            <a:ext cx="7162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Read as proportional change in lambda with proportional change in the cell of the Leslie matrix.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E.g. 10% change in probability of surviving to age 1 and reproducing is a 3.4% change in lambda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365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D09B-1A7E-D993-A4D5-588CD9B5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Elasticity summaries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CC92AE5-9BE4-E265-4E82-07BF155D75C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55" y="1828800"/>
            <a:ext cx="4267202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8436FA-9E97-BDDE-1629-AC30B7D1F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906" y="1770288"/>
            <a:ext cx="4267496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BA6A5A-F823-538A-75E9-99400B1CCA1C}"/>
              </a:ext>
            </a:extLst>
          </p:cNvPr>
          <p:cNvSpPr txBox="1"/>
          <p:nvPr/>
        </p:nvSpPr>
        <p:spPr>
          <a:xfrm>
            <a:off x="914400" y="5486400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Young animals are more important</a:t>
            </a:r>
          </a:p>
          <a:p>
            <a:r>
              <a:rPr lang="en-US" dirty="0"/>
              <a:t>For every age, reproduction matters more than survival</a:t>
            </a:r>
          </a:p>
        </p:txBody>
      </p:sp>
    </p:spTree>
    <p:extLst>
      <p:ext uri="{BB962C8B-B14F-4D97-AF65-F5344CB8AC3E}">
        <p14:creationId xmlns:p14="http://schemas.microsoft.com/office/powerpoint/2010/main" val="3856793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F5AD8-E80E-DB4E-814C-71568956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uncertainty and variability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3D96E-424F-981A-7890-B0052A960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772400" cy="4525963"/>
          </a:xfrm>
        </p:spPr>
        <p:txBody>
          <a:bodyPr/>
          <a:lstStyle/>
          <a:p>
            <a:r>
              <a:rPr lang="en-US" dirty="0"/>
              <a:t>Estimates of lx and mx are not known without error</a:t>
            </a:r>
          </a:p>
          <a:p>
            <a:r>
              <a:rPr lang="en-US" dirty="0"/>
              <a:t>They are often calculated from models fitted to data for maturity at size, etc. </a:t>
            </a:r>
          </a:p>
          <a:p>
            <a:r>
              <a:rPr lang="en-US" dirty="0"/>
              <a:t>Can add uncertainty to the estimates and get confidence intervals. </a:t>
            </a:r>
          </a:p>
        </p:txBody>
      </p:sp>
    </p:spTree>
    <p:extLst>
      <p:ext uri="{BB962C8B-B14F-4D97-AF65-F5344CB8AC3E}">
        <p14:creationId xmlns:p14="http://schemas.microsoft.com/office/powerpoint/2010/main" val="618131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A517B-7A5C-EB50-B068-8302EBB8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A8036-55BC-2E0B-71DE-6E57360F5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all the relevant parameters with a statistical distribution</a:t>
            </a:r>
          </a:p>
          <a:p>
            <a:r>
              <a:rPr lang="en-US" dirty="0"/>
              <a:t>Draw random values from each distribution</a:t>
            </a:r>
          </a:p>
          <a:p>
            <a:r>
              <a:rPr lang="en-US" dirty="0"/>
              <a:t>Recalculate lambda, R0, etc. </a:t>
            </a:r>
          </a:p>
          <a:p>
            <a:r>
              <a:rPr lang="en-US" dirty="0"/>
              <a:t>Calculate mean, </a:t>
            </a:r>
            <a:r>
              <a:rPr lang="en-US" dirty="0" err="1"/>
              <a:t>sd</a:t>
            </a:r>
            <a:r>
              <a:rPr lang="en-US" dirty="0"/>
              <a:t>, quantiles to get confidence intervals</a:t>
            </a:r>
          </a:p>
        </p:txBody>
      </p:sp>
    </p:spTree>
    <p:extLst>
      <p:ext uri="{BB962C8B-B14F-4D97-AF65-F5344CB8AC3E}">
        <p14:creationId xmlns:p14="http://schemas.microsoft.com/office/powerpoint/2010/main" val="8804863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75A0-0301-D92C-F2CB-9A1399C9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857F27-2688-5949-4A98-51930D575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914401"/>
            <a:ext cx="4373881" cy="312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5310A2-85C9-C3F6-8681-CBE4F8FD2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128" y="914401"/>
            <a:ext cx="4267199" cy="30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51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714C9-2830-8F52-48E1-0DE77A33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Squirrel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9C2D4-C910-A3FA-78EC-E5C64BEF7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CV of 0.02 to all lx values, and 0.05 to mx values, with normal error</a:t>
            </a:r>
          </a:p>
          <a:p>
            <a:r>
              <a:rPr lang="en-US" dirty="0"/>
              <a:t>Results, 95% confidence interval of lambda is 0.95 to 1.14.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8D90E2E-B9AD-D77F-1FA8-452D29E07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352800"/>
            <a:ext cx="4724400" cy="337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4525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BCB5-BC62-F2C7-6256-29E955857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density-dependence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DD640-8FF3-8D49-8951-303E2466B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logistic growth models rm is the growth at low population size.</a:t>
            </a:r>
          </a:p>
          <a:p>
            <a:r>
              <a:rPr lang="en-US" dirty="0"/>
              <a:t>Lambda and r</a:t>
            </a:r>
            <a:r>
              <a:rPr lang="en-US" baseline="-25000" dirty="0"/>
              <a:t>m</a:t>
            </a:r>
            <a:r>
              <a:rPr lang="en-US" dirty="0"/>
              <a:t> calculated from demographic methods is the value at the population level </a:t>
            </a:r>
            <a:r>
              <a:rPr lang="en-US" i="1" dirty="0"/>
              <a:t>when the survival and fecundity rates were calculated. </a:t>
            </a:r>
          </a:p>
          <a:p>
            <a:r>
              <a:rPr lang="en-US" dirty="0"/>
              <a:t>If population is currently at half of K, then the calculated r could be half of rm if logistic model is right</a:t>
            </a:r>
          </a:p>
        </p:txBody>
      </p:sp>
    </p:spTree>
    <p:extLst>
      <p:ext uri="{BB962C8B-B14F-4D97-AF65-F5344CB8AC3E}">
        <p14:creationId xmlns:p14="http://schemas.microsoft.com/office/powerpoint/2010/main" val="825467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772400" cy="990600"/>
          </a:xfrm>
        </p:spPr>
        <p:txBody>
          <a:bodyPr/>
          <a:lstStyle/>
          <a:p>
            <a:r>
              <a:rPr lang="en-US" dirty="0"/>
              <a:t>Density dependence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52400" y="4038600"/>
            <a:ext cx="8991600" cy="2743200"/>
          </a:xfrm>
        </p:spPr>
        <p:txBody>
          <a:bodyPr/>
          <a:lstStyle/>
          <a:p>
            <a:r>
              <a:rPr lang="en-US" dirty="0"/>
              <a:t>Demographic: no density dependence, so demographic </a:t>
            </a:r>
            <a:r>
              <a:rPr lang="en-US" i="1" dirty="0"/>
              <a:t>r</a:t>
            </a:r>
            <a:r>
              <a:rPr lang="en-US" dirty="0"/>
              <a:t> would be same as logistic </a:t>
            </a:r>
            <a:r>
              <a:rPr lang="en-US" i="1" dirty="0"/>
              <a:t>r </a:t>
            </a:r>
            <a:r>
              <a:rPr lang="en-US" dirty="0"/>
              <a:t>if the population was low when the fecundity, etc. were estimated</a:t>
            </a:r>
          </a:p>
          <a:p>
            <a:r>
              <a:rPr lang="en-US" dirty="0"/>
              <a:t>If the population was </a:t>
            </a:r>
            <a:r>
              <a:rPr lang="en-US"/>
              <a:t>at MSY demographic </a:t>
            </a:r>
            <a:r>
              <a:rPr lang="en-US" i="1" dirty="0"/>
              <a:t>r</a:t>
            </a:r>
            <a:r>
              <a:rPr lang="en-US" dirty="0"/>
              <a:t> should </a:t>
            </a:r>
            <a:r>
              <a:rPr lang="en-US"/>
              <a:t>be increased </a:t>
            </a:r>
            <a:r>
              <a:rPr lang="en-US" dirty="0"/>
              <a:t>by a factor of about 2. </a:t>
            </a:r>
          </a:p>
          <a:p>
            <a:endParaRPr lang="en-US" dirty="0"/>
          </a:p>
        </p:txBody>
      </p:sp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381000" y="1457882"/>
          <a:ext cx="4343400" cy="2411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353151" imgH="2448407" progId="Excel.Sheet.8">
                  <p:embed/>
                </p:oleObj>
              </mc:Choice>
              <mc:Fallback>
                <p:oleObj name="Worksheet" r:id="rId3" imgW="4353151" imgH="2448407" progId="Excel.Sheet.8">
                  <p:embed/>
                  <p:pic>
                    <p:nvPicPr>
                      <p:cNvPr id="92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457882"/>
                        <a:ext cx="4343400" cy="2411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5"/>
          <p:cNvGraphicFramePr>
            <a:graphicFrameLocks noChangeAspect="1"/>
          </p:cNvGraphicFramePr>
          <p:nvPr/>
        </p:nvGraphicFramePr>
        <p:xfrm>
          <a:off x="5562600" y="1676400"/>
          <a:ext cx="3276600" cy="159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07880" imgH="634680" progId="Equation.3">
                  <p:embed/>
                </p:oleObj>
              </mc:Choice>
              <mc:Fallback>
                <p:oleObj name="Equation" r:id="rId5" imgW="1307880" imgH="634680" progId="Equation.3">
                  <p:embed/>
                  <p:pic>
                    <p:nvPicPr>
                      <p:cNvPr id="9216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676400"/>
                        <a:ext cx="3276600" cy="1592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5" name="Object 5"/>
          <p:cNvGraphicFramePr>
            <a:graphicFrameLocks noChangeAspect="1"/>
          </p:cNvGraphicFramePr>
          <p:nvPr/>
        </p:nvGraphicFramePr>
        <p:xfrm>
          <a:off x="5527675" y="3048000"/>
          <a:ext cx="1558925" cy="159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22080" imgH="634680" progId="Equation.3">
                  <p:embed/>
                </p:oleObj>
              </mc:Choice>
              <mc:Fallback>
                <p:oleObj name="Equation" r:id="rId7" imgW="622080" imgH="634680" progId="Equation.3">
                  <p:embed/>
                  <p:pic>
                    <p:nvPicPr>
                      <p:cNvPr id="921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7675" y="3048000"/>
                        <a:ext cx="1558925" cy="159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181600" y="1295400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Logistic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66700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Demographic exponential growth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8374FB-CB6B-6925-182D-EA907602BCD1}"/>
              </a:ext>
            </a:extLst>
          </p:cNvPr>
          <p:cNvSpPr txBox="1"/>
          <p:nvPr/>
        </p:nvSpPr>
        <p:spPr>
          <a:xfrm>
            <a:off x="6781800" y="6412468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Mcallister et al. 2002</a:t>
            </a:r>
          </a:p>
        </p:txBody>
      </p:sp>
    </p:spTree>
    <p:extLst>
      <p:ext uri="{BB962C8B-B14F-4D97-AF65-F5344CB8AC3E}">
        <p14:creationId xmlns:p14="http://schemas.microsoft.com/office/powerpoint/2010/main" val="39597717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8085-845B-0813-A438-B52CAE80D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BF1BE-5303-204E-84E6-5E38A753D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Cortes, 2002. ​Incorporating Uncertainty into Demographic Modeling: Application to Shark Populations and Their Conservation</a:t>
            </a:r>
          </a:p>
          <a:p>
            <a:r>
              <a:rPr lang="en-US" dirty="0"/>
              <a:t>Cortes, 2012. Perspectives on the intrinsic rate of population growth</a:t>
            </a:r>
          </a:p>
          <a:p>
            <a:r>
              <a:rPr lang="en-US" dirty="0"/>
              <a:t>McAllister, et al. 2001. ​Using demographic methods to construct Bayesian priors for the intrinsic rate of increase in the Schaefer model and implications for stock rebuilding</a:t>
            </a:r>
          </a:p>
          <a:p>
            <a:r>
              <a:rPr lang="en-US" dirty="0"/>
              <a:t>Heppell. 2007. Elasticity analysis of green sturgeon life history</a:t>
            </a:r>
          </a:p>
        </p:txBody>
      </p:sp>
    </p:spTree>
    <p:extLst>
      <p:ext uri="{BB962C8B-B14F-4D97-AF65-F5344CB8AC3E}">
        <p14:creationId xmlns:p14="http://schemas.microsoft.com/office/powerpoint/2010/main" val="35743755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9123</TotalTime>
  <Words>1725</Words>
  <Application>Microsoft Office PowerPoint</Application>
  <PresentationFormat>On-screen Show (4:3)</PresentationFormat>
  <Paragraphs>398</Paragraphs>
  <Slides>36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Albertus Extra Bold</vt:lpstr>
      <vt:lpstr>Aptos Narrow</vt:lpstr>
      <vt:lpstr>Arial</vt:lpstr>
      <vt:lpstr>Calibri</vt:lpstr>
      <vt:lpstr>Cambria Math</vt:lpstr>
      <vt:lpstr>Helvetica Neue</vt:lpstr>
      <vt:lpstr>MathJax_Math-italic</vt:lpstr>
      <vt:lpstr>Times New Roman</vt:lpstr>
      <vt:lpstr>Default Design</vt:lpstr>
      <vt:lpstr>Worksheet</vt:lpstr>
      <vt:lpstr>Equation</vt:lpstr>
      <vt:lpstr>MBE 713: Marine Population Dynamics 6: Life tables and Leslie matrices</vt:lpstr>
      <vt:lpstr>Age-structured models</vt:lpstr>
      <vt:lpstr>Life tables</vt:lpstr>
      <vt:lpstr>Galapagos finch</vt:lpstr>
      <vt:lpstr>Cohort life table. </vt:lpstr>
      <vt:lpstr>Vertical life table</vt:lpstr>
      <vt:lpstr>Example vertical life table</vt:lpstr>
      <vt:lpstr>Fecundity</vt:lpstr>
      <vt:lpstr>Demographic terminology</vt:lpstr>
      <vt:lpstr>Ground squirrel example </vt:lpstr>
      <vt:lpstr>Squirrels</vt:lpstr>
      <vt:lpstr>Squirrel mortality rate</vt:lpstr>
      <vt:lpstr>Population growth parameters</vt:lpstr>
      <vt:lpstr>How to calculate r_m and λ </vt:lpstr>
      <vt:lpstr>Euler-Lotka method</vt:lpstr>
      <vt:lpstr>Euler-Lotka assumption</vt:lpstr>
      <vt:lpstr>Euler equation</vt:lpstr>
      <vt:lpstr>Euler-Lotka interpretation</vt:lpstr>
      <vt:lpstr>Squirrel example</vt:lpstr>
      <vt:lpstr> Matrix methods</vt:lpstr>
      <vt:lpstr>Squirrel example</vt:lpstr>
      <vt:lpstr>Timing of census</vt:lpstr>
      <vt:lpstr>Squirrel example</vt:lpstr>
      <vt:lpstr>Leslie matrix</vt:lpstr>
      <vt:lpstr>Results from Leslie matrix multiplied over time</vt:lpstr>
      <vt:lpstr>Elasticity analysis</vt:lpstr>
      <vt:lpstr>Elasticity calculations</vt:lpstr>
      <vt:lpstr>Elasticity for squirrels</vt:lpstr>
      <vt:lpstr>Elasticity summaries</vt:lpstr>
      <vt:lpstr>Adding uncertainty and variability</vt:lpstr>
      <vt:lpstr>Monte Carlo simulation</vt:lpstr>
      <vt:lpstr>Distributions</vt:lpstr>
      <vt:lpstr>Squirrel example</vt:lpstr>
      <vt:lpstr>Effect of density-dependence</vt:lpstr>
      <vt:lpstr>Density dependence</vt:lpstr>
      <vt:lpstr>References</vt:lpstr>
    </vt:vector>
  </TitlesOfParts>
  <Company>Wildlife Conservation Society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Rebecca Cerroni</dc:creator>
  <cp:lastModifiedBy>Babcock, Elizabeth A</cp:lastModifiedBy>
  <cp:revision>652</cp:revision>
  <dcterms:created xsi:type="dcterms:W3CDTF">2002-07-02T19:54:08Z</dcterms:created>
  <dcterms:modified xsi:type="dcterms:W3CDTF">2026-09-10T17:09:02Z</dcterms:modified>
</cp:coreProperties>
</file>