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3" r:id="rId1"/>
  </p:sldMasterIdLst>
  <p:notesMasterIdLst>
    <p:notesMasterId r:id="rId44"/>
  </p:notesMasterIdLst>
  <p:handoutMasterIdLst>
    <p:handoutMasterId r:id="rId45"/>
  </p:handoutMasterIdLst>
  <p:sldIdLst>
    <p:sldId id="297" r:id="rId2"/>
    <p:sldId id="630" r:id="rId3"/>
    <p:sldId id="666" r:id="rId4"/>
    <p:sldId id="631" r:id="rId5"/>
    <p:sldId id="261" r:id="rId6"/>
    <p:sldId id="258" r:id="rId7"/>
    <p:sldId id="259" r:id="rId8"/>
    <p:sldId id="260" r:id="rId9"/>
    <p:sldId id="264" r:id="rId10"/>
    <p:sldId id="265" r:id="rId11"/>
    <p:sldId id="266" r:id="rId12"/>
    <p:sldId id="268" r:id="rId13"/>
    <p:sldId id="637" r:id="rId14"/>
    <p:sldId id="639" r:id="rId15"/>
    <p:sldId id="664" r:id="rId16"/>
    <p:sldId id="665" r:id="rId17"/>
    <p:sldId id="663" r:id="rId18"/>
    <p:sldId id="638" r:id="rId19"/>
    <p:sldId id="650" r:id="rId20"/>
    <p:sldId id="640" r:id="rId21"/>
    <p:sldId id="641" r:id="rId22"/>
    <p:sldId id="633" r:id="rId23"/>
    <p:sldId id="642" r:id="rId24"/>
    <p:sldId id="645" r:id="rId25"/>
    <p:sldId id="643" r:id="rId26"/>
    <p:sldId id="644" r:id="rId27"/>
    <p:sldId id="646" r:id="rId28"/>
    <p:sldId id="649" r:id="rId29"/>
    <p:sldId id="648" r:id="rId30"/>
    <p:sldId id="651" r:id="rId31"/>
    <p:sldId id="652" r:id="rId32"/>
    <p:sldId id="653" r:id="rId33"/>
    <p:sldId id="657" r:id="rId34"/>
    <p:sldId id="647" r:id="rId35"/>
    <p:sldId id="658" r:id="rId36"/>
    <p:sldId id="659" r:id="rId37"/>
    <p:sldId id="654" r:id="rId38"/>
    <p:sldId id="655" r:id="rId39"/>
    <p:sldId id="656" r:id="rId40"/>
    <p:sldId id="661" r:id="rId41"/>
    <p:sldId id="660" r:id="rId42"/>
    <p:sldId id="662" r:id="rId43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FF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5" autoAdjust="0"/>
    <p:restoredTop sz="94590" autoAdjust="0"/>
  </p:normalViewPr>
  <p:slideViewPr>
    <p:cSldViewPr>
      <p:cViewPr varScale="1">
        <p:scale>
          <a:sx n="102" d="100"/>
          <a:sy n="102" d="100"/>
        </p:scale>
        <p:origin x="898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140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bcock, Elizabeth A" userId="02b9ec88-22ae-4f16-80a8-fd6316399148" providerId="ADAL" clId="{CFAE71B8-9659-41D1-BF87-D488A69E897D}"/>
    <pc:docChg chg="delSld modSld">
      <pc:chgData name="Babcock, Elizabeth A" userId="02b9ec88-22ae-4f16-80a8-fd6316399148" providerId="ADAL" clId="{CFAE71B8-9659-41D1-BF87-D488A69E897D}" dt="2026-09-11T14:17:38.107" v="20" actId="47"/>
      <pc:docMkLst>
        <pc:docMk/>
      </pc:docMkLst>
      <pc:sldChg chg="del">
        <pc:chgData name="Babcock, Elizabeth A" userId="02b9ec88-22ae-4f16-80a8-fd6316399148" providerId="ADAL" clId="{CFAE71B8-9659-41D1-BF87-D488A69E897D}" dt="2026-09-11T14:17:38.107" v="20" actId="47"/>
        <pc:sldMkLst>
          <pc:docMk/>
          <pc:sldMk cId="0" sldId="273"/>
        </pc:sldMkLst>
      </pc:sldChg>
      <pc:sldChg chg="modSp mod">
        <pc:chgData name="Babcock, Elizabeth A" userId="02b9ec88-22ae-4f16-80a8-fd6316399148" providerId="ADAL" clId="{CFAE71B8-9659-41D1-BF87-D488A69E897D}" dt="2026-09-11T14:17:02.449" v="19" actId="20577"/>
        <pc:sldMkLst>
          <pc:docMk/>
          <pc:sldMk cId="0" sldId="297"/>
        </pc:sldMkLst>
        <pc:spChg chg="mod">
          <ac:chgData name="Babcock, Elizabeth A" userId="02b9ec88-22ae-4f16-80a8-fd6316399148" providerId="ADAL" clId="{CFAE71B8-9659-41D1-BF87-D488A69E897D}" dt="2026-09-11T14:17:02.449" v="19" actId="20577"/>
          <ac:spMkLst>
            <pc:docMk/>
            <pc:sldMk cId="0" sldId="297"/>
            <ac:spMk id="64516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93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fld id="{44E1A066-3641-409E-B440-E03BE1A0AA5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53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0" y="4560570"/>
            <a:ext cx="536448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14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0" y="912114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fld id="{DB41E0A9-D23A-4D9E-8E36-829A8A18E11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122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41E0A9-D23A-4D9E-8E36-829A8A18E11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88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062168-CA75-4DCB-ACA1-3CBE51E9BB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/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>
            <a:lvl1pPr>
              <a:defRPr sz="30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4D0444-4EDE-4B38-A1B6-1736318DBC5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F321D8-A24E-4B03-8586-27459BEAE9B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C44912-138E-4802-853F-B984A9F1B84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9CEF9F-1C92-4FF0-B96A-F7A26EAD5EF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14A5D3-C54B-4997-83E3-9432E83EEA5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565590-C750-4EBE-B003-8C25E87E5ED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296C32-B7AF-4AD0-8CF7-595A42FA598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D90EA9-603D-4EE5-A1C2-41766C3D918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7161DC-BD25-4CCF-BE89-96EEE98F52E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DDD1C5-1327-4575-9025-19C1051F18E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665C853-9B71-41A6-85AE-FF9CB414E8D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A263BF0B-CADE-419C-AB13-4AA4FFFE67C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10E6B2F-18C5-4BBA-93EB-6AAC223AFA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90D7465-2649-45B4-818D-D0220884C5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073B23E-588F-4102-9F6B-DE52C387C6E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751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C57D645-5CE9-4EB9-B8B2-706EBA74EC3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flrproject.org/" TargetMode="External"/><Relationship Id="rId2" Type="http://schemas.openxmlformats.org/officeDocument/2006/relationships/hyperlink" Target="https://nmfs-ost.github.io/ss3-website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flrproject.org/FLa4a/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r4ss.github.io/r4ss/BigSkate/_SS_output_Pars.html" TargetMode="External"/><Relationship Id="rId2" Type="http://schemas.openxmlformats.org/officeDocument/2006/relationships/hyperlink" Target="https://nmfs-ost.github.io/ss3-websit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ccat.int/Documents/SCRS/DetRep/SMA_SA_ENG.pdf" TargetMode="External"/><Relationship Id="rId5" Type="http://schemas.openxmlformats.org/officeDocument/2006/relationships/hyperlink" Target="https://www.iccat.int/Documents/SCRS/ExecSum/SMA_ENG.pdf" TargetMode="External"/><Relationship Id="rId4" Type="http://schemas.openxmlformats.org/officeDocument/2006/relationships/hyperlink" Target="https://www.iccat.int/en/assess.html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nmfs-ost.github.io/ss3diags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ccat.int/" TargetMode="External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ccat.int/" TargetMode="External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09600" y="1524000"/>
            <a:ext cx="7772400" cy="1470025"/>
          </a:xfrm>
        </p:spPr>
        <p:txBody>
          <a:bodyPr/>
          <a:lstStyle/>
          <a:p>
            <a:r>
              <a:rPr lang="en-US" sz="3600" dirty="0"/>
              <a:t>Stock assessment 2:</a:t>
            </a:r>
            <a:br>
              <a:rPr lang="en-US" sz="3600" dirty="0"/>
            </a:br>
            <a:r>
              <a:rPr lang="en-US" sz="3600" dirty="0"/>
              <a:t>Statistical catch at age models</a:t>
            </a:r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14500" y="3350195"/>
            <a:ext cx="5715000" cy="1752600"/>
          </a:xfrm>
        </p:spPr>
        <p:txBody>
          <a:bodyPr/>
          <a:lstStyle/>
          <a:p>
            <a:r>
              <a:rPr lang="en-US" dirty="0"/>
              <a:t>Elizabeth A. Babcock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" y="4953000"/>
            <a:ext cx="2990850" cy="172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9AE9B-A490-52DD-A9EA-76CF854FA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 structured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6042F-F861-A5D4-93AF-ACB97760B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892" y="861218"/>
            <a:ext cx="8229600" cy="5135563"/>
          </a:xfrm>
        </p:spPr>
        <p:txBody>
          <a:bodyPr/>
          <a:lstStyle/>
          <a:p>
            <a:r>
              <a:rPr lang="en-US" dirty="0"/>
              <a:t>Most modern high-value commercial fisheries are assessed with </a:t>
            </a:r>
            <a:r>
              <a:rPr lang="en-US" b="1" dirty="0"/>
              <a:t>statistical catch at age</a:t>
            </a:r>
            <a:r>
              <a:rPr lang="en-US" dirty="0"/>
              <a:t> (SCAA) models</a:t>
            </a:r>
          </a:p>
          <a:p>
            <a:r>
              <a:rPr lang="en-US" dirty="0"/>
              <a:t>Can model size limits, time lags in population dynamics, selectivity in fisheries, etc.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340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26FF5-ED86-A98F-4C49-A7379F3E0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4CF57-CDE0-F720-D0EC-D76E70760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 used</a:t>
            </a:r>
          </a:p>
          <a:p>
            <a:pPr lvl="1"/>
            <a:r>
              <a:rPr lang="en-US" dirty="0"/>
              <a:t>Abundance time series (CPUE, survey)</a:t>
            </a:r>
          </a:p>
          <a:p>
            <a:pPr lvl="1"/>
            <a:r>
              <a:rPr lang="en-US" dirty="0"/>
              <a:t>Catches at age and/or total catch plus samples of catch at age or length per fishery</a:t>
            </a:r>
          </a:p>
          <a:p>
            <a:pPr lvl="1"/>
            <a:r>
              <a:rPr lang="en-US" dirty="0"/>
              <a:t>Mean size time series, etc. </a:t>
            </a:r>
          </a:p>
          <a:p>
            <a:r>
              <a:rPr lang="en-US" dirty="0"/>
              <a:t>Likelihood is summed across likelihoods for all data</a:t>
            </a:r>
          </a:p>
          <a:p>
            <a:r>
              <a:rPr lang="en-US" dirty="0"/>
              <a:t>General philosophy is to predict all data sources in their original format and give them a likelihood, rather than transforming or summarizing, called an “integrated model”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937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55F96-C0ED-4128-BC97-8CC8360F1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Age structured stock assessment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032DD-25F1-497D-96A8-8035F1342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271" y="1600200"/>
            <a:ext cx="5015730" cy="43433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Track of number of fish at each age and year</a:t>
            </a:r>
          </a:p>
          <a:p>
            <a:r>
              <a:rPr lang="en-US" dirty="0"/>
              <a:t>Use life history relationships to estimate fish growth, weight, fecundity, etc.</a:t>
            </a:r>
          </a:p>
          <a:p>
            <a:r>
              <a:rPr lang="en-US" dirty="0"/>
              <a:t>Predict catch at age, length frequency etc. </a:t>
            </a:r>
          </a:p>
          <a:p>
            <a:r>
              <a:rPr lang="en-US" dirty="0"/>
              <a:t>Estimate parameters using likelihood summed across all types of data</a:t>
            </a:r>
          </a:p>
          <a:p>
            <a:r>
              <a:rPr lang="en-US" dirty="0"/>
              <a:t>Often include Bayesian priors on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0B8886-1614-401F-B72A-2E67C1D5A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8005" y="2832705"/>
            <a:ext cx="2876136" cy="23023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000F5F-1BD1-4344-833F-A761946E8B5C}"/>
              </a:ext>
            </a:extLst>
          </p:cNvPr>
          <p:cNvSpPr txBox="1"/>
          <p:nvPr/>
        </p:nvSpPr>
        <p:spPr>
          <a:xfrm>
            <a:off x="6432062" y="2211754"/>
            <a:ext cx="2594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</a:t>
            </a:r>
          </a:p>
          <a:p>
            <a:r>
              <a:rPr lang="en-US" dirty="0"/>
              <a:t>1     2     3     4     5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711488-8878-42B7-B26D-FA0E59270BBF}"/>
              </a:ext>
            </a:extLst>
          </p:cNvPr>
          <p:cNvSpPr txBox="1"/>
          <p:nvPr/>
        </p:nvSpPr>
        <p:spPr>
          <a:xfrm>
            <a:off x="5686814" y="2483206"/>
            <a:ext cx="722211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dirty="0"/>
              <a:t>Year </a:t>
            </a:r>
          </a:p>
          <a:p>
            <a:pPr>
              <a:spcBef>
                <a:spcPts val="1200"/>
              </a:spcBef>
            </a:pPr>
            <a:r>
              <a:rPr lang="en-US" dirty="0"/>
              <a:t>2000</a:t>
            </a:r>
          </a:p>
          <a:p>
            <a:pPr>
              <a:spcBef>
                <a:spcPts val="1200"/>
              </a:spcBef>
            </a:pPr>
            <a:r>
              <a:rPr lang="en-US" dirty="0"/>
              <a:t>2001</a:t>
            </a:r>
          </a:p>
          <a:p>
            <a:pPr>
              <a:spcBef>
                <a:spcPts val="1200"/>
              </a:spcBef>
            </a:pPr>
            <a:r>
              <a:rPr lang="en-US" dirty="0"/>
              <a:t>2002</a:t>
            </a:r>
          </a:p>
          <a:p>
            <a:pPr>
              <a:spcBef>
                <a:spcPts val="1200"/>
              </a:spcBef>
            </a:pPr>
            <a:r>
              <a:rPr lang="en-US" dirty="0"/>
              <a:t>2003</a:t>
            </a:r>
          </a:p>
          <a:p>
            <a:pPr>
              <a:spcBef>
                <a:spcPts val="1200"/>
              </a:spcBef>
            </a:pPr>
            <a:r>
              <a:rPr lang="en-US" dirty="0"/>
              <a:t>2004</a:t>
            </a:r>
          </a:p>
          <a:p>
            <a:pPr>
              <a:spcBef>
                <a:spcPts val="1200"/>
              </a:spcBef>
            </a:pPr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3859DA-8E9C-4882-A927-BA57A0F0DBBC}"/>
              </a:ext>
            </a:extLst>
          </p:cNvPr>
          <p:cNvSpPr txBox="1"/>
          <p:nvPr/>
        </p:nvSpPr>
        <p:spPr>
          <a:xfrm>
            <a:off x="7284348" y="1674969"/>
            <a:ext cx="1742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Numbers at age</a:t>
            </a:r>
          </a:p>
        </p:txBody>
      </p:sp>
    </p:spTree>
    <p:extLst>
      <p:ext uri="{BB962C8B-B14F-4D97-AF65-F5344CB8AC3E}">
        <p14:creationId xmlns:p14="http://schemas.microsoft.com/office/powerpoint/2010/main" val="1126670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Natural Mortality</a:t>
            </a:r>
            <a:r>
              <a:rPr lang="en-US" dirty="0"/>
              <a:t> (M)</a:t>
            </a:r>
            <a:endParaRPr dirty="0"/>
          </a:p>
        </p:txBody>
      </p:sp>
      <p:pic>
        <p:nvPicPr>
          <p:cNvPr id="3" name="Picture 1" descr="AgeStructuredTalk_files/figure-pptx/mortality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90600" y="1796673"/>
            <a:ext cx="3962400" cy="316992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B8FDBA-EAC6-48BB-9C3A-45FAC4C34E82}"/>
                  </a:ext>
                </a:extLst>
              </p:cNvPr>
              <p:cNvSpPr txBox="1"/>
              <p:nvPr/>
            </p:nvSpPr>
            <p:spPr>
              <a:xfrm>
                <a:off x="2121681" y="1202612"/>
                <a:ext cx="490063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800" b="0" dirty="0"/>
                  <a:t> without fishing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B8FDBA-EAC6-48BB-9C3A-45FAC4C34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681" y="1202612"/>
                <a:ext cx="4900637" cy="430887"/>
              </a:xfrm>
              <a:prstGeom prst="rect">
                <a:avLst/>
              </a:prstGeom>
              <a:blipFill>
                <a:blip r:embed="rId3"/>
                <a:stretch>
                  <a:fillRect l="-2363" t="-25352" b="-49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3C55370-1373-46B4-806D-55FA59D02967}"/>
              </a:ext>
            </a:extLst>
          </p:cNvPr>
          <p:cNvSpPr txBox="1"/>
          <p:nvPr/>
        </p:nvSpPr>
        <p:spPr>
          <a:xfrm>
            <a:off x="802733" y="5129767"/>
            <a:ext cx="76554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 is the instantaneous natural mortality rate at 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May be fixed, or given a Bayesian prior, or estimated freely based on a functional form like Lorenzen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Fish Growth (von Bertalanffy)</a:t>
            </a:r>
          </a:p>
        </p:txBody>
      </p:sp>
      <p:pic>
        <p:nvPicPr>
          <p:cNvPr id="3" name="Picture 1" descr="AgeStructuredTalk_files/figure-pptx/unnamed-chunk-1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52600" y="1799376"/>
            <a:ext cx="4572000" cy="3657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6C4FF9-B36D-4FBB-9BA0-4687BA5E8C37}"/>
                  </a:ext>
                </a:extLst>
              </p:cNvPr>
              <p:cNvSpPr txBox="1"/>
              <p:nvPr/>
            </p:nvSpPr>
            <p:spPr>
              <a:xfrm>
                <a:off x="2434493" y="1212549"/>
                <a:ext cx="4572000" cy="5946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d>
                        <m:dPr>
                          <m:ctrlPr>
                            <a:rPr lang="en-US" sz="2800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d>
                                <m:dPr>
                                  <m:ctrlPr>
                                    <a:rPr lang="en-US" sz="2800" b="0" i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  <m:r>
                                    <a:rPr lang="en-US" sz="28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800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800" b="0" i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6C4FF9-B36D-4FBB-9BA0-4687BA5E8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4493" y="1212549"/>
                <a:ext cx="4572000" cy="5946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F016D4E-E80F-FA36-F7F9-8748CEF464A1}"/>
              </a:ext>
            </a:extLst>
          </p:cNvPr>
          <p:cNvSpPr txBox="1"/>
          <p:nvPr/>
        </p:nvSpPr>
        <p:spPr>
          <a:xfrm>
            <a:off x="990600" y="5791200"/>
            <a:ext cx="77080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Usually input as fixed parameters, often sex specific. Variance in length at</a:t>
            </a:r>
          </a:p>
          <a:p>
            <a:r>
              <a:rPr lang="en-US" dirty="0"/>
              <a:t>age is important, because we need the distribution of fish lengths at age.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Weight as a function of length</a:t>
            </a:r>
          </a:p>
        </p:txBody>
      </p:sp>
      <p:pic>
        <p:nvPicPr>
          <p:cNvPr id="3" name="Picture 1" descr="AgeStructuredTalk_files/figure-pptx/weight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52600" y="1600200"/>
            <a:ext cx="56515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592190-0EBF-EEA6-7F15-7968968A0851}"/>
              </a:ext>
            </a:extLst>
          </p:cNvPr>
          <p:cNvSpPr txBox="1"/>
          <p:nvPr/>
        </p:nvSpPr>
        <p:spPr>
          <a:xfrm>
            <a:off x="914400" y="6118469"/>
            <a:ext cx="5750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Usually input as fixed parameters, often sex specific.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53"/>
            <a:ext cx="8229600" cy="1143000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Fraction mature by age</a:t>
            </a:r>
            <a:endParaRPr dirty="0"/>
          </a:p>
        </p:txBody>
      </p:sp>
      <p:pic>
        <p:nvPicPr>
          <p:cNvPr id="3" name="Picture 1" descr="AgeStructuredTalk_files/figure-pptx/maturity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14753" y="1142292"/>
            <a:ext cx="6119447" cy="489555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43F558-6A99-3DA3-7056-366A28B7DF71}"/>
              </a:ext>
            </a:extLst>
          </p:cNvPr>
          <p:cNvSpPr txBox="1"/>
          <p:nvPr/>
        </p:nvSpPr>
        <p:spPr>
          <a:xfrm>
            <a:off x="914400" y="6118469"/>
            <a:ext cx="5750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Usually input as fixed parameters, often sex specific.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547" y="-61423"/>
            <a:ext cx="8229600" cy="114300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Selectivity of fishing</a:t>
            </a:r>
          </a:p>
        </p:txBody>
      </p:sp>
      <p:pic>
        <p:nvPicPr>
          <p:cNvPr id="3" name="Picture 1" descr="AgeStructuredTalk_files/figure-pptx/selectivity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5801" y="1078647"/>
            <a:ext cx="4495800" cy="359664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E900C7-3856-EF3C-8146-1E427758BA9A}"/>
              </a:ext>
            </a:extLst>
          </p:cNvPr>
          <p:cNvSpPr txBox="1"/>
          <p:nvPr/>
        </p:nvSpPr>
        <p:spPr>
          <a:xfrm>
            <a:off x="422962" y="4808023"/>
            <a:ext cx="7467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Estimated within the model, for each individual fleet or survey that has either catches or an abundance index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Fleets with no data may be grouped with other fleets that use similar gear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Changes in selectivity over time (e.g. changes in fishing methods) can be handled with time-blocks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Decline in abundance with fishing</a:t>
            </a:r>
          </a:p>
        </p:txBody>
      </p:sp>
      <p:pic>
        <p:nvPicPr>
          <p:cNvPr id="3" name="Picture 1" descr="AgeStructuredTalk_files/figure-pptx/fising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09551"/>
            <a:ext cx="56515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87B269-CB40-4846-A668-224FC864B9DD}"/>
                  </a:ext>
                </a:extLst>
              </p:cNvPr>
              <p:cNvSpPr txBox="1"/>
              <p:nvPr/>
            </p:nvSpPr>
            <p:spPr>
              <a:xfrm>
                <a:off x="3395785" y="1231920"/>
                <a:ext cx="4332276" cy="477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+1,  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87B269-CB40-4846-A668-224FC864B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5785" y="1231920"/>
                <a:ext cx="4332276" cy="4776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A9D1FD5-664A-41FE-81C8-83CA98D1E7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386" y="2832705"/>
            <a:ext cx="2876136" cy="23023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14F01B-3533-4A00-B3E8-17D9F61B38B8}"/>
              </a:ext>
            </a:extLst>
          </p:cNvPr>
          <p:cNvSpPr txBox="1"/>
          <p:nvPr/>
        </p:nvSpPr>
        <p:spPr>
          <a:xfrm>
            <a:off x="6966263" y="2463373"/>
            <a:ext cx="133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A98F85-7806-456E-B4CA-C8784865DD9A}"/>
              </a:ext>
            </a:extLst>
          </p:cNvPr>
          <p:cNvSpPr txBox="1"/>
          <p:nvPr/>
        </p:nvSpPr>
        <p:spPr>
          <a:xfrm rot="16200000">
            <a:off x="5676118" y="3569446"/>
            <a:ext cx="1185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4081"/>
            <a:ext cx="8229600" cy="487362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Catch in each year. Baranov catch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D5CB18-C4E0-4CCB-A5A0-F781D4AE8CA6}"/>
                  </a:ext>
                </a:extLst>
              </p:cNvPr>
              <p:cNvSpPr txBox="1"/>
              <p:nvPr/>
            </p:nvSpPr>
            <p:spPr>
              <a:xfrm>
                <a:off x="1270258" y="1600173"/>
                <a:ext cx="6365496" cy="6874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−(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) 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D5CB18-C4E0-4CCB-A5A0-F781D4AE8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258" y="1600173"/>
                <a:ext cx="6365496" cy="6874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ight Brace 2">
            <a:extLst>
              <a:ext uri="{FF2B5EF4-FFF2-40B4-BE49-F238E27FC236}">
                <a16:creationId xmlns:a16="http://schemas.microsoft.com/office/drawing/2014/main" id="{6BB9E8B0-852C-46A4-B62A-6A55CFAFF11D}"/>
              </a:ext>
            </a:extLst>
          </p:cNvPr>
          <p:cNvSpPr/>
          <p:nvPr/>
        </p:nvSpPr>
        <p:spPr>
          <a:xfrm rot="5400000">
            <a:off x="5685235" y="1569492"/>
            <a:ext cx="307623" cy="154553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81C291-8305-4102-9701-589A5A80F3B3}"/>
              </a:ext>
            </a:extLst>
          </p:cNvPr>
          <p:cNvSpPr txBox="1"/>
          <p:nvPr/>
        </p:nvSpPr>
        <p:spPr>
          <a:xfrm>
            <a:off x="5337907" y="2461799"/>
            <a:ext cx="1760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Fraction that live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2B9C2F-D5B2-4FD8-ADA9-88C1C949F4CB}"/>
              </a:ext>
            </a:extLst>
          </p:cNvPr>
          <p:cNvSpPr txBox="1"/>
          <p:nvPr/>
        </p:nvSpPr>
        <p:spPr>
          <a:xfrm>
            <a:off x="4364536" y="3417242"/>
            <a:ext cx="1727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Fraction that die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45F4A625-F135-4EAB-A538-ABF4D3550C9E}"/>
              </a:ext>
            </a:extLst>
          </p:cNvPr>
          <p:cNvSpPr/>
          <p:nvPr/>
        </p:nvSpPr>
        <p:spPr>
          <a:xfrm rot="5400000">
            <a:off x="5359590" y="2019184"/>
            <a:ext cx="422031" cy="223519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2F1238-7610-4FEB-8849-12C391C0C1A6}"/>
              </a:ext>
            </a:extLst>
          </p:cNvPr>
          <p:cNvSpPr txBox="1"/>
          <p:nvPr/>
        </p:nvSpPr>
        <p:spPr>
          <a:xfrm>
            <a:off x="1642995" y="2704447"/>
            <a:ext cx="21039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Fraction of mortality</a:t>
            </a:r>
          </a:p>
          <a:p>
            <a:r>
              <a:rPr lang="en-US" dirty="0"/>
              <a:t> that is fishing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D2E59420-66C0-4DEC-834B-0FB1DDFE4788}"/>
              </a:ext>
            </a:extLst>
          </p:cNvPr>
          <p:cNvSpPr/>
          <p:nvPr/>
        </p:nvSpPr>
        <p:spPr>
          <a:xfrm rot="5400000">
            <a:off x="2882655" y="1952949"/>
            <a:ext cx="307241" cy="119575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C2250A-4B01-C0E8-B4DB-9CA5EC379938}"/>
              </a:ext>
            </a:extLst>
          </p:cNvPr>
          <p:cNvSpPr txBox="1"/>
          <p:nvPr/>
        </p:nvSpPr>
        <p:spPr>
          <a:xfrm>
            <a:off x="1143000" y="4648200"/>
            <a:ext cx="59558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Reported catch at age may be assumed known without error, or may have a likelihood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US" dirty="0"/>
              <a:t>Recruitment predicted from spawning stock biomass (e.g. </a:t>
            </a:r>
            <a:r>
              <a:rPr lang="en-US" dirty="0" err="1"/>
              <a:t>Beverton</a:t>
            </a:r>
            <a:r>
              <a:rPr lang="en-US" dirty="0"/>
              <a:t> Holt)</a:t>
            </a:r>
            <a:endParaRPr dirty="0"/>
          </a:p>
        </p:txBody>
      </p:sp>
      <p:pic>
        <p:nvPicPr>
          <p:cNvPr id="3" name="Picture 1" descr="AgeStructuredTalk_files/figure-pptx/SRR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8600" y="2442039"/>
            <a:ext cx="4953000" cy="396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0982BB4-84DD-4FAB-8319-3679396A5ED6}"/>
                  </a:ext>
                </a:extLst>
              </p:cNvPr>
              <p:cNvSpPr txBox="1"/>
              <p:nvPr/>
            </p:nvSpPr>
            <p:spPr>
              <a:xfrm>
                <a:off x="1468314" y="1450689"/>
                <a:ext cx="3412344" cy="9481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sSup>
                        <m:sSupPr>
                          <m:ctrlPr>
                            <a:rPr lang="en-US" sz="2800" b="0" i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0982BB4-84DD-4FAB-8319-3679396A5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314" y="1450689"/>
                <a:ext cx="3412344" cy="9481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2307AD0-CB8A-4EA4-A7F7-1C0FC14F9935}"/>
              </a:ext>
            </a:extLst>
          </p:cNvPr>
          <p:cNvSpPr txBox="1"/>
          <p:nvPr/>
        </p:nvSpPr>
        <p:spPr>
          <a:xfrm>
            <a:off x="5638800" y="2447901"/>
            <a:ext cx="3505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Recruitment model is where dependence exists in SCAA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 scale recruitment deviates are estimated every year, sometimes with autocorrelation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5B30B-6FFC-91B1-DC7D-4F4003271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E3FAC-E2C1-ED7A-9F82-F0B3B96FA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US" dirty="0"/>
              <a:t>How to fit the model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64580-CC81-278F-7B8E-EA44A372D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9" y="1322299"/>
            <a:ext cx="8311662" cy="5167923"/>
          </a:xfrm>
        </p:spPr>
        <p:txBody>
          <a:bodyPr>
            <a:normAutofit lnSpcReduction="10000"/>
          </a:bodyPr>
          <a:lstStyle/>
          <a:p>
            <a:pPr lvl="1"/>
            <a:r>
              <a:rPr lang="en-US" dirty="0"/>
              <a:t>Data available</a:t>
            </a:r>
          </a:p>
          <a:p>
            <a:pPr lvl="2"/>
            <a:r>
              <a:rPr dirty="0"/>
              <a:t>Length or age frequency distributions</a:t>
            </a:r>
          </a:p>
          <a:p>
            <a:pPr lvl="2"/>
            <a:r>
              <a:rPr dirty="0"/>
              <a:t>Catch at age data</a:t>
            </a:r>
          </a:p>
          <a:p>
            <a:pPr lvl="2"/>
            <a:r>
              <a:rPr dirty="0"/>
              <a:t>abundance trend data (CPUE or survey) </a:t>
            </a:r>
            <a:endParaRPr lang="en-US" dirty="0"/>
          </a:p>
          <a:p>
            <a:pPr lvl="1"/>
            <a:r>
              <a:rPr lang="en-US" dirty="0"/>
              <a:t>Use estimated parameters to predict catch, length-frequency, indices, etc.</a:t>
            </a:r>
          </a:p>
          <a:p>
            <a:pPr lvl="1"/>
            <a:r>
              <a:rPr lang="en-US" dirty="0"/>
              <a:t>Calculate the sum of the log-likelihood of all data, with appropriate weighting of each element</a:t>
            </a:r>
          </a:p>
          <a:p>
            <a:pPr lvl="1"/>
            <a:r>
              <a:rPr lang="en-US" dirty="0"/>
              <a:t>Best estimates of parameters and their uncertainty from total log likelihood or Bayesian methods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96E0F9-DC88-8E18-DDAB-7643264EF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9407" y="1379756"/>
            <a:ext cx="2144593" cy="17167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77B770-EECE-E05C-2E34-F9AE80CB4C6B}"/>
              </a:ext>
            </a:extLst>
          </p:cNvPr>
          <p:cNvSpPr txBox="1"/>
          <p:nvPr/>
        </p:nvSpPr>
        <p:spPr>
          <a:xfrm>
            <a:off x="7255759" y="1139587"/>
            <a:ext cx="133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51E347-D6B5-670F-D501-F9D048D8AE4B}"/>
              </a:ext>
            </a:extLst>
          </p:cNvPr>
          <p:cNvSpPr txBox="1"/>
          <p:nvPr/>
        </p:nvSpPr>
        <p:spPr>
          <a:xfrm rot="16200000">
            <a:off x="6293895" y="1732189"/>
            <a:ext cx="1185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Year</a:t>
            </a:r>
          </a:p>
        </p:txBody>
      </p:sp>
    </p:spTree>
    <p:extLst>
      <p:ext uri="{BB962C8B-B14F-4D97-AF65-F5344CB8AC3E}">
        <p14:creationId xmlns:p14="http://schemas.microsoft.com/office/powerpoint/2010/main" val="3222313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DD25E-A77E-C97A-6B9B-A7B8E128B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Predicting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3F9215E-8FB6-660F-4221-E052D3C4DD7F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63308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800" b="0" dirty="0"/>
                  <a:t>Catches incorporate estimated selectivity of the corresponding fleet (f)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−(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) 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  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:r>
                  <a:rPr lang="en-US" sz="2800" dirty="0"/>
                  <a:t>Indices also incorporate selectivity, </a:t>
                </a:r>
                <a:r>
                  <a:rPr lang="en-US" sz="2800" dirty="0" err="1"/>
                  <a:t>e.g</a:t>
                </a:r>
                <a:r>
                  <a:rPr lang="en-US" sz="2800" dirty="0"/>
                  <a:t> for a biomass index for fleet f, the index is proportional to the selected biomass</a:t>
                </a:r>
              </a:p>
              <a:p>
                <a:endParaRPr lang="en-US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𝑠𝑒𝑙𝑒𝑐𝑡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𝑠𝑒𝑙𝑒𝑐𝑡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𝑔𝑒𝑠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nary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dirty="0"/>
              </a:p>
              <a:p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3F9215E-8FB6-660F-4221-E052D3C4DD7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6330836"/>
              </a:xfrm>
              <a:prstGeom prst="rect">
                <a:avLst/>
              </a:prstGeom>
              <a:blipFill>
                <a:blip r:embed="rId2"/>
                <a:stretch>
                  <a:fillRect l="-2444" t="-1734"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4905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23406-22CC-0EDD-75B6-B494D6557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Predicted numbers at length or age in a sample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2B576-2D1D-AA4A-38B0-24A822078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there is a sample of fish at age and length in from a fleet or survey, the expected numbers in each bin are a function of selectivity, and numbers at age and length</a:t>
            </a:r>
          </a:p>
          <a:p>
            <a:r>
              <a:rPr lang="en-US" dirty="0"/>
              <a:t>We know the proportion at each age in each age length, from an age x length key, or from the growth curve and its variability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031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36786-529B-7C41-8991-A46B7D081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Length curve with variability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9888CB4-F5C5-D682-ABB2-C0976872047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005" y="1143000"/>
            <a:ext cx="7924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75487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7E39D-E5E7-8F93-3DFC-3A8529B52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Likelihood of length or age frequencies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C73721-540E-1C4E-C74B-61264A49D8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length bins follow a multinomial distribution, then the log likelihood for the numbers at age a (or length bin) in year t in fleet f is: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𝑚𝑢𝑙𝑡𝑖𝑛𝑜𝑚𝑖𝑎𝑙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Sum over all bins, fleets and years. </a:t>
                </a:r>
              </a:p>
              <a:p>
                <a:r>
                  <a:rPr lang="en-US" dirty="0"/>
                  <a:t>Expected proportion in year length is generated from numbers, selectivity of fleet, and variability in growth curve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C73721-540E-1C4E-C74B-61264A49D8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30" t="-1544" r="-2148" b="-57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900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52834-D22A-0B8A-38DD-EAA8D389E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09B1EC-8223-751A-3A39-832EA41AD5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369" y="762000"/>
                <a:ext cx="8921262" cy="513556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𝐿𝐿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𝑐𝑎𝑡𝑐ℎ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9"/>
                              </m:r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m:rPr>
                                <m:brk m:alnAt="9"/>
                              </m:r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  <m:sup/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𝑙𝑜𝑔𝑛𝑜𝑟𝑚𝑎𝑙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̂"/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acc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3200" b="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𝐿𝐿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  <m:sup/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𝑙𝑜𝑔𝑛𝑜𝑟𝑚𝑎𝑙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̂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acc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𝐿𝐿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𝑙𝑒𝑛𝑔𝑡ℎ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  <m:sup/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𝑙𝑜𝑔𝑚𝑢𝑙𝑡𝑖𝑛𝑜𝑚𝑖𝑎𝑙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̂"/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acc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Total log likelihood is weighted average of the sum of the likelihoods, where weights sum to 1.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𝑇𝑜𝑡𝑎𝑙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𝑐𝑎𝑡𝑐ℎ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sub>
                    </m:sSub>
                  </m:oMath>
                </a14:m>
                <a:r>
                  <a:rPr lang="en-US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𝐿𝐿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𝑙𝑒𝑛𝑔𝑡ℎ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Weights based on relative certainty of data, and number of data points</a:t>
                </a:r>
              </a:p>
              <a:p>
                <a:r>
                  <a:rPr lang="en-US" dirty="0"/>
                  <a:t>Within each data type, individual points may also have input standard errors to weight by uncertainty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09B1EC-8223-751A-3A39-832EA41AD5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369" y="762000"/>
                <a:ext cx="8921262" cy="5135563"/>
              </a:xfrm>
              <a:blipFill>
                <a:blip r:embed="rId2"/>
                <a:stretch>
                  <a:fillRect l="-1366" r="-615" b="-218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6078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8442E-D931-3623-D45B-1EFEEB1B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2BA23-54C3-B89F-F5B8-A69E3948D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Finalize data and inputs </a:t>
            </a:r>
            <a:r>
              <a:rPr lang="en-US" dirty="0">
                <a:sym typeface="Wingdings" panose="05000000000000000000" pitchFamily="2" charset="2"/>
              </a:rPr>
              <a:t></a:t>
            </a:r>
          </a:p>
          <a:p>
            <a:pPr marL="0" indent="0">
              <a:buNone/>
            </a:pPr>
            <a:r>
              <a:rPr lang="en-US" dirty="0"/>
              <a:t>develop plausible base case(s) (1-3) </a:t>
            </a:r>
            <a:r>
              <a:rPr lang="en-US" dirty="0">
                <a:sym typeface="Wingdings" panose="05000000000000000000" pitchFamily="2" charset="2"/>
              </a:rPr>
              <a:t> </a:t>
            </a:r>
          </a:p>
          <a:p>
            <a:pPr marL="0" indent="0">
              <a:buNone/>
            </a:pPr>
            <a:r>
              <a:rPr lang="en-US" dirty="0"/>
              <a:t>check for fit and diagnostics </a:t>
            </a:r>
            <a:r>
              <a:rPr lang="en-US" dirty="0">
                <a:sym typeface="Wingdings" panose="05000000000000000000" pitchFamily="2" charset="2"/>
              </a:rPr>
              <a:t></a:t>
            </a:r>
          </a:p>
          <a:p>
            <a:pPr marL="0" indent="0">
              <a:buNone/>
            </a:pPr>
            <a:r>
              <a:rPr lang="en-US" dirty="0"/>
              <a:t>run sensitivity analyses on uncertainties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produce current status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run projections to get management advice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Often fit model at mode, then use MCMC or likelihood profile to get uncertainty</a:t>
            </a:r>
          </a:p>
        </p:txBody>
      </p:sp>
    </p:spTree>
    <p:extLst>
      <p:ext uri="{BB962C8B-B14F-4D97-AF65-F5344CB8AC3E}">
        <p14:creationId xmlns:p14="http://schemas.microsoft.com/office/powerpoint/2010/main" val="6582913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AD46C-F648-C380-56A0-A4CF2B463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Fitting and diagnostics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71EB1-A121-59F1-E59D-E2849CC1A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SCAA models require the same diagnostics as production models, plus others</a:t>
            </a:r>
          </a:p>
          <a:p>
            <a:r>
              <a:rPr lang="en-US" dirty="0"/>
              <a:t>jittering starting guesses to be sure of convergence (may have &gt;100 parameters)</a:t>
            </a:r>
          </a:p>
          <a:p>
            <a:r>
              <a:rPr lang="en-US" dirty="0"/>
              <a:t>Likelihood profiles by dataset to see which data influence which parameters</a:t>
            </a:r>
          </a:p>
          <a:p>
            <a:r>
              <a:rPr lang="en-US" dirty="0"/>
              <a:t>Hindcast cross-validation, retrospective analysis, residual trends, etc. </a:t>
            </a:r>
          </a:p>
          <a:p>
            <a:pPr lvl="1"/>
            <a:r>
              <a:rPr lang="en-US" dirty="0"/>
              <a:t>Paper by Carvahlo et al on best practices</a:t>
            </a:r>
          </a:p>
        </p:txBody>
      </p:sp>
    </p:spTree>
    <p:extLst>
      <p:ext uri="{BB962C8B-B14F-4D97-AF65-F5344CB8AC3E}">
        <p14:creationId xmlns:p14="http://schemas.microsoft.com/office/powerpoint/2010/main" val="36414668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57484-4592-F64F-F996-3B5157C63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54721-FAD6-1EC6-4A88-2E7600261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03BE6-0A85-4263-E34F-EBEAC2704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SCAA models automatically calculate all the reference points</a:t>
            </a:r>
          </a:p>
          <a:p>
            <a:r>
              <a:rPr lang="en-US" dirty="0"/>
              <a:t>Fishing mortality rate reference points </a:t>
            </a:r>
            <a:r>
              <a:rPr lang="en-US" dirty="0" err="1"/>
              <a:t>Fmsy</a:t>
            </a:r>
            <a:r>
              <a:rPr lang="en-US" dirty="0"/>
              <a:t>, F</a:t>
            </a:r>
            <a:r>
              <a:rPr lang="en-US" baseline="-25000" dirty="0"/>
              <a:t>0.1 </a:t>
            </a:r>
            <a:r>
              <a:rPr lang="en-US" dirty="0"/>
              <a:t> from YPR, F</a:t>
            </a:r>
            <a:r>
              <a:rPr lang="en-US" baseline="-25000" dirty="0"/>
              <a:t>30% </a:t>
            </a:r>
            <a:r>
              <a:rPr lang="en-US" dirty="0"/>
              <a:t>from SSBPR</a:t>
            </a:r>
          </a:p>
          <a:p>
            <a:r>
              <a:rPr lang="en-US" dirty="0"/>
              <a:t>Biomass reference points SPR, </a:t>
            </a:r>
            <a:r>
              <a:rPr lang="en-US" dirty="0" err="1"/>
              <a:t>SSBmsy</a:t>
            </a:r>
            <a:r>
              <a:rPr lang="en-US" dirty="0"/>
              <a:t>, etc. </a:t>
            </a:r>
          </a:p>
          <a:p>
            <a:r>
              <a:rPr lang="en-US" dirty="0"/>
              <a:t>Reference points are generally calculated for spawning stock biomass, so not the same as production models</a:t>
            </a:r>
          </a:p>
          <a:p>
            <a:r>
              <a:rPr lang="en-US" dirty="0"/>
              <a:t>Calculate current status relative to reference points with uncertainty</a:t>
            </a:r>
          </a:p>
          <a:p>
            <a:r>
              <a:rPr lang="en-US" dirty="0"/>
              <a:t>Projections of future population under proposed levels of fishing with uncertainty</a:t>
            </a:r>
          </a:p>
          <a:p>
            <a:pPr lvl="1"/>
            <a:r>
              <a:rPr lang="en-US" dirty="0"/>
              <a:t>Size based management, quotas, etc.</a:t>
            </a:r>
          </a:p>
        </p:txBody>
      </p:sp>
    </p:spTree>
    <p:extLst>
      <p:ext uri="{BB962C8B-B14F-4D97-AF65-F5344CB8AC3E}">
        <p14:creationId xmlns:p14="http://schemas.microsoft.com/office/powerpoint/2010/main" val="30266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6B0EF-8280-4268-8352-E9696A792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Swordfish status 2015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F11ACE-058A-4B9B-8A4D-FAAF73BFF2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146" y="1417638"/>
            <a:ext cx="6378022" cy="510820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23C344-F274-49E7-95AA-EF619820411D}"/>
              </a:ext>
            </a:extLst>
          </p:cNvPr>
          <p:cNvSpPr txBox="1"/>
          <p:nvPr/>
        </p:nvSpPr>
        <p:spPr>
          <a:xfrm>
            <a:off x="6846277" y="2032000"/>
            <a:ext cx="16063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Production model in orange, age structured model (SS3) in blue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675028-C5F4-49B3-8B4F-D9C4D14D382B}"/>
              </a:ext>
            </a:extLst>
          </p:cNvPr>
          <p:cNvSpPr txBox="1"/>
          <p:nvPr/>
        </p:nvSpPr>
        <p:spPr>
          <a:xfrm>
            <a:off x="6541477" y="6408615"/>
            <a:ext cx="2602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ICCAT 2019</a:t>
            </a:r>
          </a:p>
        </p:txBody>
      </p:sp>
    </p:spTree>
    <p:extLst>
      <p:ext uri="{BB962C8B-B14F-4D97-AF65-F5344CB8AC3E}">
        <p14:creationId xmlns:p14="http://schemas.microsoft.com/office/powerpoint/2010/main" val="35968600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CFAD1-84C8-5B1A-2A78-79227AA22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for SCAA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9FFD4-30CC-6030-98E6-C3228D0F8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US, Stock Synthesis 3 (SS3) is widely used</a:t>
            </a:r>
          </a:p>
          <a:p>
            <a:r>
              <a:rPr lang="en-US" dirty="0">
                <a:hlinkClick r:id="rId2"/>
              </a:rPr>
              <a:t>https://nmfs-ost.github.io/ss3-website/</a:t>
            </a:r>
            <a:endParaRPr lang="en-US" dirty="0"/>
          </a:p>
          <a:p>
            <a:r>
              <a:rPr lang="en-US" dirty="0"/>
              <a:t>There is a simple SCAA model in the FLR family of models</a:t>
            </a:r>
          </a:p>
          <a:p>
            <a:r>
              <a:rPr lang="en-US" dirty="0">
                <a:hlinkClick r:id="rId3"/>
              </a:rPr>
              <a:t>https://flrproject.org/</a:t>
            </a:r>
            <a:endParaRPr lang="en-US" dirty="0"/>
          </a:p>
          <a:p>
            <a:r>
              <a:rPr lang="en-US" dirty="0">
                <a:hlinkClick r:id="rId4"/>
              </a:rPr>
              <a:t>http://flrproject.org/FLa4a/</a:t>
            </a:r>
            <a:r>
              <a:rPr lang="en-US" dirty="0"/>
              <a:t> </a:t>
            </a:r>
          </a:p>
          <a:p>
            <a:r>
              <a:rPr lang="en-US" dirty="0"/>
              <a:t>Models designed for specific uses are often written in TMB or ADMB</a:t>
            </a:r>
          </a:p>
        </p:txBody>
      </p:sp>
    </p:spTree>
    <p:extLst>
      <p:ext uri="{BB962C8B-B14F-4D97-AF65-F5344CB8AC3E}">
        <p14:creationId xmlns:p14="http://schemas.microsoft.com/office/powerpoint/2010/main" val="17400746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174F9-AF4B-93DA-BB6B-BFAB2FA22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SS3</a:t>
            </a:r>
          </a:p>
        </p:txBody>
      </p:sp>
      <p:pic>
        <p:nvPicPr>
          <p:cNvPr id="1026" name="Picture 2" descr="Image of a map showing where Stock Synthesis is used around the world and for which species.">
            <a:extLst>
              <a:ext uri="{FF2B5EF4-FFF2-40B4-BE49-F238E27FC236}">
                <a16:creationId xmlns:a16="http://schemas.microsoft.com/office/drawing/2014/main" id="{9417C1C8-0EE6-0D78-AED3-C3B635CA6C4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865" y="990600"/>
            <a:ext cx="7926270" cy="513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C9F2AF-490F-5197-B8C3-F375652E13FB}"/>
              </a:ext>
            </a:extLst>
          </p:cNvPr>
          <p:cNvSpPr txBox="1"/>
          <p:nvPr/>
        </p:nvSpPr>
        <p:spPr>
          <a:xfrm>
            <a:off x="4724400" y="6354763"/>
            <a:ext cx="4044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https://nmfs-ost.github.io/ss3-website/</a:t>
            </a:r>
          </a:p>
        </p:txBody>
      </p:sp>
    </p:spTree>
    <p:extLst>
      <p:ext uri="{BB962C8B-B14F-4D97-AF65-F5344CB8AC3E}">
        <p14:creationId xmlns:p14="http://schemas.microsoft.com/office/powerpoint/2010/main" val="14866953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168F1-62D6-1D20-6B90-EFCE53500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using r4ss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FA211-8CD6-12F5-94B6-DD7CFEE61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https://nmfs-ost.github.io/ss3-website/</a:t>
            </a:r>
            <a:endParaRPr lang="en-US" dirty="0"/>
          </a:p>
          <a:p>
            <a:r>
              <a:rPr lang="en-US" dirty="0">
                <a:hlinkClick r:id="rId3"/>
              </a:rPr>
              <a:t>https://r4ss.github.io/r4ss/BigSkate/_SS_output_Pars.html</a:t>
            </a:r>
            <a:endParaRPr lang="en-US" dirty="0"/>
          </a:p>
          <a:p>
            <a:r>
              <a:rPr lang="en-US" dirty="0"/>
              <a:t>Shortfin mako shark 2019 </a:t>
            </a:r>
            <a:r>
              <a:rPr lang="en-US" dirty="0">
                <a:hlinkClick r:id="rId4"/>
              </a:rPr>
              <a:t>https://www.iccat.int/en/assess.html</a:t>
            </a:r>
            <a:endParaRPr lang="en-US" dirty="0"/>
          </a:p>
          <a:p>
            <a:r>
              <a:rPr lang="en-US" dirty="0">
                <a:hlinkClick r:id="rId5"/>
              </a:rPr>
              <a:t>https://www.iccat.int/Documents/SCRS/ExecSum/SMA_ENG.pdf</a:t>
            </a:r>
            <a:endParaRPr lang="en-US" dirty="0"/>
          </a:p>
          <a:p>
            <a:r>
              <a:rPr lang="en-US" dirty="0">
                <a:hlinkClick r:id="rId6"/>
              </a:rPr>
              <a:t>https://www.iccat.int/Documents/SCRS/DetRep/SMA_SA_ENG.pdf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97319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C6CF4-1CA6-059F-6DDC-C092B824A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Shortfin Mako North Atlantic 2017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4F4D8-1FCF-BE3D-0FD3-34529715F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figures run from r4ss in R</a:t>
            </a:r>
          </a:p>
        </p:txBody>
      </p:sp>
    </p:spTree>
    <p:extLst>
      <p:ext uri="{BB962C8B-B14F-4D97-AF65-F5344CB8AC3E}">
        <p14:creationId xmlns:p14="http://schemas.microsoft.com/office/powerpoint/2010/main" val="1323340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35616-ECE2-FCDC-F57F-B77F99CCF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EF8FF-CB47-3314-B518-9FA9020B7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https://nmfs-ost.github.io/ss3diags/</a:t>
            </a:r>
            <a:endParaRPr lang="en-US" dirty="0"/>
          </a:p>
          <a:p>
            <a:r>
              <a:rPr lang="en-US" dirty="0"/>
              <a:t>Carvalho et al. 2021 used North Atlantic Mako as an example to show the  diagnostics</a:t>
            </a:r>
          </a:p>
          <a:p>
            <a:pPr marL="0" indent="0">
              <a:buNone/>
            </a:pPr>
            <a:r>
              <a:rPr lang="en-US" dirty="0"/>
              <a:t>1. Jitter </a:t>
            </a:r>
          </a:p>
          <a:p>
            <a:pPr marL="0" indent="0">
              <a:buNone/>
            </a:pPr>
            <a:r>
              <a:rPr lang="en-US" dirty="0"/>
              <a:t>2. Runs test of CPUE an length</a:t>
            </a:r>
          </a:p>
          <a:p>
            <a:pPr marL="0" indent="0">
              <a:buNone/>
            </a:pPr>
            <a:r>
              <a:rPr lang="en-US" dirty="0"/>
              <a:t>2. Joint residual plots and RMSE </a:t>
            </a:r>
          </a:p>
          <a:p>
            <a:pPr marL="0" indent="0">
              <a:buNone/>
            </a:pPr>
            <a:r>
              <a:rPr lang="en-US" dirty="0"/>
              <a:t>4. Log-likelihood component profiles for R0</a:t>
            </a:r>
          </a:p>
          <a:p>
            <a:pPr marL="0" indent="0">
              <a:buNone/>
            </a:pPr>
            <a:r>
              <a:rPr lang="en-US" dirty="0"/>
              <a:t>5. ASPM </a:t>
            </a:r>
          </a:p>
          <a:p>
            <a:pPr marL="0" indent="0">
              <a:buNone/>
            </a:pPr>
            <a:r>
              <a:rPr lang="en-US" dirty="0"/>
              <a:t>6. Retrospective patterns and Mohn’s Rho test.</a:t>
            </a:r>
          </a:p>
          <a:p>
            <a:pPr marL="0" indent="0">
              <a:buNone/>
            </a:pPr>
            <a:r>
              <a:rPr lang="en-US" dirty="0"/>
              <a:t>7. Hindcasting cross validation</a:t>
            </a:r>
          </a:p>
        </p:txBody>
      </p:sp>
    </p:spTree>
    <p:extLst>
      <p:ext uri="{BB962C8B-B14F-4D97-AF65-F5344CB8AC3E}">
        <p14:creationId xmlns:p14="http://schemas.microsoft.com/office/powerpoint/2010/main" val="19573796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2D7FA-33D5-C004-137C-E93245EEE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762000"/>
            <a:ext cx="3124200" cy="487362"/>
          </a:xfrm>
        </p:spPr>
        <p:txBody>
          <a:bodyPr/>
          <a:lstStyle/>
          <a:p>
            <a:r>
              <a:rPr lang="en-US" dirty="0"/>
              <a:t>Diagnostic workflow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8C7310-76FE-6CFC-282A-ADDEB944CA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914400" y="275526"/>
            <a:ext cx="4286732" cy="6201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CAE2EA-C808-3A05-C177-4DBC049FA797}"/>
              </a:ext>
            </a:extLst>
          </p:cNvPr>
          <p:cNvSpPr txBox="1"/>
          <p:nvPr/>
        </p:nvSpPr>
        <p:spPr>
          <a:xfrm>
            <a:off x="6400800" y="60198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Carvalho et al. 2021</a:t>
            </a:r>
          </a:p>
        </p:txBody>
      </p:sp>
    </p:spTree>
    <p:extLst>
      <p:ext uri="{BB962C8B-B14F-4D97-AF65-F5344CB8AC3E}">
        <p14:creationId xmlns:p14="http://schemas.microsoft.com/office/powerpoint/2010/main" val="15701610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5DDF5-7787-C551-403D-B76331706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28636-8CE7-5B44-C200-E3DA62EBD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SCAA models converge very badly, because they have many parameters and complex correlation. </a:t>
            </a:r>
          </a:p>
          <a:p>
            <a:r>
              <a:rPr lang="en-US" dirty="0"/>
              <a:t>Check that the Hessian is positive definite and will invert</a:t>
            </a:r>
          </a:p>
          <a:p>
            <a:r>
              <a:rPr lang="en-US" dirty="0"/>
              <a:t>Check that no parameters have very high variance </a:t>
            </a:r>
          </a:p>
          <a:p>
            <a:r>
              <a:rPr lang="en-US" dirty="0"/>
              <a:t>“Jitter” starting parameters to make sure all converge to the same solution</a:t>
            </a:r>
          </a:p>
        </p:txBody>
      </p:sp>
    </p:spTree>
    <p:extLst>
      <p:ext uri="{BB962C8B-B14F-4D97-AF65-F5344CB8AC3E}">
        <p14:creationId xmlns:p14="http://schemas.microsoft.com/office/powerpoint/2010/main" val="26216819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E65EF-41D2-C566-54A7-6284EA2B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7027" y="300520"/>
            <a:ext cx="8229600" cy="487362"/>
          </a:xfrm>
        </p:spPr>
        <p:txBody>
          <a:bodyPr/>
          <a:lstStyle/>
          <a:p>
            <a:r>
              <a:rPr lang="en-US" dirty="0"/>
              <a:t>Jitter diagnostic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569C13-9299-0A39-B174-A118B72873A4}"/>
              </a:ext>
            </a:extLst>
          </p:cNvPr>
          <p:cNvSpPr txBox="1"/>
          <p:nvPr/>
        </p:nvSpPr>
        <p:spPr>
          <a:xfrm>
            <a:off x="5181600" y="1905000"/>
            <a:ext cx="35052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ss3diag jitter function automatically adjusts the starting guesses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Each run is one set of starting guesses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 this example, most converge to the same solution, but not all.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solutions with the same answer are more likely to be right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8DAC32F-9D59-79D8-4253-882553B2C4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333500" y="79425"/>
            <a:ext cx="3390899" cy="6423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23FC56-B71A-265E-9A50-3F28EDF82C50}"/>
              </a:ext>
            </a:extLst>
          </p:cNvPr>
          <p:cNvSpPr txBox="1"/>
          <p:nvPr/>
        </p:nvSpPr>
        <p:spPr>
          <a:xfrm>
            <a:off x="6248400" y="639869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Carvalho et al. 2021</a:t>
            </a:r>
          </a:p>
        </p:txBody>
      </p:sp>
    </p:spTree>
    <p:extLst>
      <p:ext uri="{BB962C8B-B14F-4D97-AF65-F5344CB8AC3E}">
        <p14:creationId xmlns:p14="http://schemas.microsoft.com/office/powerpoint/2010/main" val="24787474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094A-A608-A6EC-27AD-87EDC93E8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Goodness of 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2E584-E51F-44F4-A538-BBC3DF70C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14400"/>
            <a:ext cx="5791200" cy="5211763"/>
          </a:xfrm>
        </p:spPr>
        <p:txBody>
          <a:bodyPr/>
          <a:lstStyle/>
          <a:p>
            <a:r>
              <a:rPr lang="en-US" dirty="0"/>
              <a:t>Root mean square error = standard deviation of residuals (smaller is better, but not comparable across data sources).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Runs test. Are there patterns in residuals for any data source? Are any points &gt;3 </a:t>
            </a:r>
            <a:r>
              <a:rPr lang="en-US" dirty="0" err="1"/>
              <a:t>sd</a:t>
            </a:r>
            <a:r>
              <a:rPr lang="en-US" dirty="0"/>
              <a:t> from the predictive value?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F7D595-FE79-EE27-6F48-D8E805466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29000"/>
            <a:ext cx="3387852" cy="144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08A787-94D1-3B38-8216-3176FF0AD15A}"/>
              </a:ext>
            </a:extLst>
          </p:cNvPr>
          <p:cNvSpPr txBox="1"/>
          <p:nvPr/>
        </p:nvSpPr>
        <p:spPr>
          <a:xfrm>
            <a:off x="6248400" y="639869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Carvalho et al. 2021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A9CD18-E61D-A1D4-4C8A-0CD5DA191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914400"/>
            <a:ext cx="2983523" cy="500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3828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0EE68-62C1-3CFB-7F76-0C09E7A8F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0" y="274638"/>
            <a:ext cx="2133600" cy="1249362"/>
          </a:xfrm>
        </p:spPr>
        <p:txBody>
          <a:bodyPr/>
          <a:lstStyle/>
          <a:p>
            <a:r>
              <a:rPr lang="en-US" dirty="0"/>
              <a:t>Mako runs test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3C80A2-95E3-F1DF-422D-2702A02B75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57655" y="243262"/>
            <a:ext cx="5421902" cy="6233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82EA87-312D-C1A0-A7AC-2796F225ED95}"/>
              </a:ext>
            </a:extLst>
          </p:cNvPr>
          <p:cNvSpPr txBox="1"/>
          <p:nvPr/>
        </p:nvSpPr>
        <p:spPr>
          <a:xfrm>
            <a:off x="6553200" y="639869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Carvalho et al. 2021</a:t>
            </a:r>
          </a:p>
        </p:txBody>
      </p:sp>
    </p:spTree>
    <p:extLst>
      <p:ext uri="{BB962C8B-B14F-4D97-AF65-F5344CB8AC3E}">
        <p14:creationId xmlns:p14="http://schemas.microsoft.com/office/powerpoint/2010/main" val="12806223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34327-9D80-21CA-58CF-59B1E6A7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conflict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89F15-7C7D-0B16-3652-722E3F97F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Likelihood profiles showing total –LL and –LL for each data source for key parameters, should be consistent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important is likelihood profile for log(R0), the log of the unfished recruitment 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3A03F0-D18C-1237-A2AE-903CC5AB1B8B}"/>
              </a:ext>
            </a:extLst>
          </p:cNvPr>
          <p:cNvSpPr txBox="1"/>
          <p:nvPr/>
        </p:nvSpPr>
        <p:spPr>
          <a:xfrm>
            <a:off x="6553200" y="639869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Carvalho et al. 2021</a:t>
            </a:r>
          </a:p>
        </p:txBody>
      </p:sp>
    </p:spTree>
    <p:extLst>
      <p:ext uri="{BB962C8B-B14F-4D97-AF65-F5344CB8AC3E}">
        <p14:creationId xmlns:p14="http://schemas.microsoft.com/office/powerpoint/2010/main" val="14131808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A0A47-5A07-1363-344A-BE109331C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274638"/>
            <a:ext cx="5943600" cy="487362"/>
          </a:xfrm>
        </p:spPr>
        <p:txBody>
          <a:bodyPr/>
          <a:lstStyle/>
          <a:p>
            <a:r>
              <a:rPr lang="en-US" dirty="0"/>
              <a:t>Mako likelihood profiles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B7D02F-1E8A-08B8-2B76-E389462022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28600" y="380682"/>
            <a:ext cx="2900282" cy="6096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8F9616-4451-F7F5-3765-CB5784107C39}"/>
              </a:ext>
            </a:extLst>
          </p:cNvPr>
          <p:cNvSpPr txBox="1"/>
          <p:nvPr/>
        </p:nvSpPr>
        <p:spPr>
          <a:xfrm>
            <a:off x="1447800" y="6392008"/>
            <a:ext cx="655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log(R0)          		                        Carvalho et al. 2021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EF5591-1F6C-03B6-E4C6-4BF40C8C7D45}"/>
              </a:ext>
            </a:extLst>
          </p:cNvPr>
          <p:cNvSpPr txBox="1"/>
          <p:nvPr/>
        </p:nvSpPr>
        <p:spPr>
          <a:xfrm>
            <a:off x="4038600" y="1219200"/>
            <a:ext cx="4267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Total –LL should show a strong drop at the MLE estimate.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Look for data sources that have different minima, </a:t>
            </a:r>
            <a:r>
              <a:rPr lang="en-US" sz="2400" dirty="0" err="1"/>
              <a:t>ie</a:t>
            </a:r>
            <a:r>
              <a:rPr lang="en-US" sz="2400" dirty="0"/>
              <a:t> support different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Data sets with flat profiles contribute little to fit</a:t>
            </a:r>
          </a:p>
        </p:txBody>
      </p:sp>
    </p:spTree>
    <p:extLst>
      <p:ext uri="{BB962C8B-B14F-4D97-AF65-F5344CB8AC3E}">
        <p14:creationId xmlns:p14="http://schemas.microsoft.com/office/powerpoint/2010/main" val="42314571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E15F6-F5BD-17AC-19A2-8D7A00AEF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conflict: ASPM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71941-33F5-DA42-95A9-762FA940A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ASPM: Age structure production model is a population dynamics model of intermediate complexity, between a production model and a SCAA. </a:t>
            </a:r>
          </a:p>
          <a:p>
            <a:pPr lvl="1"/>
            <a:r>
              <a:rPr lang="en-US" dirty="0"/>
              <a:t>Basically, a production model with selectivity</a:t>
            </a:r>
          </a:p>
          <a:p>
            <a:r>
              <a:rPr lang="en-US" dirty="0"/>
              <a:t>Run an ASPM with indices and catches, to see if the catches could explain the changes in indices. </a:t>
            </a:r>
          </a:p>
          <a:p>
            <a:r>
              <a:rPr lang="en-US" dirty="0"/>
              <a:t>If ASPM results are very different from the full model, there is a data conflict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1A98B8-DAB5-2B18-FA32-3D22ECDF8228}"/>
              </a:ext>
            </a:extLst>
          </p:cNvPr>
          <p:cNvSpPr txBox="1"/>
          <p:nvPr/>
        </p:nvSpPr>
        <p:spPr>
          <a:xfrm>
            <a:off x="6553200" y="639869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Carvalho et al. 2021</a:t>
            </a:r>
          </a:p>
        </p:txBody>
      </p:sp>
    </p:spTree>
    <p:extLst>
      <p:ext uri="{BB962C8B-B14F-4D97-AF65-F5344CB8AC3E}">
        <p14:creationId xmlns:p14="http://schemas.microsoft.com/office/powerpoint/2010/main" val="42763464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72E79C-4204-6B41-FC3C-8F6BE8C94A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143000" y="228600"/>
            <a:ext cx="2895600" cy="6178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5AA39D-8437-0911-7EF5-4C86DD51F5A7}"/>
              </a:ext>
            </a:extLst>
          </p:cNvPr>
          <p:cNvSpPr txBox="1"/>
          <p:nvPr/>
        </p:nvSpPr>
        <p:spPr>
          <a:xfrm>
            <a:off x="6553200" y="639869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Carvalho et al. 2021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135650-E082-785E-3204-BB1C0E0933E1}"/>
              </a:ext>
            </a:extLst>
          </p:cNvPr>
          <p:cNvSpPr txBox="1"/>
          <p:nvPr/>
        </p:nvSpPr>
        <p:spPr>
          <a:xfrm>
            <a:off x="5029200" y="838200"/>
            <a:ext cx="32004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Full model is SS3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ASPM is a deterministic ASPM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ASPMDev</a:t>
            </a:r>
            <a:r>
              <a:rPr lang="en-US" sz="2000" dirty="0"/>
              <a:t> allows for process error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dirty="0"/>
              <a:t>Results show that the catches and indices are not consistent, unless model allows a pattern in the recruitment deviates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57575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3E977-6B19-E9CF-19E6-644F25D2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Retrospective bias?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553C9E-E906-140B-FF63-B9C10440FB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838200" y="1066800"/>
            <a:ext cx="2931062" cy="5417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AADE1C-F2B0-734E-C09E-DE64CC13CA93}"/>
              </a:ext>
            </a:extLst>
          </p:cNvPr>
          <p:cNvSpPr txBox="1"/>
          <p:nvPr/>
        </p:nvSpPr>
        <p:spPr>
          <a:xfrm>
            <a:off x="6477000" y="639869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Carvalho et al. 2021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25B68E-2C83-1CD0-93A2-2FF7A14B7E7A}"/>
                  </a:ext>
                </a:extLst>
              </p:cNvPr>
              <p:cNvSpPr txBox="1"/>
              <p:nvPr/>
            </p:nvSpPr>
            <p:spPr>
              <a:xfrm>
                <a:off x="4419600" y="1371600"/>
                <a:ext cx="4038600" cy="45317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Hypothesis test called Mohn’s Rho looks for significant retrospective bias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which is the average deviation between the value estimated in one of the h peals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, and the value estimated with all the data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Value should be small (e.g. -0.15 to 0.2)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25B68E-2C83-1CD0-93A2-2FF7A14B7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1371600"/>
                <a:ext cx="4038600" cy="4531753"/>
              </a:xfrm>
              <a:prstGeom prst="rect">
                <a:avLst/>
              </a:prstGeom>
              <a:blipFill>
                <a:blip r:embed="rId3"/>
                <a:stretch>
                  <a:fillRect l="-1207" t="-673"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5F147021-9E4C-FB35-466B-43627F213E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5117" y="2275714"/>
            <a:ext cx="3246379" cy="84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1584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478D3-20AD-0FF4-CD2D-208899622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 skill: hindcast cross validation </a:t>
            </a:r>
            <a:r>
              <a:rPr lang="en-US" b="0" dirty="0" err="1"/>
              <a:t>HCxval</a:t>
            </a:r>
            <a:r>
              <a:rPr lang="en-US" b="0" dirty="0"/>
              <a:t>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5F5630-670A-B833-DBD1-06B7FB6314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Prediction skill is the ability to predict data that was not used to fit the model</a:t>
                </a:r>
              </a:p>
              <a:p>
                <a:r>
                  <a:rPr lang="en-US" dirty="0"/>
                  <a:t>Calculated by predicting forward from models ending 1-5 years earlier. </a:t>
                </a:r>
              </a:p>
              <a:p>
                <a:r>
                  <a:rPr lang="en-US" dirty="0"/>
                  <a:t>Evaluate with plots and Mean Absolute Scaled Error comparing prediction 1 step ahead 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to the value from the full model y</a:t>
                </a:r>
              </a:p>
              <a:p>
                <a:r>
                  <a:rPr lang="en-US" dirty="0"/>
                  <a:t>Value &lt;0.5 has predictive skill, &gt;1 no better than a random walk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5F5630-670A-B833-DBD1-06B7FB6314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1544" r="-2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10A0F50-4902-D09C-F335-A51E211FE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7601" y="4991100"/>
            <a:ext cx="3823853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45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6D749-77C5-3484-7297-7457FF32E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Mako hindcast cross-validation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CAAB3A-E9F9-FEB3-57E9-0DFC3B1345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990600" y="990600"/>
            <a:ext cx="4876800" cy="5547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E6F3D9-A3D2-4F8B-BCE7-ABD655A6B4D6}"/>
              </a:ext>
            </a:extLst>
          </p:cNvPr>
          <p:cNvSpPr txBox="1"/>
          <p:nvPr/>
        </p:nvSpPr>
        <p:spPr>
          <a:xfrm>
            <a:off x="6172200" y="1981200"/>
            <a:ext cx="2362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indices and catches have values between 0.5 and 1.0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So, weak predictive skill, partly due to lack of change between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5364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11A02-69F7-7D51-9A0C-2E964E2F7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Diagnostic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A2055-0A30-621B-F480-050162ADA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ICCAT stock assessment document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9D07F2-DF9D-EC2C-6CCF-7B23D2A18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13920"/>
            <a:ext cx="5391902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0322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6B8F0-11F1-2B36-2D94-EFE62CEFE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Mako status 2015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D2657B-2BDD-A630-6F03-B2ADE8F7EC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95300" y="1371600"/>
            <a:ext cx="5718220" cy="3676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4A1FD4-65F2-1B07-2B3A-CA833A867EB3}"/>
              </a:ext>
            </a:extLst>
          </p:cNvPr>
          <p:cNvSpPr txBox="1"/>
          <p:nvPr/>
        </p:nvSpPr>
        <p:spPr>
          <a:xfrm>
            <a:off x="5407269" y="6095029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www.iccat.int</a:t>
            </a:r>
            <a:r>
              <a:rPr lang="en-US" dirty="0"/>
              <a:t>  Mako executive summary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6AB962-549D-611B-DB7D-27E8DCB07C26}"/>
              </a:ext>
            </a:extLst>
          </p:cNvPr>
          <p:cNvSpPr txBox="1"/>
          <p:nvPr/>
        </p:nvSpPr>
        <p:spPr>
          <a:xfrm>
            <a:off x="6213520" y="1905000"/>
            <a:ext cx="25494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Production model (pink) was much more optimistic than the SS3 model (blue)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8931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F9A14-67FD-CAC8-F333-880262CBA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274638"/>
            <a:ext cx="3124200" cy="1935162"/>
          </a:xfrm>
        </p:spPr>
        <p:txBody>
          <a:bodyPr/>
          <a:lstStyle/>
          <a:p>
            <a:r>
              <a:rPr lang="en-US" dirty="0"/>
              <a:t>Mako projections SS3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EE8F74A-61A0-00B5-3A2B-6FC80F9428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6200" y="152400"/>
            <a:ext cx="5181600" cy="6265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D21C4DE-A4C6-58E6-EE6D-9074F91CCA8B}"/>
              </a:ext>
            </a:extLst>
          </p:cNvPr>
          <p:cNvSpPr txBox="1"/>
          <p:nvPr/>
        </p:nvSpPr>
        <p:spPr>
          <a:xfrm>
            <a:off x="5407269" y="6095029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www.iccat.int</a:t>
            </a:r>
            <a:r>
              <a:rPr lang="en-US" dirty="0"/>
              <a:t>  Mako executive summary</a:t>
            </a:r>
          </a:p>
        </p:txBody>
      </p:sp>
    </p:spTree>
    <p:extLst>
      <p:ext uri="{BB962C8B-B14F-4D97-AF65-F5344CB8AC3E}">
        <p14:creationId xmlns:p14="http://schemas.microsoft.com/office/powerpoint/2010/main" val="304198302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9872</TotalTime>
  <Words>1834</Words>
  <Application>Microsoft Office PowerPoint</Application>
  <PresentationFormat>On-screen Show (4:3)</PresentationFormat>
  <Paragraphs>217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Albertus Extra Bold</vt:lpstr>
      <vt:lpstr>Arial</vt:lpstr>
      <vt:lpstr>Cambria Math</vt:lpstr>
      <vt:lpstr>Wingdings</vt:lpstr>
      <vt:lpstr>Default Design</vt:lpstr>
      <vt:lpstr>Stock assessment 2: Statistical catch at age models</vt:lpstr>
      <vt:lpstr>Age structured models</vt:lpstr>
      <vt:lpstr>Data</vt:lpstr>
      <vt:lpstr>Age structured stock assessment methodology</vt:lpstr>
      <vt:lpstr>Natural Mortality (M)</vt:lpstr>
      <vt:lpstr>Fish Growth (von Bertalanffy)</vt:lpstr>
      <vt:lpstr>Weight as a function of length</vt:lpstr>
      <vt:lpstr>Fraction mature by age</vt:lpstr>
      <vt:lpstr>Selectivity of fishing</vt:lpstr>
      <vt:lpstr>Decline in abundance with fishing</vt:lpstr>
      <vt:lpstr>Catch in each year. Baranov catch equation</vt:lpstr>
      <vt:lpstr>Recruitment predicted from spawning stock biomass (e.g. Beverton Holt)</vt:lpstr>
      <vt:lpstr>How to fit the model</vt:lpstr>
      <vt:lpstr>Predicting data</vt:lpstr>
      <vt:lpstr>Predicted numbers at length or age in a sample</vt:lpstr>
      <vt:lpstr>Length curve with variability</vt:lpstr>
      <vt:lpstr>Likelihood of length or age frequencies</vt:lpstr>
      <vt:lpstr>Total likelihood</vt:lpstr>
      <vt:lpstr>Workflow </vt:lpstr>
      <vt:lpstr>Fitting and diagnostics</vt:lpstr>
      <vt:lpstr>Model outputs</vt:lpstr>
      <vt:lpstr>Swordfish status 2015 </vt:lpstr>
      <vt:lpstr>Software for SCAA</vt:lpstr>
      <vt:lpstr>SS3</vt:lpstr>
      <vt:lpstr>Example using r4ss</vt:lpstr>
      <vt:lpstr>Shortfin Mako North Atlantic 2017</vt:lpstr>
      <vt:lpstr>Diagnostics</vt:lpstr>
      <vt:lpstr>Diagnostic workflow</vt:lpstr>
      <vt:lpstr>Convergence</vt:lpstr>
      <vt:lpstr>Jitter diagnostic</vt:lpstr>
      <vt:lpstr>Goodness of fit</vt:lpstr>
      <vt:lpstr>Mako runs test</vt:lpstr>
      <vt:lpstr>Data conflict</vt:lpstr>
      <vt:lpstr>Mako likelihood profiles</vt:lpstr>
      <vt:lpstr>Data conflict: ASPM</vt:lpstr>
      <vt:lpstr>PowerPoint Presentation</vt:lpstr>
      <vt:lpstr>Retrospective bias?</vt:lpstr>
      <vt:lpstr>Prediction skill: hindcast cross validation HCxval </vt:lpstr>
      <vt:lpstr>Mako hindcast cross-validation</vt:lpstr>
      <vt:lpstr>Diagnostic summary</vt:lpstr>
      <vt:lpstr>Results: Mako status 2015</vt:lpstr>
      <vt:lpstr>Mako projections SS3</vt:lpstr>
    </vt:vector>
  </TitlesOfParts>
  <Company>Wildlife Conservation Society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Rebecca Cerroni</dc:creator>
  <cp:lastModifiedBy>Babcock, Elizabeth A</cp:lastModifiedBy>
  <cp:revision>610</cp:revision>
  <dcterms:created xsi:type="dcterms:W3CDTF">2002-07-02T19:54:08Z</dcterms:created>
  <dcterms:modified xsi:type="dcterms:W3CDTF">2026-09-11T14:17:49Z</dcterms:modified>
</cp:coreProperties>
</file>