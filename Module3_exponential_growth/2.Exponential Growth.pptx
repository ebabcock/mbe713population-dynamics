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53" r:id="rId1"/>
  </p:sldMasterIdLst>
  <p:notesMasterIdLst>
    <p:notesMasterId r:id="rId15"/>
  </p:notesMasterIdLst>
  <p:handoutMasterIdLst>
    <p:handoutMasterId r:id="rId16"/>
  </p:handoutMasterIdLst>
  <p:sldIdLst>
    <p:sldId id="297" r:id="rId2"/>
    <p:sldId id="315" r:id="rId3"/>
    <p:sldId id="318" r:id="rId4"/>
    <p:sldId id="320" r:id="rId5"/>
    <p:sldId id="323" r:id="rId6"/>
    <p:sldId id="324" r:id="rId7"/>
    <p:sldId id="326" r:id="rId8"/>
    <p:sldId id="333" r:id="rId9"/>
    <p:sldId id="329" r:id="rId10"/>
    <p:sldId id="336" r:id="rId11"/>
    <p:sldId id="337" r:id="rId12"/>
    <p:sldId id="338" r:id="rId13"/>
    <p:sldId id="339" r:id="rId14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FF00"/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5" autoAdjust="0"/>
    <p:restoredTop sz="94590" autoAdjust="0"/>
  </p:normalViewPr>
  <p:slideViewPr>
    <p:cSldViewPr>
      <p:cViewPr varScale="1">
        <p:scale>
          <a:sx n="97" d="100"/>
          <a:sy n="97" d="100"/>
        </p:scale>
        <p:origin x="1042" y="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9" d="100"/>
          <a:sy n="59" d="100"/>
        </p:scale>
        <p:origin x="-1140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931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587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931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931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587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Albertus Extra Bold" pitchFamily="34" charset="0"/>
              </a:defRPr>
            </a:lvl1pPr>
          </a:lstStyle>
          <a:p>
            <a:fld id="{44E1A066-3641-409E-B440-E03BE1A0AA53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7538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528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2150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5360" y="4560570"/>
            <a:ext cx="5364480" cy="4320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51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14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2151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5280" y="912114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Albertus Extra Bold" pitchFamily="34" charset="0"/>
              </a:defRPr>
            </a:lvl1pPr>
          </a:lstStyle>
          <a:p>
            <a:fld id="{DB41E0A9-D23A-4D9E-8E36-829A8A18E11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1223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lbertus Extra Bold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lbertus Extra Bold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lbertus Extra Bold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lbertus Extra Bold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lbertus Extra Bold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41E0A9-D23A-4D9E-8E36-829A8A18E11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288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Slide Image Placeholder 1">
            <a:extLst>
              <a:ext uri="{FF2B5EF4-FFF2-40B4-BE49-F238E27FC236}">
                <a16:creationId xmlns:a16="http://schemas.microsoft.com/office/drawing/2014/main" id="{73AE5A69-18F3-490E-8CFF-2C2B7AD2650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83971" name="Notes Placeholder 2">
            <a:extLst>
              <a:ext uri="{FF2B5EF4-FFF2-40B4-BE49-F238E27FC236}">
                <a16:creationId xmlns:a16="http://schemas.microsoft.com/office/drawing/2014/main" id="{A1125913-02C1-43BC-AAC5-8446C086C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83972" name="Slide Number Placeholder 3">
            <a:extLst>
              <a:ext uri="{FF2B5EF4-FFF2-40B4-BE49-F238E27FC236}">
                <a16:creationId xmlns:a16="http://schemas.microsoft.com/office/drawing/2014/main" id="{A1A7A66A-D752-4BE5-B305-0A1E7D025E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B616A3FF-00C4-44C9-A693-E2720C76C337}" type="slidenum">
              <a:rPr lang="en-US" altLang="en-US"/>
              <a:pPr>
                <a:spcBef>
                  <a:spcPct val="0"/>
                </a:spcBef>
              </a:pPr>
              <a:t>2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Slide Image Placeholder 1">
            <a:extLst>
              <a:ext uri="{FF2B5EF4-FFF2-40B4-BE49-F238E27FC236}">
                <a16:creationId xmlns:a16="http://schemas.microsoft.com/office/drawing/2014/main" id="{C43BD2F4-A28B-47CC-A491-BCF5B6C86024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90115" name="Notes Placeholder 2">
            <a:extLst>
              <a:ext uri="{FF2B5EF4-FFF2-40B4-BE49-F238E27FC236}">
                <a16:creationId xmlns:a16="http://schemas.microsoft.com/office/drawing/2014/main" id="{40312DBE-703C-41D3-91A9-A169022ABC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0116" name="Slide Number Placeholder 3">
            <a:extLst>
              <a:ext uri="{FF2B5EF4-FFF2-40B4-BE49-F238E27FC236}">
                <a16:creationId xmlns:a16="http://schemas.microsoft.com/office/drawing/2014/main" id="{9CA69C24-64CB-4A4D-A94A-6888B7ED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D956A16-25E7-4A24-B705-71BEA9B24317}" type="slidenum">
              <a:rPr lang="en-US" altLang="en-US"/>
              <a:pPr>
                <a:spcBef>
                  <a:spcPct val="0"/>
                </a:spcBef>
              </a:pPr>
              <a:t>3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Slide Image Placeholder 1">
            <a:extLst>
              <a:ext uri="{FF2B5EF4-FFF2-40B4-BE49-F238E27FC236}">
                <a16:creationId xmlns:a16="http://schemas.microsoft.com/office/drawing/2014/main" id="{C24A990C-797D-4BEE-921E-57D7F13E918E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94211" name="Notes Placeholder 2">
            <a:extLst>
              <a:ext uri="{FF2B5EF4-FFF2-40B4-BE49-F238E27FC236}">
                <a16:creationId xmlns:a16="http://schemas.microsoft.com/office/drawing/2014/main" id="{83A798A6-F672-4E0B-A467-8982E43A21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4212" name="Slide Number Placeholder 3">
            <a:extLst>
              <a:ext uri="{FF2B5EF4-FFF2-40B4-BE49-F238E27FC236}">
                <a16:creationId xmlns:a16="http://schemas.microsoft.com/office/drawing/2014/main" id="{E042F7CA-4A59-45C9-850E-5E9DEA0B93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29171303-38DF-498E-8B01-59A84AF3A2B6}" type="slidenum">
              <a:rPr lang="en-US" altLang="en-US"/>
              <a:pPr>
                <a:spcBef>
                  <a:spcPct val="0"/>
                </a:spcBef>
              </a:pPr>
              <a:t>4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Slide Image Placeholder 1">
            <a:extLst>
              <a:ext uri="{FF2B5EF4-FFF2-40B4-BE49-F238E27FC236}">
                <a16:creationId xmlns:a16="http://schemas.microsoft.com/office/drawing/2014/main" id="{0B3DAED0-A96E-4200-A080-A3C160CED59E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00355" name="Notes Placeholder 2">
            <a:extLst>
              <a:ext uri="{FF2B5EF4-FFF2-40B4-BE49-F238E27FC236}">
                <a16:creationId xmlns:a16="http://schemas.microsoft.com/office/drawing/2014/main" id="{81AC1320-FC79-409A-A578-30E6BA5749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100356" name="Slide Number Placeholder 3">
            <a:extLst>
              <a:ext uri="{FF2B5EF4-FFF2-40B4-BE49-F238E27FC236}">
                <a16:creationId xmlns:a16="http://schemas.microsoft.com/office/drawing/2014/main" id="{2AB29698-4178-4AA4-BE5A-16DA1FC53B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5FD9E0C-5D94-4A58-A2EF-D4A241D88283}" type="slidenum">
              <a:rPr lang="en-US" altLang="en-US"/>
              <a:pPr>
                <a:spcBef>
                  <a:spcPct val="0"/>
                </a:spcBef>
              </a:pPr>
              <a:t>5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Slide Image Placeholder 1">
            <a:extLst>
              <a:ext uri="{FF2B5EF4-FFF2-40B4-BE49-F238E27FC236}">
                <a16:creationId xmlns:a16="http://schemas.microsoft.com/office/drawing/2014/main" id="{76D07C7D-EE8F-4F7E-90A8-7061032EFAFF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02403" name="Notes Placeholder 2">
            <a:extLst>
              <a:ext uri="{FF2B5EF4-FFF2-40B4-BE49-F238E27FC236}">
                <a16:creationId xmlns:a16="http://schemas.microsoft.com/office/drawing/2014/main" id="{3B5D62D7-E66D-46C7-90B0-6F75FF8093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02404" name="Slide Number Placeholder 3">
            <a:extLst>
              <a:ext uri="{FF2B5EF4-FFF2-40B4-BE49-F238E27FC236}">
                <a16:creationId xmlns:a16="http://schemas.microsoft.com/office/drawing/2014/main" id="{7CA65D6F-A651-42F1-85A7-B9CF21018F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ADEF295E-E8B7-4FD1-867A-03470609121D}" type="slidenum">
              <a:rPr lang="en-US" altLang="en-US"/>
              <a:pPr>
                <a:spcBef>
                  <a:spcPct val="0"/>
                </a:spcBef>
              </a:pPr>
              <a:t>6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Slide Image Placeholder 1">
            <a:extLst>
              <a:ext uri="{FF2B5EF4-FFF2-40B4-BE49-F238E27FC236}">
                <a16:creationId xmlns:a16="http://schemas.microsoft.com/office/drawing/2014/main" id="{B341036A-051A-4676-99FC-8D50991A9DDE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06499" name="Notes Placeholder 2">
            <a:extLst>
              <a:ext uri="{FF2B5EF4-FFF2-40B4-BE49-F238E27FC236}">
                <a16:creationId xmlns:a16="http://schemas.microsoft.com/office/drawing/2014/main" id="{767208F0-8BEC-4938-B7D0-3F1C75351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06500" name="Slide Number Placeholder 3">
            <a:extLst>
              <a:ext uri="{FF2B5EF4-FFF2-40B4-BE49-F238E27FC236}">
                <a16:creationId xmlns:a16="http://schemas.microsoft.com/office/drawing/2014/main" id="{93AADBF9-D9ED-4C4B-9011-0AAFFAF0D3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2AE353-9C1C-493D-86E3-D87396515FA8}" type="slidenum">
              <a:rPr lang="en-US" altLang="en-US"/>
              <a:pPr>
                <a:spcBef>
                  <a:spcPct val="0"/>
                </a:spcBef>
              </a:pPr>
              <a:t>7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Slide Image Placeholder 1">
            <a:extLst>
              <a:ext uri="{FF2B5EF4-FFF2-40B4-BE49-F238E27FC236}">
                <a16:creationId xmlns:a16="http://schemas.microsoft.com/office/drawing/2014/main" id="{417F4684-97D6-4888-84C1-BE490538FAD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0835" name="Notes Placeholder 2">
            <a:extLst>
              <a:ext uri="{FF2B5EF4-FFF2-40B4-BE49-F238E27FC236}">
                <a16:creationId xmlns:a16="http://schemas.microsoft.com/office/drawing/2014/main" id="{C77BE1F4-7D75-4A20-BCA8-5A33491FF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20836" name="Slide Number Placeholder 3">
            <a:extLst>
              <a:ext uri="{FF2B5EF4-FFF2-40B4-BE49-F238E27FC236}">
                <a16:creationId xmlns:a16="http://schemas.microsoft.com/office/drawing/2014/main" id="{E2E6A30C-40CF-4218-B702-727ED19C7C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9B85F23C-B340-4908-8442-29E4FD829268}" type="slidenum">
              <a:rPr lang="en-US" altLang="en-US"/>
              <a:pPr>
                <a:spcBef>
                  <a:spcPct val="0"/>
                </a:spcBef>
              </a:pPr>
              <a:t>8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Slide Image Placeholder 1">
            <a:extLst>
              <a:ext uri="{FF2B5EF4-FFF2-40B4-BE49-F238E27FC236}">
                <a16:creationId xmlns:a16="http://schemas.microsoft.com/office/drawing/2014/main" id="{E90F6C4D-4F68-4347-A81D-C1F97EAF511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2643" name="Notes Placeholder 2">
            <a:extLst>
              <a:ext uri="{FF2B5EF4-FFF2-40B4-BE49-F238E27FC236}">
                <a16:creationId xmlns:a16="http://schemas.microsoft.com/office/drawing/2014/main" id="{2E68A328-C111-4AB3-A166-53FD7AD20E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12644" name="Slide Number Placeholder 3">
            <a:extLst>
              <a:ext uri="{FF2B5EF4-FFF2-40B4-BE49-F238E27FC236}">
                <a16:creationId xmlns:a16="http://schemas.microsoft.com/office/drawing/2014/main" id="{759C68D6-2B09-4108-B62B-7AC62A3445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FFE74CD-B4B2-46FC-A421-102693AB9B81}" type="slidenum">
              <a:rPr lang="en-US" altLang="en-US"/>
              <a:pPr>
                <a:spcBef>
                  <a:spcPct val="0"/>
                </a:spcBef>
              </a:pPr>
              <a:t>9</a:t>
            </a:fld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3062168-CA75-4DCB-ACA1-3CBE51E9BB6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487362"/>
          </a:xfrm>
        </p:spPr>
        <p:txBody>
          <a:bodyPr/>
          <a:lstStyle>
            <a:lvl1pPr>
              <a:defRPr sz="36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90600"/>
            <a:ext cx="8229600" cy="5135563"/>
          </a:xfrm>
        </p:spPr>
        <p:txBody>
          <a:bodyPr/>
          <a:lstStyle>
            <a:lvl1pPr>
              <a:defRPr sz="30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64D0444-4EDE-4B38-A1B6-1736318DBC5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FF321D8-A24E-4B03-8586-27459BEAE9B9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2C44912-138E-4802-853F-B984A9F1B841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E9CEF9F-1C92-4FF0-B96A-F7A26EAD5EF0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14A5D3-C54B-4997-83E3-9432E83EEA5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E565590-C750-4EBE-B003-8C25E87E5ED3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B296C32-B7AF-4AD0-8CF7-595A42FA598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D90EA9-603D-4EE5-A1C2-41766C3D918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17161DC-BD25-4CCF-BE89-96EEE98F52EE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DDDD1C5-1327-4575-9025-19C1051F18E6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82296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3938588"/>
            <a:ext cx="82296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4665C853-9B71-41A6-85AE-FF9CB414E8D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A263BF0B-CADE-419C-AB13-4AA4FFFE67C9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600200"/>
            <a:ext cx="40386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48200" y="3938588"/>
            <a:ext cx="40386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910E6B2F-18C5-4BBA-93EB-6AAC223AFA90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40386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57200" y="3938588"/>
            <a:ext cx="40386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half" idx="3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990D7465-2649-45B4-818D-D0220884C52B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1073B23E-588F-4102-9F6B-DE52C387C6E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371600"/>
            <a:ext cx="4038600" cy="4648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371600"/>
            <a:ext cx="4038600" cy="22479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48200" y="3771900"/>
            <a:ext cx="4038600" cy="22479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CB2E64BE-762A-4838-898E-57216DB740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dirty="0" smtClean="0"/>
            </a:lvl1pPr>
          </a:lstStyle>
          <a:p>
            <a:pPr>
              <a:defRPr/>
            </a:pPr>
            <a:r>
              <a:rPr lang="en-US" dirty="0"/>
              <a:t>8/15/2024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1DC798FD-0D54-4F91-A66E-27F5F5B3519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dirty="0"/>
            </a:lvl1pPr>
          </a:lstStyle>
          <a:p>
            <a:pPr>
              <a:defRPr/>
            </a:pPr>
            <a:r>
              <a:rPr lang="nl-NL" dirty="0"/>
              <a:t>MBE 713 FALL 2024         Instructor D.J. Die</a:t>
            </a:r>
            <a:endParaRPr 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656D275A-A647-4B2B-A605-C7E89D7AB77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altLang="en-US"/>
              <a:t>Chapter (1-1) </a:t>
            </a:r>
            <a:fld id="{C2E57474-954F-4F84-8466-0A5C27B4CF3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972326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7510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510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endParaRPr lang="en-US"/>
          </a:p>
        </p:txBody>
      </p:sp>
      <p:sp>
        <p:nvSpPr>
          <p:cNvPr id="17510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7511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AC57D645-5CE9-4EB9-B8B2-706EBA74EC38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  <p:sldLayoutId id="2147483664" r:id="rId11"/>
    <p:sldLayoutId id="2147483665" r:id="rId12"/>
    <p:sldLayoutId id="2147483666" r:id="rId13"/>
    <p:sldLayoutId id="2147483667" r:id="rId14"/>
    <p:sldLayoutId id="2147483668" r:id="rId15"/>
    <p:sldLayoutId id="2147483669" r:id="rId16"/>
    <p:sldLayoutId id="2147483670" r:id="rId17"/>
  </p:sldLayoutIdLst>
  <p:txStyles>
    <p:titleStyle>
      <a:lvl1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4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8.wmf"/><Relationship Id="rId5" Type="http://schemas.openxmlformats.org/officeDocument/2006/relationships/oleObject" Target="../embeddings/oleObject6.bin"/><Relationship Id="rId4" Type="http://schemas.openxmlformats.org/officeDocument/2006/relationships/image" Target="../media/image7.w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6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09600" y="1524000"/>
            <a:ext cx="7772400" cy="1470025"/>
          </a:xfrm>
        </p:spPr>
        <p:txBody>
          <a:bodyPr/>
          <a:lstStyle/>
          <a:p>
            <a:r>
              <a:rPr lang="en-US" sz="3600" dirty="0"/>
              <a:t>MBE 713: Marine Population Dynamics</a:t>
            </a:r>
            <a:br>
              <a:rPr lang="en-US" sz="3600" dirty="0"/>
            </a:br>
            <a:r>
              <a:rPr lang="en-US" sz="3600" dirty="0"/>
              <a:t>Lecture 2: Exponential population growth</a:t>
            </a:r>
          </a:p>
        </p:txBody>
      </p:sp>
      <p:sp>
        <p:nvSpPr>
          <p:cNvPr id="64517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2667000" y="4038600"/>
            <a:ext cx="4343400" cy="1189241"/>
          </a:xfrm>
        </p:spPr>
        <p:txBody>
          <a:bodyPr/>
          <a:lstStyle/>
          <a:p>
            <a:pPr algn="l"/>
            <a:r>
              <a:rPr lang="en-US" dirty="0"/>
              <a:t>Elizabeth A. Babcock</a:t>
            </a:r>
          </a:p>
        </p:txBody>
      </p:sp>
      <p:sp>
        <p:nvSpPr>
          <p:cNvPr id="64519" name="Text Box 7"/>
          <p:cNvSpPr txBox="1">
            <a:spLocks noChangeArrowheads="1"/>
          </p:cNvSpPr>
          <p:nvPr/>
        </p:nvSpPr>
        <p:spPr bwMode="auto">
          <a:xfrm>
            <a:off x="3124200" y="3124200"/>
            <a:ext cx="533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endParaRPr lang="en-US" sz="2400">
              <a:latin typeface="Albertus Extra Bold" pitchFamily="34" charset="0"/>
            </a:endParaRPr>
          </a:p>
        </p:txBody>
      </p:sp>
      <p:pic>
        <p:nvPicPr>
          <p:cNvPr id="8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0" y="4953000"/>
            <a:ext cx="2990850" cy="1724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2">
            <a:extLst>
              <a:ext uri="{FF2B5EF4-FFF2-40B4-BE49-F238E27FC236}">
                <a16:creationId xmlns:a16="http://schemas.microsoft.com/office/drawing/2014/main" id="{308BDC90-3AD2-4411-8D81-EA28B2EEE23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b="1" dirty="0"/>
              <a:t>Abundance </a:t>
            </a:r>
            <a:r>
              <a:rPr lang="en-US" altLang="en-US" b="1" dirty="0" err="1"/>
              <a:t>N</a:t>
            </a:r>
            <a:r>
              <a:rPr lang="en-US" altLang="en-US" b="1" baseline="-25000" dirty="0" err="1"/>
              <a:t>t</a:t>
            </a:r>
            <a:endParaRPr lang="en-US" altLang="en-US" b="1" baseline="-25000" dirty="0"/>
          </a:p>
        </p:txBody>
      </p:sp>
      <p:sp>
        <p:nvSpPr>
          <p:cNvPr id="82947" name="Rectangle 3">
            <a:extLst>
              <a:ext uri="{FF2B5EF4-FFF2-40B4-BE49-F238E27FC236}">
                <a16:creationId xmlns:a16="http://schemas.microsoft.com/office/drawing/2014/main" id="{54DB7F5A-0AF4-43A4-875B-24C31173139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09600" y="1371600"/>
            <a:ext cx="8229600" cy="46482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en-US" dirty="0"/>
              <a:t>Birth, Death, Immigration, Emigration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US" altLang="en-US" dirty="0"/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en-US" dirty="0"/>
              <a:t>In any given unit of time </a:t>
            </a:r>
            <a:r>
              <a:rPr lang="en-US" altLang="en-US" dirty="0">
                <a:solidFill>
                  <a:srgbClr val="0000FF"/>
                </a:solidFill>
              </a:rPr>
              <a:t>t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US" altLang="en-US" dirty="0"/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en-US" dirty="0" err="1">
                <a:solidFill>
                  <a:srgbClr val="0000FF"/>
                </a:solidFill>
              </a:rPr>
              <a:t>B</a:t>
            </a:r>
            <a:r>
              <a:rPr lang="en-US" altLang="en-US" baseline="-25000" dirty="0" err="1">
                <a:solidFill>
                  <a:srgbClr val="0000FF"/>
                </a:solidFill>
              </a:rPr>
              <a:t>t</a:t>
            </a:r>
            <a:r>
              <a:rPr lang="en-US" altLang="en-US" dirty="0"/>
              <a:t> = Number of animals born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en-US" dirty="0">
                <a:solidFill>
                  <a:srgbClr val="0000FF"/>
                </a:solidFill>
              </a:rPr>
              <a:t>D</a:t>
            </a:r>
            <a:r>
              <a:rPr lang="en-US" altLang="en-US" baseline="-25000" dirty="0">
                <a:solidFill>
                  <a:srgbClr val="0000FF"/>
                </a:solidFill>
              </a:rPr>
              <a:t>t</a:t>
            </a:r>
            <a:r>
              <a:rPr lang="en-US" altLang="en-US" dirty="0"/>
              <a:t> = Number of dead animals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en-US" dirty="0">
                <a:solidFill>
                  <a:srgbClr val="0000FF"/>
                </a:solidFill>
              </a:rPr>
              <a:t>I</a:t>
            </a:r>
            <a:r>
              <a:rPr lang="en-US" altLang="en-US" baseline="-25000" dirty="0">
                <a:solidFill>
                  <a:srgbClr val="0000FF"/>
                </a:solidFill>
              </a:rPr>
              <a:t>t</a:t>
            </a:r>
            <a:r>
              <a:rPr lang="en-US" altLang="en-US" dirty="0">
                <a:solidFill>
                  <a:srgbClr val="0000FF"/>
                </a:solidFill>
              </a:rPr>
              <a:t> </a:t>
            </a:r>
            <a:r>
              <a:rPr lang="en-US" altLang="en-US" dirty="0"/>
              <a:t>  = Number of immigrants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en-US" dirty="0">
                <a:solidFill>
                  <a:srgbClr val="0000FF"/>
                </a:solidFill>
              </a:rPr>
              <a:t>E</a:t>
            </a:r>
            <a:r>
              <a:rPr lang="en-US" altLang="en-US" baseline="-25000" dirty="0">
                <a:solidFill>
                  <a:srgbClr val="0000FF"/>
                </a:solidFill>
              </a:rPr>
              <a:t>t</a:t>
            </a:r>
            <a:r>
              <a:rPr lang="en-US" altLang="en-US" dirty="0"/>
              <a:t>  = Number of Emigrants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US" altLang="en-US" dirty="0"/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US" altLang="en-US" dirty="0"/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US" altLang="en-US" dirty="0"/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US" altLang="en-US" dirty="0"/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US" altLang="en-US" dirty="0"/>
          </a:p>
        </p:txBody>
      </p:sp>
      <p:sp>
        <p:nvSpPr>
          <p:cNvPr id="82948" name="Date Placeholder 8">
            <a:extLst>
              <a:ext uri="{FF2B5EF4-FFF2-40B4-BE49-F238E27FC236}">
                <a16:creationId xmlns:a16="http://schemas.microsoft.com/office/drawing/2014/main" id="{3473AC62-B6CD-49A5-8AD5-29BE3875219F}"/>
              </a:ext>
            </a:extLst>
          </p:cNvPr>
          <p:cNvSpPr>
            <a:spLocks noGrp="1"/>
          </p:cNvSpPr>
          <p:nvPr>
            <p:ph type="dt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/>
              <a:t>8/15/2024</a:t>
            </a:r>
          </a:p>
        </p:txBody>
      </p:sp>
      <p:sp>
        <p:nvSpPr>
          <p:cNvPr id="82949" name="Footer Placeholder 9">
            <a:extLst>
              <a:ext uri="{FF2B5EF4-FFF2-40B4-BE49-F238E27FC236}">
                <a16:creationId xmlns:a16="http://schemas.microsoft.com/office/drawing/2014/main" id="{85DF4A0F-D365-4370-96DF-A97D4396A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/>
              <a:t>MBE 713 FALL 2024         Instructor D.J. Die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2">
            <a:extLst>
              <a:ext uri="{FF2B5EF4-FFF2-40B4-BE49-F238E27FC236}">
                <a16:creationId xmlns:a16="http://schemas.microsoft.com/office/drawing/2014/main" id="{E997B6EC-606B-46CA-A078-68D05BC8817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b="1" dirty="0"/>
              <a:t>Changes in abundance</a:t>
            </a:r>
          </a:p>
        </p:txBody>
      </p:sp>
      <p:sp>
        <p:nvSpPr>
          <p:cNvPr id="89091" name="Rectangle 3">
            <a:extLst>
              <a:ext uri="{FF2B5EF4-FFF2-40B4-BE49-F238E27FC236}">
                <a16:creationId xmlns:a16="http://schemas.microsoft.com/office/drawing/2014/main" id="{B1EDBC4E-B09F-4735-A7CE-382E863E4CA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7200" y="1219200"/>
            <a:ext cx="8229600" cy="46482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buFontTx/>
              <a:buNone/>
            </a:pPr>
            <a:r>
              <a:rPr lang="en-US" altLang="en-US" sz="2400" dirty="0" err="1">
                <a:solidFill>
                  <a:srgbClr val="0000FF"/>
                </a:solidFill>
              </a:rPr>
              <a:t>N</a:t>
            </a:r>
            <a:r>
              <a:rPr lang="en-US" altLang="en-US" sz="2400" baseline="-25000" dirty="0" err="1">
                <a:solidFill>
                  <a:srgbClr val="0000FF"/>
                </a:solidFill>
              </a:rPr>
              <a:t>t</a:t>
            </a:r>
            <a:r>
              <a:rPr lang="en-US" altLang="en-US" sz="2400" dirty="0">
                <a:solidFill>
                  <a:srgbClr val="0000FF"/>
                </a:solidFill>
              </a:rPr>
              <a:t> </a:t>
            </a:r>
            <a:r>
              <a:rPr lang="en-US" altLang="en-US" sz="2400" dirty="0"/>
              <a:t>= Number of fish in time </a:t>
            </a:r>
            <a:r>
              <a:rPr lang="en-US" altLang="en-US" sz="2400" dirty="0">
                <a:solidFill>
                  <a:srgbClr val="0000FF"/>
                </a:solidFill>
              </a:rPr>
              <a:t>t</a:t>
            </a:r>
          </a:p>
          <a:p>
            <a:pPr eaLnBrk="1" hangingPunct="1">
              <a:buFontTx/>
              <a:buNone/>
            </a:pPr>
            <a:endParaRPr lang="en-US" altLang="en-US" sz="2400" dirty="0">
              <a:solidFill>
                <a:srgbClr val="0000FF"/>
              </a:solidFill>
            </a:endParaRPr>
          </a:p>
          <a:p>
            <a:pPr eaLnBrk="1" hangingPunct="1">
              <a:buFontTx/>
              <a:buNone/>
            </a:pPr>
            <a:r>
              <a:rPr lang="en-US" altLang="en-US" sz="2400" dirty="0">
                <a:solidFill>
                  <a:srgbClr val="0000FF"/>
                </a:solidFill>
              </a:rPr>
              <a:t>N</a:t>
            </a:r>
            <a:r>
              <a:rPr lang="en-US" altLang="en-US" sz="2400" baseline="-25000" dirty="0">
                <a:solidFill>
                  <a:srgbClr val="0000FF"/>
                </a:solidFill>
              </a:rPr>
              <a:t>t+1</a:t>
            </a:r>
            <a:r>
              <a:rPr lang="en-US" altLang="en-US" sz="2400" dirty="0">
                <a:solidFill>
                  <a:srgbClr val="0000FF"/>
                </a:solidFill>
              </a:rPr>
              <a:t> = </a:t>
            </a:r>
            <a:r>
              <a:rPr lang="en-US" altLang="en-US" sz="2400" dirty="0" err="1">
                <a:solidFill>
                  <a:srgbClr val="0000FF"/>
                </a:solidFill>
              </a:rPr>
              <a:t>N</a:t>
            </a:r>
            <a:r>
              <a:rPr lang="en-US" altLang="en-US" sz="2400" baseline="-25000" dirty="0" err="1">
                <a:solidFill>
                  <a:srgbClr val="0000FF"/>
                </a:solidFill>
              </a:rPr>
              <a:t>t</a:t>
            </a:r>
            <a:r>
              <a:rPr lang="en-US" altLang="en-US" sz="2400" dirty="0">
                <a:solidFill>
                  <a:srgbClr val="0000FF"/>
                </a:solidFill>
              </a:rPr>
              <a:t> + </a:t>
            </a:r>
            <a:r>
              <a:rPr lang="en-US" altLang="en-US" sz="2400" dirty="0" err="1">
                <a:solidFill>
                  <a:srgbClr val="0000FF"/>
                </a:solidFill>
              </a:rPr>
              <a:t>B</a:t>
            </a:r>
            <a:r>
              <a:rPr lang="en-US" altLang="en-US" sz="2400" baseline="-25000" dirty="0" err="1">
                <a:solidFill>
                  <a:srgbClr val="0000FF"/>
                </a:solidFill>
              </a:rPr>
              <a:t>t</a:t>
            </a:r>
            <a:r>
              <a:rPr lang="en-US" altLang="en-US" sz="2400" dirty="0">
                <a:solidFill>
                  <a:srgbClr val="0000FF"/>
                </a:solidFill>
              </a:rPr>
              <a:t> – D</a:t>
            </a:r>
            <a:r>
              <a:rPr lang="en-US" altLang="en-US" sz="2400" baseline="-25000" dirty="0">
                <a:solidFill>
                  <a:srgbClr val="0000FF"/>
                </a:solidFill>
              </a:rPr>
              <a:t>t</a:t>
            </a:r>
            <a:r>
              <a:rPr lang="en-US" altLang="en-US" sz="2400" dirty="0">
                <a:solidFill>
                  <a:srgbClr val="0000FF"/>
                </a:solidFill>
              </a:rPr>
              <a:t> + I</a:t>
            </a:r>
            <a:r>
              <a:rPr lang="en-US" altLang="en-US" sz="2400" baseline="-25000" dirty="0">
                <a:solidFill>
                  <a:srgbClr val="0000FF"/>
                </a:solidFill>
              </a:rPr>
              <a:t>t</a:t>
            </a:r>
            <a:r>
              <a:rPr lang="en-US" altLang="en-US" sz="2400" dirty="0">
                <a:solidFill>
                  <a:srgbClr val="0000FF"/>
                </a:solidFill>
              </a:rPr>
              <a:t> – E</a:t>
            </a:r>
            <a:r>
              <a:rPr lang="en-US" altLang="en-US" sz="2400" baseline="-25000" dirty="0">
                <a:solidFill>
                  <a:srgbClr val="0000FF"/>
                </a:solidFill>
              </a:rPr>
              <a:t>t</a:t>
            </a:r>
            <a:endParaRPr lang="en-US" altLang="en-US" sz="2400" dirty="0">
              <a:solidFill>
                <a:srgbClr val="0000FF"/>
              </a:solidFill>
            </a:endParaRPr>
          </a:p>
          <a:p>
            <a:pPr eaLnBrk="1" hangingPunct="1">
              <a:buFontTx/>
              <a:buNone/>
            </a:pPr>
            <a:endParaRPr lang="en-US" altLang="en-US" sz="2400" dirty="0">
              <a:solidFill>
                <a:srgbClr val="0000FF"/>
              </a:solidFill>
            </a:endParaRPr>
          </a:p>
          <a:p>
            <a:pPr eaLnBrk="1" hangingPunct="1">
              <a:buFontTx/>
              <a:buNone/>
            </a:pPr>
            <a:r>
              <a:rPr lang="en-US" altLang="en-US" sz="2400" dirty="0"/>
              <a:t>Change in abundance</a:t>
            </a:r>
          </a:p>
          <a:p>
            <a:pPr eaLnBrk="1" hangingPunct="1">
              <a:buFontTx/>
              <a:buNone/>
            </a:pPr>
            <a:endParaRPr lang="en-US" altLang="en-US" sz="2400" dirty="0"/>
          </a:p>
          <a:p>
            <a:pPr eaLnBrk="1" hangingPunct="1">
              <a:buFontTx/>
              <a:buNone/>
            </a:pPr>
            <a:r>
              <a:rPr lang="en-US" altLang="en-US" sz="2400" dirty="0">
                <a:solidFill>
                  <a:srgbClr val="0000FF"/>
                </a:solidFill>
              </a:rPr>
              <a:t>N</a:t>
            </a:r>
            <a:r>
              <a:rPr lang="en-US" altLang="en-US" sz="2400" baseline="-25000" dirty="0">
                <a:solidFill>
                  <a:srgbClr val="0000FF"/>
                </a:solidFill>
              </a:rPr>
              <a:t>t+1 </a:t>
            </a:r>
            <a:r>
              <a:rPr lang="en-US" altLang="en-US" sz="2400" dirty="0">
                <a:solidFill>
                  <a:srgbClr val="0000FF"/>
                </a:solidFill>
              </a:rPr>
              <a:t>- </a:t>
            </a:r>
            <a:r>
              <a:rPr lang="en-US" altLang="en-US" sz="2400" dirty="0" err="1">
                <a:solidFill>
                  <a:srgbClr val="0000FF"/>
                </a:solidFill>
              </a:rPr>
              <a:t>N</a:t>
            </a:r>
            <a:r>
              <a:rPr lang="en-US" altLang="en-US" sz="2400" baseline="-25000" dirty="0" err="1">
                <a:solidFill>
                  <a:srgbClr val="0000FF"/>
                </a:solidFill>
              </a:rPr>
              <a:t>t</a:t>
            </a:r>
            <a:r>
              <a:rPr lang="en-US" altLang="en-US" sz="2400" dirty="0">
                <a:solidFill>
                  <a:srgbClr val="0000FF"/>
                </a:solidFill>
              </a:rPr>
              <a:t> = </a:t>
            </a:r>
            <a:r>
              <a:rPr lang="el-GR" altLang="en-US" sz="2400" dirty="0">
                <a:solidFill>
                  <a:srgbClr val="0000FF"/>
                </a:solidFill>
                <a:cs typeface="Arial" panose="020B0604020202020204" pitchFamily="34" charset="0"/>
              </a:rPr>
              <a:t>Δ</a:t>
            </a:r>
            <a:r>
              <a:rPr lang="en-US" altLang="en-US" sz="2400" dirty="0">
                <a:solidFill>
                  <a:srgbClr val="0000FF"/>
                </a:solidFill>
                <a:cs typeface="Arial" panose="020B0604020202020204" pitchFamily="34" charset="0"/>
              </a:rPr>
              <a:t> </a:t>
            </a:r>
            <a:r>
              <a:rPr lang="en-US" altLang="en-US" sz="2400" dirty="0">
                <a:solidFill>
                  <a:srgbClr val="0000FF"/>
                </a:solidFill>
              </a:rPr>
              <a:t>N  =  </a:t>
            </a:r>
            <a:r>
              <a:rPr lang="en-US" altLang="en-US" sz="2400" dirty="0" err="1">
                <a:solidFill>
                  <a:srgbClr val="0000FF"/>
                </a:solidFill>
              </a:rPr>
              <a:t>B</a:t>
            </a:r>
            <a:r>
              <a:rPr lang="en-US" altLang="en-US" sz="2400" baseline="-25000" dirty="0" err="1">
                <a:solidFill>
                  <a:srgbClr val="0000FF"/>
                </a:solidFill>
              </a:rPr>
              <a:t>t</a:t>
            </a:r>
            <a:r>
              <a:rPr lang="en-US" altLang="en-US" sz="2400" dirty="0">
                <a:solidFill>
                  <a:srgbClr val="0000FF"/>
                </a:solidFill>
              </a:rPr>
              <a:t> – D</a:t>
            </a:r>
            <a:r>
              <a:rPr lang="en-US" altLang="en-US" sz="2400" baseline="-25000" dirty="0">
                <a:solidFill>
                  <a:srgbClr val="0000FF"/>
                </a:solidFill>
              </a:rPr>
              <a:t>t</a:t>
            </a:r>
            <a:r>
              <a:rPr lang="en-US" altLang="en-US" sz="2400" dirty="0">
                <a:solidFill>
                  <a:srgbClr val="0000FF"/>
                </a:solidFill>
              </a:rPr>
              <a:t> + I</a:t>
            </a:r>
            <a:r>
              <a:rPr lang="en-US" altLang="en-US" sz="2400" baseline="-25000" dirty="0">
                <a:solidFill>
                  <a:srgbClr val="0000FF"/>
                </a:solidFill>
              </a:rPr>
              <a:t>t</a:t>
            </a:r>
            <a:r>
              <a:rPr lang="en-US" altLang="en-US" sz="2400" dirty="0">
                <a:solidFill>
                  <a:srgbClr val="0000FF"/>
                </a:solidFill>
              </a:rPr>
              <a:t> – E</a:t>
            </a:r>
            <a:r>
              <a:rPr lang="en-US" altLang="en-US" sz="2400" baseline="-25000" dirty="0">
                <a:solidFill>
                  <a:srgbClr val="0000FF"/>
                </a:solidFill>
              </a:rPr>
              <a:t>t				</a:t>
            </a:r>
          </a:p>
          <a:p>
            <a:pPr eaLnBrk="1" hangingPunct="1">
              <a:buFontTx/>
              <a:buNone/>
            </a:pPr>
            <a:endParaRPr lang="en-US" altLang="en-US" sz="2400" dirty="0">
              <a:solidFill>
                <a:srgbClr val="0000FF"/>
              </a:solidFill>
            </a:endParaRPr>
          </a:p>
          <a:p>
            <a:pPr eaLnBrk="1" hangingPunct="1">
              <a:buFontTx/>
              <a:buNone/>
            </a:pPr>
            <a:r>
              <a:rPr lang="en-US" altLang="en-US" sz="2400" dirty="0"/>
              <a:t>In a closed population</a:t>
            </a:r>
            <a:r>
              <a:rPr lang="en-US" altLang="en-US" sz="2400" dirty="0">
                <a:solidFill>
                  <a:srgbClr val="0000FF"/>
                </a:solidFill>
              </a:rPr>
              <a:t> I</a:t>
            </a:r>
            <a:r>
              <a:rPr lang="en-US" altLang="en-US" sz="2400" baseline="-25000" dirty="0">
                <a:solidFill>
                  <a:srgbClr val="0000FF"/>
                </a:solidFill>
              </a:rPr>
              <a:t>t</a:t>
            </a:r>
            <a:r>
              <a:rPr lang="en-US" altLang="en-US" sz="2400" dirty="0">
                <a:solidFill>
                  <a:srgbClr val="0000FF"/>
                </a:solidFill>
              </a:rPr>
              <a:t>  =  E</a:t>
            </a:r>
            <a:r>
              <a:rPr lang="en-US" altLang="en-US" sz="2400" baseline="-25000" dirty="0">
                <a:solidFill>
                  <a:srgbClr val="0000FF"/>
                </a:solidFill>
              </a:rPr>
              <a:t>t  </a:t>
            </a:r>
            <a:r>
              <a:rPr lang="en-US" altLang="en-US" sz="2400" dirty="0">
                <a:solidFill>
                  <a:srgbClr val="0000FF"/>
                </a:solidFill>
              </a:rPr>
              <a:t>= 0   </a:t>
            </a:r>
            <a:r>
              <a:rPr lang="en-US" altLang="en-US" sz="2400" dirty="0"/>
              <a:t>so</a:t>
            </a:r>
          </a:p>
          <a:p>
            <a:pPr eaLnBrk="1" hangingPunct="1">
              <a:buFontTx/>
              <a:buNone/>
            </a:pPr>
            <a:endParaRPr lang="en-US" altLang="en-US" sz="2400" dirty="0">
              <a:solidFill>
                <a:srgbClr val="0000FF"/>
              </a:solidFill>
            </a:endParaRPr>
          </a:p>
          <a:p>
            <a:pPr eaLnBrk="1" hangingPunct="1">
              <a:buFontTx/>
              <a:buNone/>
            </a:pPr>
            <a:r>
              <a:rPr lang="en-US" altLang="en-US" sz="2400" dirty="0">
                <a:solidFill>
                  <a:srgbClr val="0000FF"/>
                </a:solidFill>
              </a:rPr>
              <a:t> </a:t>
            </a:r>
            <a:r>
              <a:rPr lang="el-GR" altLang="en-US" sz="2400" dirty="0">
                <a:solidFill>
                  <a:srgbClr val="0000FF"/>
                </a:solidFill>
                <a:cs typeface="Arial" panose="020B0604020202020204" pitchFamily="34" charset="0"/>
              </a:rPr>
              <a:t>Δ</a:t>
            </a:r>
            <a:r>
              <a:rPr lang="en-US" altLang="en-US" sz="2400" dirty="0">
                <a:solidFill>
                  <a:srgbClr val="0000FF"/>
                </a:solidFill>
                <a:cs typeface="Arial" panose="020B0604020202020204" pitchFamily="34" charset="0"/>
              </a:rPr>
              <a:t> </a:t>
            </a:r>
            <a:r>
              <a:rPr lang="en-US" altLang="en-US" sz="2400" dirty="0" err="1">
                <a:solidFill>
                  <a:srgbClr val="0000FF"/>
                </a:solidFill>
              </a:rPr>
              <a:t>N</a:t>
            </a:r>
            <a:r>
              <a:rPr lang="en-US" altLang="en-US" sz="2400" baseline="-25000" dirty="0" err="1">
                <a:solidFill>
                  <a:srgbClr val="0000FF"/>
                </a:solidFill>
              </a:rPr>
              <a:t>t</a:t>
            </a:r>
            <a:r>
              <a:rPr lang="en-US" altLang="en-US" sz="2400" dirty="0">
                <a:solidFill>
                  <a:srgbClr val="0000FF"/>
                </a:solidFill>
              </a:rPr>
              <a:t>  =  </a:t>
            </a:r>
            <a:r>
              <a:rPr lang="en-US" altLang="en-US" sz="2400" dirty="0" err="1">
                <a:solidFill>
                  <a:srgbClr val="0000FF"/>
                </a:solidFill>
              </a:rPr>
              <a:t>B</a:t>
            </a:r>
            <a:r>
              <a:rPr lang="en-US" altLang="en-US" sz="2400" baseline="-25000" dirty="0" err="1">
                <a:solidFill>
                  <a:srgbClr val="0000FF"/>
                </a:solidFill>
              </a:rPr>
              <a:t>t</a:t>
            </a:r>
            <a:r>
              <a:rPr lang="en-US" altLang="en-US" sz="2400" dirty="0">
                <a:solidFill>
                  <a:srgbClr val="0000FF"/>
                </a:solidFill>
              </a:rPr>
              <a:t> – D</a:t>
            </a:r>
            <a:r>
              <a:rPr lang="en-US" altLang="en-US" sz="2400" baseline="-25000" dirty="0">
                <a:solidFill>
                  <a:srgbClr val="0000FF"/>
                </a:solidFill>
              </a:rPr>
              <a:t>t						</a:t>
            </a:r>
            <a:endParaRPr lang="en-US" altLang="en-US" sz="2400" dirty="0">
              <a:solidFill>
                <a:srgbClr val="0000FF"/>
              </a:solidFill>
            </a:endParaRPr>
          </a:p>
          <a:p>
            <a:pPr eaLnBrk="1" hangingPunct="1">
              <a:buFontTx/>
              <a:buNone/>
            </a:pPr>
            <a:endParaRPr lang="en-US" altLang="en-US" sz="2400" dirty="0">
              <a:solidFill>
                <a:srgbClr val="0000FF"/>
              </a:solidFill>
            </a:endParaRPr>
          </a:p>
          <a:p>
            <a:pPr eaLnBrk="1" hangingPunct="1">
              <a:buFontTx/>
              <a:buNone/>
            </a:pPr>
            <a:endParaRPr lang="en-US" altLang="en-US" sz="2400" dirty="0">
              <a:solidFill>
                <a:srgbClr val="0000FF"/>
              </a:solidFill>
            </a:endParaRPr>
          </a:p>
        </p:txBody>
      </p:sp>
      <p:sp>
        <p:nvSpPr>
          <p:cNvPr id="89092" name="Date Placeholder 8">
            <a:extLst>
              <a:ext uri="{FF2B5EF4-FFF2-40B4-BE49-F238E27FC236}">
                <a16:creationId xmlns:a16="http://schemas.microsoft.com/office/drawing/2014/main" id="{174B3A14-6F86-4E74-80FF-47EA1701EC5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/>
              <a:t>8/15/2024</a:t>
            </a:r>
          </a:p>
        </p:txBody>
      </p:sp>
      <p:sp>
        <p:nvSpPr>
          <p:cNvPr id="89093" name="Footer Placeholder 9">
            <a:extLst>
              <a:ext uri="{FF2B5EF4-FFF2-40B4-BE49-F238E27FC236}">
                <a16:creationId xmlns:a16="http://schemas.microsoft.com/office/drawing/2014/main" id="{F9B032D3-C3EF-45BB-8CE5-53868C5BF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/>
              <a:t>MBE 713 FALL 2024         Instructor D.J. Die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2">
            <a:extLst>
              <a:ext uri="{FF2B5EF4-FFF2-40B4-BE49-F238E27FC236}">
                <a16:creationId xmlns:a16="http://schemas.microsoft.com/office/drawing/2014/main" id="{5D2C2CDE-AE4D-4395-8551-EAE85885E20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/>
              <a:t>Per capita rates</a:t>
            </a:r>
          </a:p>
        </p:txBody>
      </p:sp>
      <p:sp>
        <p:nvSpPr>
          <p:cNvPr id="93187" name="Rectangle 3">
            <a:extLst>
              <a:ext uri="{FF2B5EF4-FFF2-40B4-BE49-F238E27FC236}">
                <a16:creationId xmlns:a16="http://schemas.microsoft.com/office/drawing/2014/main" id="{BADD579D-2BB6-42F1-BF54-6F8BE84B747C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 bwMode="auto">
          <a:xfrm>
            <a:off x="457200" y="1371600"/>
            <a:ext cx="7543800" cy="1524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buFontTx/>
              <a:buNone/>
            </a:pPr>
            <a:r>
              <a:rPr lang="en-US" altLang="en-US" sz="2800"/>
              <a:t>	Now let’s think about births and deaths per individual,</a:t>
            </a:r>
          </a:p>
          <a:p>
            <a:pPr eaLnBrk="1" hangingPunct="1">
              <a:buFontTx/>
              <a:buNone/>
            </a:pPr>
            <a:endParaRPr lang="en-US" altLang="en-US" sz="2800"/>
          </a:p>
          <a:p>
            <a:pPr eaLnBrk="1" hangingPunct="1">
              <a:buFontTx/>
              <a:buNone/>
            </a:pPr>
            <a:endParaRPr lang="en-US" altLang="en-US" sz="2800"/>
          </a:p>
          <a:p>
            <a:pPr eaLnBrk="1" hangingPunct="1">
              <a:buFontTx/>
              <a:buNone/>
            </a:pPr>
            <a:endParaRPr lang="en-US" altLang="en-US" sz="2800"/>
          </a:p>
          <a:p>
            <a:pPr eaLnBrk="1" hangingPunct="1">
              <a:buFontTx/>
              <a:buNone/>
            </a:pPr>
            <a:endParaRPr lang="en-US" altLang="en-US" sz="2800"/>
          </a:p>
          <a:p>
            <a:pPr eaLnBrk="1" hangingPunct="1">
              <a:buFontTx/>
              <a:buNone/>
            </a:pPr>
            <a:endParaRPr lang="en-US" altLang="en-US" sz="2800"/>
          </a:p>
          <a:p>
            <a:pPr eaLnBrk="1" hangingPunct="1">
              <a:buFontTx/>
              <a:buNone/>
            </a:pPr>
            <a:endParaRPr lang="en-US" altLang="en-US" sz="2800"/>
          </a:p>
        </p:txBody>
      </p:sp>
      <p:graphicFrame>
        <p:nvGraphicFramePr>
          <p:cNvPr id="93188" name="Object 4">
            <a:extLst>
              <a:ext uri="{FF2B5EF4-FFF2-40B4-BE49-F238E27FC236}">
                <a16:creationId xmlns:a16="http://schemas.microsoft.com/office/drawing/2014/main" id="{8AD98908-E567-4643-9175-6FA20A84C863}"/>
              </a:ext>
            </a:extLst>
          </p:cNvPr>
          <p:cNvGraphicFramePr>
            <a:graphicFrameLocks noGrp="1" noChangeAspect="1"/>
          </p:cNvGraphicFramePr>
          <p:nvPr>
            <p:ph sz="quarter" idx="2"/>
          </p:nvPr>
        </p:nvGraphicFramePr>
        <p:xfrm>
          <a:off x="1447800" y="2438400"/>
          <a:ext cx="2093913" cy="2133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673100" imgH="685800" progId="Equation.3">
                  <p:embed/>
                </p:oleObj>
              </mc:Choice>
              <mc:Fallback>
                <p:oleObj name="Equation" r:id="rId3" imgW="673100" imgH="685800" progId="Equation.3">
                  <p:embed/>
                  <p:pic>
                    <p:nvPicPr>
                      <p:cNvPr id="93188" name="Object 4">
                        <a:extLst>
                          <a:ext uri="{FF2B5EF4-FFF2-40B4-BE49-F238E27FC236}">
                            <a16:creationId xmlns:a16="http://schemas.microsoft.com/office/drawing/2014/main" id="{8AD98908-E567-4643-9175-6FA20A84C86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47800" y="2438400"/>
                        <a:ext cx="2093913" cy="2133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3189" name="Object 5">
            <a:extLst>
              <a:ext uri="{FF2B5EF4-FFF2-40B4-BE49-F238E27FC236}">
                <a16:creationId xmlns:a16="http://schemas.microsoft.com/office/drawing/2014/main" id="{DA96EC04-80E0-4FAC-A245-86881163F6A3}"/>
              </a:ext>
            </a:extLst>
          </p:cNvPr>
          <p:cNvGraphicFramePr>
            <a:graphicFrameLocks noGrp="1" noChangeAspect="1"/>
          </p:cNvGraphicFramePr>
          <p:nvPr>
            <p:ph sz="quarter" idx="3"/>
          </p:nvPr>
        </p:nvGraphicFramePr>
        <p:xfrm>
          <a:off x="4941888" y="2362200"/>
          <a:ext cx="2144712" cy="2105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72808" imgH="660113" progId="Equation.3">
                  <p:embed/>
                </p:oleObj>
              </mc:Choice>
              <mc:Fallback>
                <p:oleObj name="Equation" r:id="rId5" imgW="672808" imgH="660113" progId="Equation.3">
                  <p:embed/>
                  <p:pic>
                    <p:nvPicPr>
                      <p:cNvPr id="93189" name="Object 5">
                        <a:extLst>
                          <a:ext uri="{FF2B5EF4-FFF2-40B4-BE49-F238E27FC236}">
                            <a16:creationId xmlns:a16="http://schemas.microsoft.com/office/drawing/2014/main" id="{DA96EC04-80E0-4FAC-A245-86881163F6A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41888" y="2362200"/>
                        <a:ext cx="2144712" cy="2105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3190" name="Date Placeholder 11">
            <a:extLst>
              <a:ext uri="{FF2B5EF4-FFF2-40B4-BE49-F238E27FC236}">
                <a16:creationId xmlns:a16="http://schemas.microsoft.com/office/drawing/2014/main" id="{D8257014-8C9C-4F83-9191-A6E934D1A2CE}"/>
              </a:ext>
            </a:extLst>
          </p:cNvPr>
          <p:cNvSpPr>
            <a:spLocks noGrp="1"/>
          </p:cNvSpPr>
          <p:nvPr>
            <p:ph type="dt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/>
              <a:t>8/15/2024</a:t>
            </a:r>
          </a:p>
        </p:txBody>
      </p:sp>
      <p:sp>
        <p:nvSpPr>
          <p:cNvPr id="93191" name="Footer Placeholder 12">
            <a:extLst>
              <a:ext uri="{FF2B5EF4-FFF2-40B4-BE49-F238E27FC236}">
                <a16:creationId xmlns:a16="http://schemas.microsoft.com/office/drawing/2014/main" id="{7B63A042-215F-4855-9363-E72450535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nl-NL" altLang="en-US" dirty="0"/>
              <a:t>MBE 713 FALL 2024         Instructor D.J. Die</a:t>
            </a:r>
            <a:endParaRPr lang="en-US" altLang="en-US" dirty="0"/>
          </a:p>
        </p:txBody>
      </p:sp>
      <p:sp>
        <p:nvSpPr>
          <p:cNvPr id="93192" name="Text Box 6">
            <a:extLst>
              <a:ext uri="{FF2B5EF4-FFF2-40B4-BE49-F238E27FC236}">
                <a16:creationId xmlns:a16="http://schemas.microsoft.com/office/drawing/2014/main" id="{53731DDF-3C64-4C52-9758-80EB1BB24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4876800"/>
            <a:ext cx="649287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sz="2800">
                <a:solidFill>
                  <a:srgbClr val="0000FF"/>
                </a:solidFill>
              </a:rPr>
              <a:t>b</a:t>
            </a:r>
            <a:r>
              <a:rPr lang="en-US" altLang="en-US" sz="2800" baseline="-25000">
                <a:solidFill>
                  <a:srgbClr val="0000FF"/>
                </a:solidFill>
              </a:rPr>
              <a:t>t</a:t>
            </a:r>
            <a:r>
              <a:rPr lang="en-US" altLang="en-US" sz="2800" baseline="-25000"/>
              <a:t> </a:t>
            </a:r>
            <a:r>
              <a:rPr lang="en-US" altLang="en-US" sz="2800"/>
              <a:t>and </a:t>
            </a:r>
            <a:r>
              <a:rPr lang="en-US" altLang="en-US" sz="2800">
                <a:solidFill>
                  <a:srgbClr val="0000FF"/>
                </a:solidFill>
              </a:rPr>
              <a:t>d</a:t>
            </a:r>
            <a:r>
              <a:rPr lang="en-US" altLang="en-US" sz="2800" baseline="-25000">
                <a:solidFill>
                  <a:srgbClr val="0000FF"/>
                </a:solidFill>
              </a:rPr>
              <a:t>t</a:t>
            </a:r>
            <a:r>
              <a:rPr lang="en-US" altLang="en-US" sz="2800"/>
              <a:t> are now rates per individual, per capita rates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>
            <a:extLst>
              <a:ext uri="{FF2B5EF4-FFF2-40B4-BE49-F238E27FC236}">
                <a16:creationId xmlns:a16="http://schemas.microsoft.com/office/drawing/2014/main" id="{210C8DE9-A11E-46AB-9B9B-1ADAFDD238A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274638"/>
            <a:ext cx="8991600" cy="86836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b="1" dirty="0"/>
              <a:t>Per capita change in abundance</a:t>
            </a:r>
          </a:p>
        </p:txBody>
      </p:sp>
      <p:graphicFrame>
        <p:nvGraphicFramePr>
          <p:cNvPr id="99331" name="Object 3">
            <a:extLst>
              <a:ext uri="{FF2B5EF4-FFF2-40B4-BE49-F238E27FC236}">
                <a16:creationId xmlns:a16="http://schemas.microsoft.com/office/drawing/2014/main" id="{F0E60750-E7C1-4C23-9070-F7FD0C0FAD82}"/>
              </a:ext>
            </a:extLst>
          </p:cNvPr>
          <p:cNvGraphicFramePr>
            <a:graphicFrameLocks noGrp="1" noChangeAspect="1"/>
          </p:cNvGraphicFramePr>
          <p:nvPr>
            <p:ph sz="half" idx="1"/>
          </p:nvPr>
        </p:nvGraphicFramePr>
        <p:xfrm>
          <a:off x="1066800" y="1524000"/>
          <a:ext cx="2743200" cy="715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876300" imgH="228600" progId="Equation.3">
                  <p:embed/>
                </p:oleObj>
              </mc:Choice>
              <mc:Fallback>
                <p:oleObj name="Equation" r:id="rId3" imgW="876300" imgH="228600" progId="Equation.3">
                  <p:embed/>
                  <p:pic>
                    <p:nvPicPr>
                      <p:cNvPr id="99331" name="Object 3">
                        <a:extLst>
                          <a:ext uri="{FF2B5EF4-FFF2-40B4-BE49-F238E27FC236}">
                            <a16:creationId xmlns:a16="http://schemas.microsoft.com/office/drawing/2014/main" id="{F0E60750-E7C1-4C23-9070-F7FD0C0FAD8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6800" y="1524000"/>
                        <a:ext cx="2743200" cy="7159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32" name="Object 4">
            <a:extLst>
              <a:ext uri="{FF2B5EF4-FFF2-40B4-BE49-F238E27FC236}">
                <a16:creationId xmlns:a16="http://schemas.microsoft.com/office/drawing/2014/main" id="{9A91B81C-8D3E-4206-BAE2-C6A40B97F587}"/>
              </a:ext>
            </a:extLst>
          </p:cNvPr>
          <p:cNvGraphicFramePr>
            <a:graphicFrameLocks noGrp="1" noChangeAspect="1"/>
          </p:cNvGraphicFramePr>
          <p:nvPr>
            <p:ph sz="quarter" idx="2"/>
          </p:nvPr>
        </p:nvGraphicFramePr>
        <p:xfrm>
          <a:off x="1146175" y="2590800"/>
          <a:ext cx="7308850" cy="1444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184400" imgH="431800" progId="Equation.3">
                  <p:embed/>
                </p:oleObj>
              </mc:Choice>
              <mc:Fallback>
                <p:oleObj name="Equation" r:id="rId5" imgW="2184400" imgH="431800" progId="Equation.3">
                  <p:embed/>
                  <p:pic>
                    <p:nvPicPr>
                      <p:cNvPr id="99332" name="Object 4">
                        <a:extLst>
                          <a:ext uri="{FF2B5EF4-FFF2-40B4-BE49-F238E27FC236}">
                            <a16:creationId xmlns:a16="http://schemas.microsoft.com/office/drawing/2014/main" id="{9A91B81C-8D3E-4206-BAE2-C6A40B97F58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6175" y="2590800"/>
                        <a:ext cx="7308850" cy="1444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99333" name="Object 5">
                <a:extLst>
                  <a:ext uri="{FF2B5EF4-FFF2-40B4-BE49-F238E27FC236}">
                    <a16:creationId xmlns:a16="http://schemas.microsoft.com/office/drawing/2014/main" id="{4639B52E-64DC-4090-93B7-53FB09A79189}"/>
                  </a:ext>
                </a:extLst>
              </p:cNvPr>
              <p:cNvSpPr txBox="1"/>
              <p:nvPr>
                <p:ph sz="quarter" idx="3"/>
              </p:nvPr>
            </p:nvSpPr>
            <p:spPr bwMode="auto">
              <a:xfrm>
                <a:off x="990600" y="4343400"/>
                <a:ext cx="4495800" cy="19812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den>
                      </m:f>
                      <m:r>
                        <a:rPr lang="en-US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 </m:t>
                      </m:r>
                      <m:r>
                        <a:rPr lang="en-US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  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 </m:t>
                          </m:r>
                        </m:sub>
                      </m:sSub>
                      <m:r>
                        <a:rPr lang="en-US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 </m:t>
                      </m:r>
                      <m:r>
                        <a:rPr lang="en-US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  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99333" name="Object 5">
                <a:extLst>
                  <a:ext uri="{FF2B5EF4-FFF2-40B4-BE49-F238E27FC236}">
                    <a16:creationId xmlns:a16="http://schemas.microsoft.com/office/drawing/2014/main" id="{4639B52E-64DC-4090-93B7-53FB09A791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ph sz="quarter" idx="3"/>
              </p:nvPr>
            </p:nvSpPr>
            <p:spPr bwMode="auto">
              <a:xfrm>
                <a:off x="990600" y="4343400"/>
                <a:ext cx="4495800" cy="1981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334" name="Date Placeholder 11">
            <a:extLst>
              <a:ext uri="{FF2B5EF4-FFF2-40B4-BE49-F238E27FC236}">
                <a16:creationId xmlns:a16="http://schemas.microsoft.com/office/drawing/2014/main" id="{AE776842-5594-403D-A950-F9ABDC48C4F1}"/>
              </a:ext>
            </a:extLst>
          </p:cNvPr>
          <p:cNvSpPr>
            <a:spLocks noGrp="1"/>
          </p:cNvSpPr>
          <p:nvPr>
            <p:ph type="dt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/>
              <a:t>8/15/2024</a:t>
            </a:r>
          </a:p>
        </p:txBody>
      </p:sp>
      <p:sp>
        <p:nvSpPr>
          <p:cNvPr id="99335" name="Footer Placeholder 12">
            <a:extLst>
              <a:ext uri="{FF2B5EF4-FFF2-40B4-BE49-F238E27FC236}">
                <a16:creationId xmlns:a16="http://schemas.microsoft.com/office/drawing/2014/main" id="{B0A14B3E-73B9-4B31-BCF3-E805422C6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nl-NL" altLang="en-US" dirty="0"/>
              <a:t>MBE 713 FALL 2024         Instructor D.J. Die</a:t>
            </a:r>
            <a:endParaRPr lang="en-US" altLang="en-US" dirty="0"/>
          </a:p>
        </p:txBody>
      </p:sp>
      <p:sp>
        <p:nvSpPr>
          <p:cNvPr id="99336" name="Text Box 6">
            <a:extLst>
              <a:ext uri="{FF2B5EF4-FFF2-40B4-BE49-F238E27FC236}">
                <a16:creationId xmlns:a16="http://schemas.microsoft.com/office/drawing/2014/main" id="{E3DC5C0D-CA80-4C28-9A2E-10B5382CE6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4572000"/>
            <a:ext cx="3124200" cy="82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sz="2400" dirty="0"/>
              <a:t>These are rates</a:t>
            </a:r>
          </a:p>
          <a:p>
            <a:pPr eaLnBrk="1" hangingPunct="1"/>
            <a:r>
              <a:rPr lang="en-US" altLang="en-US" sz="2400" dirty="0"/>
              <a:t>they have no units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5">
            <a:extLst>
              <a:ext uri="{FF2B5EF4-FFF2-40B4-BE49-F238E27FC236}">
                <a16:creationId xmlns:a16="http://schemas.microsoft.com/office/drawing/2014/main" id="{F92B8C42-09BD-423F-A859-FD5D4BE66F8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55416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eaLnBrk="1" hangingPunct="1"/>
            <a:r>
              <a:rPr lang="en-US" altLang="en-US" sz="3200" b="1" dirty="0"/>
              <a:t>Change in abundance expressed as a function of per capita rates and abundance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1379" name="Object 4">
                <a:extLst>
                  <a:ext uri="{FF2B5EF4-FFF2-40B4-BE49-F238E27FC236}">
                    <a16:creationId xmlns:a16="http://schemas.microsoft.com/office/drawing/2014/main" id="{1016852B-9D66-48B9-9D26-3FC8BDEBDFD9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 bwMode="auto">
              <a:xfrm>
                <a:off x="917575" y="2514600"/>
                <a:ext cx="6545263" cy="88582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sz="3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6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sz="3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</m:t>
                      </m:r>
                      <m:r>
                        <a:rPr lang="en-US" sz="36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3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3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3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3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3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 = </m:t>
                      </m:r>
                      <m:sSub>
                        <m:sSubPr>
                          <m:ctrlPr>
                            <a:rPr lang="en-US" sz="3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3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3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3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3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3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3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1379" name="Object 4">
                <a:extLst>
                  <a:ext uri="{FF2B5EF4-FFF2-40B4-BE49-F238E27FC236}">
                    <a16:creationId xmlns:a16="http://schemas.microsoft.com/office/drawing/2014/main" id="{1016852B-9D66-48B9-9D26-3FC8BDEBDF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917575" y="2514600"/>
                <a:ext cx="6545263" cy="88582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380" name="Date Placeholder 8">
            <a:extLst>
              <a:ext uri="{FF2B5EF4-FFF2-40B4-BE49-F238E27FC236}">
                <a16:creationId xmlns:a16="http://schemas.microsoft.com/office/drawing/2014/main" id="{4D7D3E7A-1420-4144-9F4D-0B4788D35A10}"/>
              </a:ext>
            </a:extLst>
          </p:cNvPr>
          <p:cNvSpPr>
            <a:spLocks noGrp="1"/>
          </p:cNvSpPr>
          <p:nvPr>
            <p:ph type="dt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/>
              <a:t>8/15/2024</a:t>
            </a:r>
          </a:p>
        </p:txBody>
      </p:sp>
      <p:sp>
        <p:nvSpPr>
          <p:cNvPr id="101381" name="Footer Placeholder 9">
            <a:extLst>
              <a:ext uri="{FF2B5EF4-FFF2-40B4-BE49-F238E27FC236}">
                <a16:creationId xmlns:a16="http://schemas.microsoft.com/office/drawing/2014/main" id="{D4E075BC-7916-4144-854F-F6F5DBA24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/>
              <a:t>MBE 713 FALL 2024         Instructor D.J. Die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2">
            <a:extLst>
              <a:ext uri="{FF2B5EF4-FFF2-40B4-BE49-F238E27FC236}">
                <a16:creationId xmlns:a16="http://schemas.microsoft.com/office/drawing/2014/main" id="{B8959A18-DB77-4801-A9BA-6D0D3A5182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b="1" dirty="0"/>
              <a:t>Instantaneous rates</a:t>
            </a:r>
          </a:p>
        </p:txBody>
      </p:sp>
      <p:sp>
        <p:nvSpPr>
          <p:cNvPr id="105475" name="Rectangle 3">
            <a:extLst>
              <a:ext uri="{FF2B5EF4-FFF2-40B4-BE49-F238E27FC236}">
                <a16:creationId xmlns:a16="http://schemas.microsoft.com/office/drawing/2014/main" id="{2107500E-190A-4191-BA1B-A210E5B4D547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 bwMode="auto">
          <a:xfrm>
            <a:off x="457200" y="990600"/>
            <a:ext cx="7620000" cy="46482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buFontTx/>
              <a:buNone/>
            </a:pPr>
            <a:r>
              <a:rPr lang="en-US" altLang="en-US" sz="2800" dirty="0"/>
              <a:t>If   =    </a:t>
            </a:r>
            <a:r>
              <a:rPr lang="en-US" altLang="en-US" sz="2800" dirty="0">
                <a:solidFill>
                  <a:srgbClr val="0000FF"/>
                </a:solidFill>
              </a:rPr>
              <a:t>t  </a:t>
            </a:r>
            <a:r>
              <a:rPr lang="en-US" altLang="en-US" sz="2800" dirty="0">
                <a:solidFill>
                  <a:srgbClr val="0000FF"/>
                </a:solidFill>
                <a:cs typeface="Arial" panose="020B0604020202020204" pitchFamily="34" charset="0"/>
              </a:rPr>
              <a:t>→</a:t>
            </a:r>
            <a:r>
              <a:rPr lang="en-US" altLang="en-US" sz="2800" dirty="0">
                <a:solidFill>
                  <a:srgbClr val="0000FF"/>
                </a:solidFill>
              </a:rPr>
              <a:t> 0</a:t>
            </a:r>
          </a:p>
          <a:p>
            <a:pPr eaLnBrk="1" hangingPunct="1">
              <a:buFontTx/>
              <a:buNone/>
            </a:pPr>
            <a:endParaRPr lang="en-US" altLang="en-US" sz="2800" dirty="0">
              <a:solidFill>
                <a:srgbClr val="0000FF"/>
              </a:solidFill>
            </a:endParaRPr>
          </a:p>
          <a:p>
            <a:pPr eaLnBrk="1" hangingPunct="1">
              <a:buFontTx/>
              <a:buNone/>
            </a:pPr>
            <a:endParaRPr lang="en-US" altLang="en-US" sz="2800" dirty="0"/>
          </a:p>
          <a:p>
            <a:pPr eaLnBrk="1" hangingPunct="1">
              <a:buFontTx/>
              <a:buNone/>
            </a:pPr>
            <a:r>
              <a:rPr lang="en-US" altLang="en-US" sz="2800" dirty="0"/>
              <a:t>								</a:t>
            </a:r>
          </a:p>
          <a:p>
            <a:pPr eaLnBrk="1" hangingPunct="1">
              <a:buFontTx/>
              <a:buNone/>
            </a:pPr>
            <a:endParaRPr lang="en-US" altLang="en-US" sz="2800" dirty="0"/>
          </a:p>
          <a:p>
            <a:pPr eaLnBrk="1" hangingPunct="1">
              <a:buFontTx/>
              <a:buNone/>
            </a:pPr>
            <a:endParaRPr lang="en-US" altLang="en-US" sz="2800" dirty="0"/>
          </a:p>
          <a:p>
            <a:pPr eaLnBrk="1" hangingPunct="1">
              <a:buFontTx/>
              <a:buNone/>
            </a:pPr>
            <a:r>
              <a:rPr lang="en-US" altLang="en-US" sz="2800" dirty="0"/>
              <a:t>Where </a:t>
            </a:r>
            <a:r>
              <a:rPr lang="en-US" altLang="en-US" sz="2800" i="1" dirty="0">
                <a:solidFill>
                  <a:srgbClr val="0000FF"/>
                </a:solidFill>
              </a:rPr>
              <a:t>r</a:t>
            </a:r>
            <a:r>
              <a:rPr lang="en-US" altLang="en-US" sz="2800" dirty="0"/>
              <a:t> is the </a:t>
            </a:r>
            <a:r>
              <a:rPr lang="en-US" altLang="en-US" sz="2800" i="1" dirty="0">
                <a:solidFill>
                  <a:srgbClr val="FF0000"/>
                </a:solidFill>
              </a:rPr>
              <a:t>population growth rate</a:t>
            </a:r>
          </a:p>
          <a:p>
            <a:pPr>
              <a:buNone/>
            </a:pPr>
            <a:r>
              <a:rPr lang="en-US" altLang="en-US" sz="2800" dirty="0"/>
              <a:t>Sometimes called </a:t>
            </a:r>
            <a:r>
              <a:rPr lang="en-US" altLang="en-US" sz="2800" i="1" dirty="0">
                <a:solidFill>
                  <a:srgbClr val="0000FF"/>
                </a:solidFill>
              </a:rPr>
              <a:t>r</a:t>
            </a:r>
            <a:r>
              <a:rPr lang="en-US" altLang="en-US" sz="2800" i="1" baseline="-25000" dirty="0">
                <a:solidFill>
                  <a:srgbClr val="0000FF"/>
                </a:solidFill>
              </a:rPr>
              <a:t>m</a:t>
            </a:r>
            <a:r>
              <a:rPr lang="en-US" altLang="en-US" sz="2800" dirty="0"/>
              <a:t> to indicate that it is the fundamental parameter, not realized value </a:t>
            </a:r>
            <a:endParaRPr lang="en-US" altLang="en-US" sz="2800" i="1" dirty="0">
              <a:solidFill>
                <a:srgbClr val="FF0000"/>
              </a:solidFill>
            </a:endParaRPr>
          </a:p>
          <a:p>
            <a:pPr eaLnBrk="1" hangingPunct="1">
              <a:buFontTx/>
              <a:buNone/>
            </a:pPr>
            <a:r>
              <a:rPr lang="en-US" altLang="en-US" sz="2800" dirty="0"/>
              <a:t>Now </a:t>
            </a:r>
            <a:r>
              <a:rPr lang="en-US" altLang="en-US" sz="2800" i="1" dirty="0">
                <a:solidFill>
                  <a:srgbClr val="0000FF"/>
                </a:solidFill>
              </a:rPr>
              <a:t>r</a:t>
            </a:r>
            <a:r>
              <a:rPr lang="en-US" altLang="en-US" sz="2800" i="1" dirty="0"/>
              <a:t>, </a:t>
            </a:r>
            <a:r>
              <a:rPr lang="en-US" altLang="en-US" sz="2800" i="1" dirty="0">
                <a:solidFill>
                  <a:srgbClr val="0000FF"/>
                </a:solidFill>
              </a:rPr>
              <a:t>b </a:t>
            </a:r>
            <a:r>
              <a:rPr lang="en-US" altLang="en-US" sz="2800" dirty="0"/>
              <a:t>and </a:t>
            </a:r>
            <a:r>
              <a:rPr lang="en-US" altLang="en-US" sz="2800" i="1" dirty="0">
                <a:solidFill>
                  <a:srgbClr val="0000FF"/>
                </a:solidFill>
              </a:rPr>
              <a:t>d</a:t>
            </a:r>
            <a:r>
              <a:rPr lang="en-US" altLang="en-US" sz="2800" dirty="0">
                <a:solidFill>
                  <a:srgbClr val="FF0000"/>
                </a:solidFill>
              </a:rPr>
              <a:t> </a:t>
            </a:r>
            <a:r>
              <a:rPr lang="en-US" altLang="en-US" sz="2800" dirty="0"/>
              <a:t>are </a:t>
            </a:r>
            <a:r>
              <a:rPr lang="en-US" altLang="en-US" sz="2800" dirty="0">
                <a:solidFill>
                  <a:srgbClr val="FF0000"/>
                </a:solidFill>
              </a:rPr>
              <a:t>instantaneous</a:t>
            </a:r>
            <a:r>
              <a:rPr lang="en-US" altLang="en-US" sz="2800" dirty="0"/>
              <a:t> rates</a:t>
            </a:r>
          </a:p>
        </p:txBody>
      </p:sp>
      <p:graphicFrame>
        <p:nvGraphicFramePr>
          <p:cNvPr id="105476" name="Object 4">
            <a:extLst>
              <a:ext uri="{FF2B5EF4-FFF2-40B4-BE49-F238E27FC236}">
                <a16:creationId xmlns:a16="http://schemas.microsoft.com/office/drawing/2014/main" id="{BE645804-9E9B-4088-8BA8-5B8D98F0ECFC}"/>
              </a:ext>
            </a:extLst>
          </p:cNvPr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2376591631"/>
              </p:ext>
            </p:extLst>
          </p:nvPr>
        </p:nvGraphicFramePr>
        <p:xfrm>
          <a:off x="1066800" y="1627188"/>
          <a:ext cx="4114800" cy="1149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409088" imgH="393529" progId="Equation.3">
                  <p:embed/>
                </p:oleObj>
              </mc:Choice>
              <mc:Fallback>
                <p:oleObj name="Equation" r:id="rId3" imgW="1409088" imgH="393529" progId="Equation.3">
                  <p:embed/>
                  <p:pic>
                    <p:nvPicPr>
                      <p:cNvPr id="105476" name="Object 4">
                        <a:extLst>
                          <a:ext uri="{FF2B5EF4-FFF2-40B4-BE49-F238E27FC236}">
                            <a16:creationId xmlns:a16="http://schemas.microsoft.com/office/drawing/2014/main" id="{BE645804-9E9B-4088-8BA8-5B8D98F0ECF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6800" y="1627188"/>
                        <a:ext cx="4114800" cy="1149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5477" name="Object 5">
            <a:extLst>
              <a:ext uri="{FF2B5EF4-FFF2-40B4-BE49-F238E27FC236}">
                <a16:creationId xmlns:a16="http://schemas.microsoft.com/office/drawing/2014/main" id="{3C5D1360-02E4-4027-90A4-D7D760564747}"/>
              </a:ext>
            </a:extLst>
          </p:cNvPr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2169182998"/>
              </p:ext>
            </p:extLst>
          </p:nvPr>
        </p:nvGraphicFramePr>
        <p:xfrm>
          <a:off x="1963738" y="2743200"/>
          <a:ext cx="2166937" cy="1292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60113" imgH="393529" progId="Equation.3">
                  <p:embed/>
                </p:oleObj>
              </mc:Choice>
              <mc:Fallback>
                <p:oleObj name="Equation" r:id="rId5" imgW="660113" imgH="393529" progId="Equation.3">
                  <p:embed/>
                  <p:pic>
                    <p:nvPicPr>
                      <p:cNvPr id="105477" name="Object 5">
                        <a:extLst>
                          <a:ext uri="{FF2B5EF4-FFF2-40B4-BE49-F238E27FC236}">
                            <a16:creationId xmlns:a16="http://schemas.microsoft.com/office/drawing/2014/main" id="{3C5D1360-02E4-4027-90A4-D7D76056474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3738" y="2743200"/>
                        <a:ext cx="2166937" cy="1292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5478" name="Date Placeholder 10">
            <a:extLst>
              <a:ext uri="{FF2B5EF4-FFF2-40B4-BE49-F238E27FC236}">
                <a16:creationId xmlns:a16="http://schemas.microsoft.com/office/drawing/2014/main" id="{CC9F4695-F1CA-4F0F-8E34-AA052F5EA575}"/>
              </a:ext>
            </a:extLst>
          </p:cNvPr>
          <p:cNvSpPr>
            <a:spLocks noGrp="1"/>
          </p:cNvSpPr>
          <p:nvPr>
            <p:ph type="dt" sz="quarter" idx="10"/>
          </p:nvPr>
        </p:nvSpPr>
        <p:spPr bwMode="auto">
          <a:xfrm>
            <a:off x="404327" y="6278562"/>
            <a:ext cx="2133600" cy="4762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/>
              <a:t>8/15/2024</a:t>
            </a:r>
          </a:p>
        </p:txBody>
      </p:sp>
      <p:sp>
        <p:nvSpPr>
          <p:cNvPr id="105479" name="Footer Placeholder 11">
            <a:extLst>
              <a:ext uri="{FF2B5EF4-FFF2-40B4-BE49-F238E27FC236}">
                <a16:creationId xmlns:a16="http://schemas.microsoft.com/office/drawing/2014/main" id="{2700E137-8269-4D4A-B4A1-95C30ECFF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3047206" y="6182146"/>
            <a:ext cx="2895600" cy="4762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nl-NL" altLang="en-US" dirty="0"/>
              <a:t>MBE 713 FALL 2024         Instructor D.J. Die</a:t>
            </a:r>
            <a:endParaRPr lang="en-US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Rectangle 2">
            <a:extLst>
              <a:ext uri="{FF2B5EF4-FFF2-40B4-BE49-F238E27FC236}">
                <a16:creationId xmlns:a16="http://schemas.microsoft.com/office/drawing/2014/main" id="{32D41F02-8E01-46BD-8EF5-B3CCDD62C5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b="1" dirty="0"/>
              <a:t>Population growth rates</a:t>
            </a:r>
          </a:p>
        </p:txBody>
      </p:sp>
      <p:sp>
        <p:nvSpPr>
          <p:cNvPr id="119811" name="Rectangle 3">
            <a:extLst>
              <a:ext uri="{FF2B5EF4-FFF2-40B4-BE49-F238E27FC236}">
                <a16:creationId xmlns:a16="http://schemas.microsoft.com/office/drawing/2014/main" id="{9AEC5CAD-12AE-4030-821F-6315D6FA24A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7200" y="2057400"/>
            <a:ext cx="8229600" cy="3429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/>
              <a:t>If r is positive  the population increases</a:t>
            </a:r>
          </a:p>
          <a:p>
            <a:pPr eaLnBrk="1" hangingPunct="1"/>
            <a:endParaRPr lang="en-US" altLang="en-US"/>
          </a:p>
          <a:p>
            <a:pPr eaLnBrk="1" hangingPunct="1"/>
            <a:r>
              <a:rPr lang="en-US" altLang="en-US"/>
              <a:t>If r = 0 population is stationary</a:t>
            </a:r>
          </a:p>
          <a:p>
            <a:pPr eaLnBrk="1" hangingPunct="1"/>
            <a:endParaRPr lang="en-US" altLang="en-US"/>
          </a:p>
          <a:p>
            <a:pPr eaLnBrk="1" hangingPunct="1"/>
            <a:r>
              <a:rPr lang="en-US" altLang="en-US"/>
              <a:t>If r is negative population decreases</a:t>
            </a:r>
          </a:p>
          <a:p>
            <a:pPr eaLnBrk="1" hangingPunct="1"/>
            <a:endParaRPr lang="en-US" altLang="en-US"/>
          </a:p>
        </p:txBody>
      </p:sp>
      <p:sp>
        <p:nvSpPr>
          <p:cNvPr id="119812" name="Date Placeholder 8">
            <a:extLst>
              <a:ext uri="{FF2B5EF4-FFF2-40B4-BE49-F238E27FC236}">
                <a16:creationId xmlns:a16="http://schemas.microsoft.com/office/drawing/2014/main" id="{19CE6DDA-4DA1-4991-B19A-748C84B5DECE}"/>
              </a:ext>
            </a:extLst>
          </p:cNvPr>
          <p:cNvSpPr>
            <a:spLocks noGrp="1"/>
          </p:cNvSpPr>
          <p:nvPr>
            <p:ph type="dt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/>
              <a:t>8/15/2024</a:t>
            </a:r>
          </a:p>
        </p:txBody>
      </p:sp>
      <p:sp>
        <p:nvSpPr>
          <p:cNvPr id="119813" name="Footer Placeholder 9">
            <a:extLst>
              <a:ext uri="{FF2B5EF4-FFF2-40B4-BE49-F238E27FC236}">
                <a16:creationId xmlns:a16="http://schemas.microsoft.com/office/drawing/2014/main" id="{CDB2C065-CDC1-4F10-BBFE-6D06DB87F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/>
              <a:t>MBE 713 FALL 2024         Instructor D.J. Die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2">
            <a:extLst>
              <a:ext uri="{FF2B5EF4-FFF2-40B4-BE49-F238E27FC236}">
                <a16:creationId xmlns:a16="http://schemas.microsoft.com/office/drawing/2014/main" id="{DDB703DF-67CF-42C4-8D8E-955E4D00F8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b="1" dirty="0"/>
              <a:t>The analytical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619" name="Object 3">
                <a:extLst>
                  <a:ext uri="{FF2B5EF4-FFF2-40B4-BE49-F238E27FC236}">
                    <a16:creationId xmlns:a16="http://schemas.microsoft.com/office/drawing/2014/main" id="{49B706E0-0423-4E28-8245-B27AF33E4E5B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 bwMode="auto">
              <a:xfrm>
                <a:off x="457200" y="914400"/>
                <a:ext cx="8229600" cy="47799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2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𝑑𝑁</m:t>
                          </m:r>
                        </m:num>
                        <m:den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      </m:t>
                      </m:r>
                      <m:nary>
                        <m:naryPr>
                          <m:limLoc m:val="undOvr"/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𝑁𝑜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𝑁𝑡</m:t>
                          </m:r>
                        </m:sup>
                        <m:e>
                          <m:f>
                            <m:fPr>
                              <m:ctrlP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nary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𝑑𝑁</m:t>
                      </m:r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 </m:t>
                          </m:r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br>
                  <a:rPr lang="en-US" sz="32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sz="32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𝐿𝑛</m:t>
                      </m:r>
                      <m:sSub>
                        <m:sSub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𝐿𝑛</m:t>
                      </m:r>
                      <m:sSub>
                        <m:sSub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 = </m:t>
                      </m:r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𝑟𝑡</m:t>
                      </m:r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 =</m:t>
                      </m:r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𝐿𝑛</m:t>
                      </m:r>
                      <m:f>
                        <m:f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br>
                  <a:rPr lang="en-US" sz="32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sz="32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 = </m:t>
                      </m:r>
                      <m:sSup>
                        <m:sSup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𝑟𝑡</m:t>
                          </m:r>
                        </m:sup>
                      </m:sSup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    </m:t>
                      </m:r>
                      <m:sSub>
                        <m:sSub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 = </m:t>
                      </m:r>
                      <m:sSub>
                        <m:sSub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𝑟𝑡</m:t>
                          </m:r>
                        </m:sup>
                      </m:sSup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1619" name="Object 3">
                <a:extLst>
                  <a:ext uri="{FF2B5EF4-FFF2-40B4-BE49-F238E27FC236}">
                    <a16:creationId xmlns:a16="http://schemas.microsoft.com/office/drawing/2014/main" id="{49B706E0-0423-4E28-8245-B27AF33E4E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457200" y="914400"/>
                <a:ext cx="8229600" cy="47799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1620" name="Date Placeholder 8">
            <a:extLst>
              <a:ext uri="{FF2B5EF4-FFF2-40B4-BE49-F238E27FC236}">
                <a16:creationId xmlns:a16="http://schemas.microsoft.com/office/drawing/2014/main" id="{FD59AFEB-9608-4F74-8C80-677E2BD6E84C}"/>
              </a:ext>
            </a:extLst>
          </p:cNvPr>
          <p:cNvSpPr>
            <a:spLocks noGrp="1"/>
          </p:cNvSpPr>
          <p:nvPr>
            <p:ph type="dt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/>
              <a:t>8/15/2024</a:t>
            </a:r>
          </a:p>
        </p:txBody>
      </p:sp>
      <p:sp>
        <p:nvSpPr>
          <p:cNvPr id="111621" name="Footer Placeholder 9">
            <a:extLst>
              <a:ext uri="{FF2B5EF4-FFF2-40B4-BE49-F238E27FC236}">
                <a16:creationId xmlns:a16="http://schemas.microsoft.com/office/drawing/2014/main" id="{29E24E40-4095-4AE0-9720-C6129EF39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/>
              <a:t>MBE 713 FALL 2024         Instructor D.J. Die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7444E-8AF1-DD29-2548-16977296D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Discrete vs. continuous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1747AE75-A07F-362D-56BE-BB18BB2C1718}"/>
                  </a:ext>
                </a:extLst>
              </p:cNvPr>
              <p:cNvSpPr>
                <a:spLocks noGrp="1"/>
              </p:cNvSpPr>
              <p:nvPr>
                <p:ph type="body" sz="half" idx="1"/>
              </p:nvPr>
            </p:nvSpPr>
            <p:spPr>
              <a:xfrm>
                <a:off x="152400" y="1600200"/>
                <a:ext cx="4343400" cy="4525963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Exponential growth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 = 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𝑟𝑡</m:t>
                        </m:r>
                      </m:sup>
                    </m:sSup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from differential equation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𝑑𝑁</m:t>
                        </m:r>
                      </m:num>
                      <m:den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𝑟𝑁</m:t>
                    </m:r>
                  </m:oMath>
                </a14:m>
                <a:endParaRPr lang="en-US" dirty="0">
                  <a:solidFill>
                    <a:srgbClr val="000000"/>
                  </a:solidFill>
                </a:endParaRPr>
              </a:p>
              <a:p>
                <a:r>
                  <a:rPr lang="en-US" dirty="0"/>
                  <a:t>Assumes that the births and deaths happen at a constant rate over time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1747AE75-A07F-362D-56BE-BB18BB2C17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1"/>
              </p:nvPr>
            </p:nvSpPr>
            <p:spPr>
              <a:xfrm>
                <a:off x="152400" y="1600200"/>
                <a:ext cx="4343400" cy="4525963"/>
              </a:xfrm>
              <a:blipFill>
                <a:blip r:embed="rId2"/>
                <a:stretch>
                  <a:fillRect l="-3506" t="-1752" r="-5330" b="-16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2FFDA58-39D7-24FA-72B8-F25660E00854}"/>
                  </a:ext>
                </a:extLst>
              </p:cNvPr>
              <p:cNvSpPr>
                <a:spLocks noGrp="1"/>
              </p:cNvSpPr>
              <p:nvPr>
                <p:ph sz="quarter" idx="2"/>
              </p:nvPr>
            </p:nvSpPr>
            <p:spPr>
              <a:xfrm>
                <a:off x="4343400" y="1600200"/>
                <a:ext cx="4648200" cy="4525962"/>
              </a:xfrm>
            </p:spPr>
            <p:txBody>
              <a:bodyPr/>
              <a:lstStyle/>
              <a:p>
                <a:r>
                  <a:rPr lang="en-US" dirty="0"/>
                  <a:t>Annual growth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from difference equation </a:t>
                </a:r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m:rPr>
                        <m:sty m:val="p"/>
                      </m:rP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 =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</a:t>
                </a:r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Sometimes called geometric growth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2FFDA58-39D7-24FA-72B8-F25660E008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2"/>
              </p:nvPr>
            </p:nvSpPr>
            <p:spPr>
              <a:xfrm>
                <a:off x="4343400" y="1600200"/>
                <a:ext cx="4648200" cy="4525962"/>
              </a:xfrm>
              <a:blipFill>
                <a:blip r:embed="rId3"/>
                <a:stretch>
                  <a:fillRect l="-3018" t="-17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8121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290DC-7D70-97F7-5FF5-2A2BCDD85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Discrete vs. continuous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3935EC4B-AC27-8586-6509-D0180680911C}"/>
                  </a:ext>
                </a:extLst>
              </p:cNvPr>
              <p:cNvSpPr>
                <a:spLocks noGrp="1"/>
              </p:cNvSpPr>
              <p:nvPr>
                <p:ph type="body" sz="half" idx="1"/>
              </p:nvPr>
            </p:nvSpPr>
            <p:spPr>
              <a:xfrm>
                <a:off x="457200" y="1600200"/>
                <a:ext cx="8001000" cy="4525963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p>
                    </m:sSup>
                  </m:oMath>
                </a14:m>
                <a:r>
                  <a:rPr lang="en-US" dirty="0"/>
                  <a:t> 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</m:t>
                    </m:r>
                    <m:r>
                      <a:rPr lang="en-US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log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</m:d>
                  </m:oMath>
                </a14:m>
                <a:r>
                  <a:rPr lang="en-US" dirty="0"/>
                  <a:t>  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is the integral of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𝑑𝑁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en-US" dirty="0"/>
                  <a:t> over one year of births and deaths</a:t>
                </a:r>
              </a:p>
              <a:p>
                <a:r>
                  <a:rPr lang="en-US" dirty="0"/>
                  <a:t>The annual time step version is often used because animals have a breeding season so births and deaths are not consistent across years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3935EC4B-AC27-8586-6509-D018068091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1"/>
              </p:nvPr>
            </p:nvSpPr>
            <p:spPr>
              <a:xfrm>
                <a:off x="457200" y="1600200"/>
                <a:ext cx="8001000" cy="4525963"/>
              </a:xfrm>
              <a:blipFill>
                <a:blip r:embed="rId2"/>
                <a:stretch>
                  <a:fillRect l="-1752" t="-17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2295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D2070-7364-4B45-2891-0E618A2CA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ECCC1A-4E6F-C454-ADC9-3310C5FCE478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dirty="0"/>
              <a:t>Geometric growth is useful for tracking short term changes in growth </a:t>
            </a:r>
          </a:p>
          <a:p>
            <a:pPr lvl="1"/>
            <a:r>
              <a:rPr lang="en-US" dirty="0"/>
              <a:t>Extrapolate current trends</a:t>
            </a:r>
          </a:p>
          <a:p>
            <a:r>
              <a:rPr lang="en-US" dirty="0"/>
              <a:t>Fisheries models more often incorporate density dependence (next week)</a:t>
            </a:r>
          </a:p>
          <a:p>
            <a:r>
              <a:rPr lang="en-US" dirty="0"/>
              <a:t>Demographic models, e.g. Leslie matrix models use exponential growth models, common for protected species. </a:t>
            </a:r>
          </a:p>
        </p:txBody>
      </p:sp>
    </p:spTree>
    <p:extLst>
      <p:ext uri="{BB962C8B-B14F-4D97-AF65-F5344CB8AC3E}">
        <p14:creationId xmlns:p14="http://schemas.microsoft.com/office/powerpoint/2010/main" val="14358439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2F1BB-3913-FB10-0C53-94185DCAF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Estimating the growth rate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2D8D9F2-96B2-D978-5721-A6B58EA6D912}"/>
                  </a:ext>
                </a:extLst>
              </p:cNvPr>
              <p:cNvSpPr>
                <a:spLocks noGrp="1"/>
              </p:cNvSpPr>
              <p:nvPr>
                <p:ph type="body" sz="half" idx="1"/>
              </p:nvPr>
            </p:nvSpPr>
            <p:spPr>
              <a:xfrm>
                <a:off x="447869" y="1417638"/>
                <a:ext cx="8001000" cy="4525963"/>
              </a:xfrm>
            </p:spPr>
            <p:txBody>
              <a:bodyPr/>
              <a:lstStyle/>
              <a:p>
                <a:r>
                  <a:rPr lang="en-US" dirty="0"/>
                  <a:t>If you have a count of births and deaths, or their rates, you can estimate r directly.</a:t>
                </a:r>
              </a:p>
              <a:p>
                <a:r>
                  <a:rPr lang="en-US" dirty="0"/>
                  <a:t>If you have annual abundance data you can estimate the growth rate</a:t>
                </a:r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 = 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𝑟𝑡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 = 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)+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𝑟𝑡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is a linear regression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 as the intercept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 as the slope.</a:t>
                </a:r>
              </a:p>
              <a:p>
                <a:r>
                  <a:rPr lang="en-US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This assumes normally distributed random error</a:t>
                </a:r>
              </a:p>
              <a:p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2D8D9F2-96B2-D978-5721-A6B58EA6D9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1"/>
              </p:nvPr>
            </p:nvSpPr>
            <p:spPr>
              <a:xfrm>
                <a:off x="447869" y="1417638"/>
                <a:ext cx="8001000" cy="4525963"/>
              </a:xfrm>
              <a:blipFill>
                <a:blip r:embed="rId2"/>
                <a:stretch>
                  <a:fillRect l="-1904" t="-1752" r="-228" b="-22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708766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5883</TotalTime>
  <Words>605</Words>
  <Application>Microsoft Office PowerPoint</Application>
  <PresentationFormat>On-screen Show (4:3)</PresentationFormat>
  <Paragraphs>106</Paragraphs>
  <Slides>13</Slides>
  <Notes>9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Albertus Extra Bold</vt:lpstr>
      <vt:lpstr>Arial</vt:lpstr>
      <vt:lpstr>Cambria Math</vt:lpstr>
      <vt:lpstr>Default Design</vt:lpstr>
      <vt:lpstr>Equation</vt:lpstr>
      <vt:lpstr>MBE 713: Marine Population Dynamics Lecture 2: Exponential population growth</vt:lpstr>
      <vt:lpstr>Abundance Nt</vt:lpstr>
      <vt:lpstr>Changes in abundance</vt:lpstr>
      <vt:lpstr>Per capita rates</vt:lpstr>
      <vt:lpstr>Per capita change in abundance</vt:lpstr>
      <vt:lpstr>Change in abundance expressed as a function of per capita rates and abundance </vt:lpstr>
      <vt:lpstr>Instantaneous rates</vt:lpstr>
      <vt:lpstr>Population growth rates</vt:lpstr>
      <vt:lpstr>The analytical solution</vt:lpstr>
      <vt:lpstr>Discrete vs. continuous</vt:lpstr>
      <vt:lpstr>Discrete vs. continuous</vt:lpstr>
      <vt:lpstr>Applications</vt:lpstr>
      <vt:lpstr>Estimating the growth rate</vt:lpstr>
    </vt:vector>
  </TitlesOfParts>
  <Company>Wildlife Conservation Society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Rebecca Cerroni</dc:creator>
  <cp:lastModifiedBy>Babcock, Elizabeth A</cp:lastModifiedBy>
  <cp:revision>600</cp:revision>
  <dcterms:created xsi:type="dcterms:W3CDTF">2002-07-02T19:54:08Z</dcterms:created>
  <dcterms:modified xsi:type="dcterms:W3CDTF">2026-07-28T17:40:11Z</dcterms:modified>
</cp:coreProperties>
</file>