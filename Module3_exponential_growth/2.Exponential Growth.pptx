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97" r:id="rId2"/>
    <p:sldId id="315" r:id="rId3"/>
    <p:sldId id="318" r:id="rId4"/>
    <p:sldId id="320" r:id="rId5"/>
    <p:sldId id="323" r:id="rId6"/>
    <p:sldId id="324" r:id="rId7"/>
    <p:sldId id="340" r:id="rId8"/>
    <p:sldId id="333" r:id="rId9"/>
    <p:sldId id="326" r:id="rId10"/>
    <p:sldId id="329" r:id="rId11"/>
    <p:sldId id="341" r:id="rId12"/>
    <p:sldId id="336" r:id="rId13"/>
    <p:sldId id="337" r:id="rId14"/>
    <p:sldId id="338" r:id="rId15"/>
    <p:sldId id="339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590" autoAdjust="0"/>
  </p:normalViewPr>
  <p:slideViewPr>
    <p:cSldViewPr>
      <p:cViewPr>
        <p:scale>
          <a:sx n="84" d="100"/>
          <a:sy n="84" d="100"/>
        </p:scale>
        <p:origin x="552" y="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73AE5A69-18F3-490E-8CFF-2C2B7AD265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A1125913-02C1-43BC-AAC5-8446C086C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A1A7A66A-D752-4BE5-B305-0A1E7D025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16A3FF-00C4-44C9-A693-E2720C76C337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C43BD2F4-A28B-47CC-A491-BCF5B6C860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40312DBE-703C-41D3-91A9-A169022AB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9CA69C24-64CB-4A4D-A94A-6888B7ED6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956A16-25E7-4A24-B705-71BEA9B24317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C24A990C-797D-4BEE-921E-57D7F13E91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83A798A6-F672-4E0B-A467-8982E43A2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E042F7CA-4A59-45C9-850E-5E9DEA0B9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171303-38DF-498E-8B01-59A84AF3A2B6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>
            <a:extLst>
              <a:ext uri="{FF2B5EF4-FFF2-40B4-BE49-F238E27FC236}">
                <a16:creationId xmlns:a16="http://schemas.microsoft.com/office/drawing/2014/main" id="{0B3DAED0-A96E-4200-A080-A3C160CED5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>
            <a:extLst>
              <a:ext uri="{FF2B5EF4-FFF2-40B4-BE49-F238E27FC236}">
                <a16:creationId xmlns:a16="http://schemas.microsoft.com/office/drawing/2014/main" id="{81AC1320-FC79-409A-A578-30E6BA574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0356" name="Slide Number Placeholder 3">
            <a:extLst>
              <a:ext uri="{FF2B5EF4-FFF2-40B4-BE49-F238E27FC236}">
                <a16:creationId xmlns:a16="http://schemas.microsoft.com/office/drawing/2014/main" id="{2AB29698-4178-4AA4-BE5A-16DA1FC53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FD9E0C-5D94-4A58-A2EF-D4A241D88283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>
            <a:extLst>
              <a:ext uri="{FF2B5EF4-FFF2-40B4-BE49-F238E27FC236}">
                <a16:creationId xmlns:a16="http://schemas.microsoft.com/office/drawing/2014/main" id="{76D07C7D-EE8F-4F7E-90A8-7061032EFA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>
            <a:extLst>
              <a:ext uri="{FF2B5EF4-FFF2-40B4-BE49-F238E27FC236}">
                <a16:creationId xmlns:a16="http://schemas.microsoft.com/office/drawing/2014/main" id="{3B5D62D7-E66D-46C7-90B0-6F75FF809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7CA65D6F-A651-42F1-85A7-B9CF21018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EF295E-E8B7-4FD1-867A-03470609121D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417F4684-97D6-4888-84C1-BE490538FA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C77BE1F4-7D75-4A20-BCA8-5A33491FF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E2E6A30C-40CF-4218-B702-727ED19C7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85F23C-B340-4908-8442-29E4FD829268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424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B341036A-051A-4676-99FC-8D50991A9D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767208F0-8BEC-4938-B7D0-3F1C75351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93AADBF9-D9ED-4C4B-9011-0AAFFAF0D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2AE353-9C1C-493D-86E3-D87396515FA8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E90F6C4D-4F68-4347-A81D-C1F97EAF51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2E68A328-C111-4AB3-A166-53FD7AD20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759C68D6-2B09-4108-B62B-7AC62A3445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FE74CD-B4B2-46FC-A421-102693AB9B81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038600" cy="224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4038600" cy="224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B2E64BE-762A-4838-898E-57216DB74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dirty="0"/>
              <a:t>8/15/2024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DC798FD-0D54-4F91-A66E-27F5F5B351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nl-NL" dirty="0"/>
              <a:t>MBE 713 FALL 2024         Instructor D.J. Die</a:t>
            </a:r>
            <a:endParaRPr 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6D275A-A647-4B2B-A605-C7E89D7AB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(1-1) </a:t>
            </a:r>
            <a:fld id="{C2E57474-954F-4F84-8466-0A5C27B4CF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23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MBE 713: Marine Population Dynamics</a:t>
            </a:r>
            <a:br>
              <a:rPr lang="en-US" sz="3600" dirty="0"/>
            </a:br>
            <a:r>
              <a:rPr lang="en-US" sz="3600" dirty="0"/>
              <a:t>Lecture 2: Exponential population growth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7000" y="4038600"/>
            <a:ext cx="4343400" cy="1189241"/>
          </a:xfrm>
        </p:spPr>
        <p:txBody>
          <a:bodyPr/>
          <a:lstStyle/>
          <a:p>
            <a:pPr algn="l"/>
            <a:r>
              <a:rPr lang="en-US" dirty="0"/>
              <a:t>Elizabeth A. Babcock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124200" y="31242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endParaRPr lang="en-US" sz="2400">
              <a:latin typeface="Albertus Extra Bold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308BDC90-3AD2-4411-8D81-EA28B2EEE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Abundance </a:t>
            </a:r>
            <a:r>
              <a:rPr lang="en-US" altLang="en-US" b="1" dirty="0" err="1"/>
              <a:t>N</a:t>
            </a:r>
            <a:r>
              <a:rPr lang="en-US" altLang="en-US" b="1" baseline="-25000" dirty="0" err="1"/>
              <a:t>t</a:t>
            </a:r>
            <a:endParaRPr lang="en-US" altLang="en-US" b="1" baseline="-25000" dirty="0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4DB7F5A-0AF4-43A4-875B-24C311731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371600"/>
            <a:ext cx="82296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Birth, Death, Immigration, Emigration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In any given unit of time </a:t>
            </a:r>
            <a:r>
              <a:rPr lang="en-US" altLang="en-US" dirty="0">
                <a:solidFill>
                  <a:srgbClr val="0000FF"/>
                </a:solidFill>
              </a:rPr>
              <a:t>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>
                <a:solidFill>
                  <a:srgbClr val="0000FF"/>
                </a:solidFill>
              </a:rPr>
              <a:t>B</a:t>
            </a:r>
            <a:r>
              <a:rPr lang="en-US" altLang="en-US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dirty="0"/>
              <a:t> = Number of animals born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0000FF"/>
                </a:solidFill>
              </a:rPr>
              <a:t>D</a:t>
            </a:r>
            <a:r>
              <a:rPr lang="en-US" altLang="en-US" baseline="-25000" dirty="0">
                <a:solidFill>
                  <a:srgbClr val="0000FF"/>
                </a:solidFill>
              </a:rPr>
              <a:t>t</a:t>
            </a:r>
            <a:r>
              <a:rPr lang="en-US" altLang="en-US" dirty="0"/>
              <a:t> = Number of dead animals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0000FF"/>
                </a:solidFill>
              </a:rPr>
              <a:t>I</a:t>
            </a:r>
            <a:r>
              <a:rPr lang="en-US" altLang="en-US" baseline="-25000" dirty="0">
                <a:solidFill>
                  <a:srgbClr val="0000FF"/>
                </a:solidFill>
              </a:rPr>
              <a:t>t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  = Number of immigrants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solidFill>
                  <a:srgbClr val="0000FF"/>
                </a:solidFill>
              </a:rPr>
              <a:t>E</a:t>
            </a:r>
            <a:r>
              <a:rPr lang="en-US" altLang="en-US" baseline="-25000" dirty="0">
                <a:solidFill>
                  <a:srgbClr val="0000FF"/>
                </a:solidFill>
              </a:rPr>
              <a:t>t</a:t>
            </a:r>
            <a:r>
              <a:rPr lang="en-US" altLang="en-US" dirty="0"/>
              <a:t>  = Number of Emigrants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997B6EC-606B-46CA-A078-68D05BC88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Changes in abundance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1EDBC4E-B09F-4735-A7CE-382E863E4C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19200"/>
            <a:ext cx="82296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en-US" sz="2400" dirty="0" err="1">
                <a:solidFill>
                  <a:srgbClr val="0000FF"/>
                </a:solidFill>
              </a:rPr>
              <a:t>N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/>
              <a:t>= Number of fish in time </a:t>
            </a:r>
            <a:r>
              <a:rPr lang="en-US" altLang="en-US" sz="2400" dirty="0">
                <a:solidFill>
                  <a:srgbClr val="0000FF"/>
                </a:solidFill>
              </a:rPr>
              <a:t>t</a:t>
            </a: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</a:rPr>
              <a:t>N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t+1</a:t>
            </a:r>
            <a:r>
              <a:rPr lang="en-US" altLang="en-US" sz="2400" dirty="0">
                <a:solidFill>
                  <a:srgbClr val="0000FF"/>
                </a:solidFill>
              </a:rPr>
              <a:t> = </a:t>
            </a:r>
            <a:r>
              <a:rPr lang="en-US" altLang="en-US" sz="2400" dirty="0" err="1">
                <a:solidFill>
                  <a:srgbClr val="0000FF"/>
                </a:solidFill>
              </a:rPr>
              <a:t>N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+ </a:t>
            </a:r>
            <a:r>
              <a:rPr lang="en-US" altLang="en-US" sz="2400" dirty="0" err="1">
                <a:solidFill>
                  <a:srgbClr val="0000FF"/>
                </a:solidFill>
              </a:rPr>
              <a:t>B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– D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+ I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– E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</a:t>
            </a: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 dirty="0"/>
              <a:t>Change </a:t>
            </a:r>
            <a:r>
              <a:rPr lang="el-GR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Δ </a:t>
            </a:r>
            <a:r>
              <a:rPr lang="en-US" altLang="en-US" sz="2400" dirty="0"/>
              <a:t>in abundance</a:t>
            </a:r>
          </a:p>
          <a:p>
            <a:pPr eaLnBrk="1" hangingPunct="1">
              <a:buFontTx/>
              <a:buNone/>
            </a:pPr>
            <a:endParaRPr lang="en-US" altLang="en-US" sz="2400" dirty="0"/>
          </a:p>
          <a:p>
            <a:pPr eaLnBrk="1" hangingPunct="1"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</a:rPr>
              <a:t>N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t+1 </a:t>
            </a:r>
            <a:r>
              <a:rPr lang="en-US" altLang="en-US" sz="2400" dirty="0">
                <a:solidFill>
                  <a:srgbClr val="0000FF"/>
                </a:solidFill>
              </a:rPr>
              <a:t>- </a:t>
            </a:r>
            <a:r>
              <a:rPr lang="en-US" altLang="en-US" sz="2400" dirty="0" err="1">
                <a:solidFill>
                  <a:srgbClr val="0000FF"/>
                </a:solidFill>
              </a:rPr>
              <a:t>N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= </a:t>
            </a:r>
            <a:r>
              <a:rPr lang="el-GR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Δ</a:t>
            </a:r>
            <a:r>
              <a:rPr lang="en-US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0000FF"/>
                </a:solidFill>
              </a:rPr>
              <a:t>N  =  </a:t>
            </a:r>
            <a:r>
              <a:rPr lang="en-US" altLang="en-US" sz="2400" dirty="0" err="1">
                <a:solidFill>
                  <a:srgbClr val="0000FF"/>
                </a:solidFill>
              </a:rPr>
              <a:t>B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– D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+ I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– E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				</a:t>
            </a: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 dirty="0"/>
              <a:t>In a closed population</a:t>
            </a:r>
            <a:r>
              <a:rPr lang="en-US" altLang="en-US" sz="2400" dirty="0">
                <a:solidFill>
                  <a:srgbClr val="0000FF"/>
                </a:solidFill>
              </a:rPr>
              <a:t> I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 =  E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  </a:t>
            </a:r>
            <a:r>
              <a:rPr lang="en-US" altLang="en-US" sz="2400" dirty="0">
                <a:solidFill>
                  <a:srgbClr val="0000FF"/>
                </a:solidFill>
              </a:rPr>
              <a:t>= 0   </a:t>
            </a:r>
            <a:r>
              <a:rPr lang="en-US" altLang="en-US" sz="2400" dirty="0"/>
              <a:t>so</a:t>
            </a: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l-GR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Δ</a:t>
            </a:r>
            <a:r>
              <a:rPr lang="en-US" altLang="en-US" sz="240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N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 =  </a:t>
            </a:r>
            <a:r>
              <a:rPr lang="en-US" altLang="en-US" sz="2400" dirty="0" err="1">
                <a:solidFill>
                  <a:srgbClr val="0000FF"/>
                </a:solidFill>
              </a:rPr>
              <a:t>B</a:t>
            </a:r>
            <a:r>
              <a:rPr lang="en-US" altLang="en-US" sz="2400" baseline="-25000" dirty="0" err="1">
                <a:solidFill>
                  <a:srgbClr val="0000FF"/>
                </a:solidFill>
              </a:rPr>
              <a:t>t</a:t>
            </a:r>
            <a:r>
              <a:rPr lang="en-US" altLang="en-US" sz="2400" dirty="0">
                <a:solidFill>
                  <a:srgbClr val="0000FF"/>
                </a:solidFill>
              </a:rPr>
              <a:t> – D</a:t>
            </a:r>
            <a:r>
              <a:rPr lang="en-US" altLang="en-US" sz="2400" baseline="-25000" dirty="0">
                <a:solidFill>
                  <a:srgbClr val="0000FF"/>
                </a:solidFill>
              </a:rPr>
              <a:t>t						</a:t>
            </a: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5D2C2CDE-AE4D-4395-8551-EAE85885E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Per capita rates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ADD579D-2BB6-42F1-BF54-6F8BE84B74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371600"/>
            <a:ext cx="7543800" cy="152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en-US" sz="2800" dirty="0"/>
              <a:t>	Per individual birth and death rates</a:t>
            </a:r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800" dirty="0"/>
          </a:p>
        </p:txBody>
      </p:sp>
      <p:graphicFrame>
        <p:nvGraphicFramePr>
          <p:cNvPr id="93188" name="Object 4">
            <a:extLst>
              <a:ext uri="{FF2B5EF4-FFF2-40B4-BE49-F238E27FC236}">
                <a16:creationId xmlns:a16="http://schemas.microsoft.com/office/drawing/2014/main" id="{8AD98908-E567-4643-9175-6FA20A84C86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47800" y="2438400"/>
          <a:ext cx="209391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3100" imgH="685800" progId="Equation.3">
                  <p:embed/>
                </p:oleObj>
              </mc:Choice>
              <mc:Fallback>
                <p:oleObj name="Equation" r:id="rId3" imgW="673100" imgH="685800" progId="Equation.3">
                  <p:embed/>
                  <p:pic>
                    <p:nvPicPr>
                      <p:cNvPr id="93188" name="Object 4">
                        <a:extLst>
                          <a:ext uri="{FF2B5EF4-FFF2-40B4-BE49-F238E27FC236}">
                            <a16:creationId xmlns:a16="http://schemas.microsoft.com/office/drawing/2014/main" id="{8AD98908-E567-4643-9175-6FA20A84C8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209391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5">
            <a:extLst>
              <a:ext uri="{FF2B5EF4-FFF2-40B4-BE49-F238E27FC236}">
                <a16:creationId xmlns:a16="http://schemas.microsoft.com/office/drawing/2014/main" id="{DA96EC04-80E0-4FAC-A245-86881163F6A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41888" y="2362200"/>
          <a:ext cx="2144712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08" imgH="660113" progId="Equation.3">
                  <p:embed/>
                </p:oleObj>
              </mc:Choice>
              <mc:Fallback>
                <p:oleObj name="Equation" r:id="rId5" imgW="672808" imgH="660113" progId="Equation.3">
                  <p:embed/>
                  <p:pic>
                    <p:nvPicPr>
                      <p:cNvPr id="93189" name="Object 5">
                        <a:extLst>
                          <a:ext uri="{FF2B5EF4-FFF2-40B4-BE49-F238E27FC236}">
                            <a16:creationId xmlns:a16="http://schemas.microsoft.com/office/drawing/2014/main" id="{DA96EC04-80E0-4FAC-A245-86881163F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2362200"/>
                        <a:ext cx="2144712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10C8DE9-A11E-46AB-9B9B-1ADAFDD23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74638"/>
            <a:ext cx="8991600" cy="868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Per capita change in abundance</a:t>
            </a:r>
          </a:p>
        </p:txBody>
      </p:sp>
      <p:graphicFrame>
        <p:nvGraphicFramePr>
          <p:cNvPr id="99331" name="Object 3">
            <a:extLst>
              <a:ext uri="{FF2B5EF4-FFF2-40B4-BE49-F238E27FC236}">
                <a16:creationId xmlns:a16="http://schemas.microsoft.com/office/drawing/2014/main" id="{F0E60750-E7C1-4C23-9070-F7FD0C0FAD82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066800" y="1524000"/>
          <a:ext cx="27432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300" imgH="228600" progId="Equation.3">
                  <p:embed/>
                </p:oleObj>
              </mc:Choice>
              <mc:Fallback>
                <p:oleObj name="Equation" r:id="rId3" imgW="876300" imgH="228600" progId="Equation.3">
                  <p:embed/>
                  <p:pic>
                    <p:nvPicPr>
                      <p:cNvPr id="99331" name="Object 3">
                        <a:extLst>
                          <a:ext uri="{FF2B5EF4-FFF2-40B4-BE49-F238E27FC236}">
                            <a16:creationId xmlns:a16="http://schemas.microsoft.com/office/drawing/2014/main" id="{F0E60750-E7C1-4C23-9070-F7FD0C0FAD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524000"/>
                        <a:ext cx="274320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9A91B81C-8D3E-4206-BAE2-C6A40B97F587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46175" y="2590800"/>
          <a:ext cx="730885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400" imgH="431800" progId="Equation.3">
                  <p:embed/>
                </p:oleObj>
              </mc:Choice>
              <mc:Fallback>
                <p:oleObj name="Equation" r:id="rId5" imgW="2184400" imgH="431800" progId="Equation.3">
                  <p:embed/>
                  <p:pic>
                    <p:nvPicPr>
                      <p:cNvPr id="99332" name="Object 4">
                        <a:extLst>
                          <a:ext uri="{FF2B5EF4-FFF2-40B4-BE49-F238E27FC236}">
                            <a16:creationId xmlns:a16="http://schemas.microsoft.com/office/drawing/2014/main" id="{9A91B81C-8D3E-4206-BAE2-C6A40B97F5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2590800"/>
                        <a:ext cx="7308850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9333" name="Object 5">
                <a:extLst>
                  <a:ext uri="{FF2B5EF4-FFF2-40B4-BE49-F238E27FC236}">
                    <a16:creationId xmlns:a16="http://schemas.microsoft.com/office/drawing/2014/main" id="{4639B52E-64DC-4090-93B7-53FB09A79189}"/>
                  </a:ext>
                </a:extLst>
              </p:cNvPr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990600" y="4343400"/>
                <a:ext cx="4495800" cy="198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  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  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9333" name="Object 5">
                <a:extLst>
                  <a:ext uri="{FF2B5EF4-FFF2-40B4-BE49-F238E27FC236}">
                    <a16:creationId xmlns:a16="http://schemas.microsoft.com/office/drawing/2014/main" id="{4639B52E-64DC-4090-93B7-53FB09A79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990600" y="4343400"/>
                <a:ext cx="4495800" cy="1981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36" name="Text Box 6">
            <a:extLst>
              <a:ext uri="{FF2B5EF4-FFF2-40B4-BE49-F238E27FC236}">
                <a16:creationId xmlns:a16="http://schemas.microsoft.com/office/drawing/2014/main" id="{E3DC5C0D-CA80-4C28-9A2E-10B5382CE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572000"/>
            <a:ext cx="312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/>
              <a:t>These are rates (animals per animal)</a:t>
            </a:r>
          </a:p>
          <a:p>
            <a:pPr eaLnBrk="1" hangingPunct="1"/>
            <a:r>
              <a:rPr lang="en-US" altLang="en-US" sz="2400" dirty="0"/>
              <a:t>they have no units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5">
            <a:extLst>
              <a:ext uri="{FF2B5EF4-FFF2-40B4-BE49-F238E27FC236}">
                <a16:creationId xmlns:a16="http://schemas.microsoft.com/office/drawing/2014/main" id="{F92B8C42-09BD-423F-A859-FD5D4BE66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554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200" b="1" dirty="0"/>
              <a:t>Change in abundance expressed as a function of per capita rates and abundance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79" name="Object 4">
                <a:extLst>
                  <a:ext uri="{FF2B5EF4-FFF2-40B4-BE49-F238E27FC236}">
                    <a16:creationId xmlns:a16="http://schemas.microsoft.com/office/drawing/2014/main" id="{1016852B-9D66-48B9-9D26-3FC8BDEBDFD9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917575" y="2514600"/>
                <a:ext cx="6545263" cy="885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r>
                        <a:rPr lang="en-US" sz="3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sSub>
                        <m:sSub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1379" name="Object 4">
                <a:extLst>
                  <a:ext uri="{FF2B5EF4-FFF2-40B4-BE49-F238E27FC236}">
                    <a16:creationId xmlns:a16="http://schemas.microsoft.com/office/drawing/2014/main" id="{1016852B-9D66-48B9-9D26-3FC8BDEBD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917575" y="2514600"/>
                <a:ext cx="6545263" cy="885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99A6-9480-B9AE-FEE0-8A96A6D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time step difference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BB003-E52E-C9D9-A8D9-E63734A3E4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sz="2800" dirty="0"/>
                  <a:t>As a difference equation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l-GR" sz="2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ar-AE" sz="28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l-GR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  <a:p>
                <a:pPr marL="0" lvl="0" indent="0">
                  <a:buNone/>
                </a:pPr>
                <a:r>
                  <a:rPr lang="en-US" sz="2800" dirty="0"/>
                  <a:t>Simplify to a time step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800" dirty="0"/>
              </a:p>
              <a:p>
                <a:pPr marL="0" lvl="0" indent="0">
                  <a:buNone/>
                </a:pPr>
                <a:r>
                  <a:rPr lang="en-US" sz="2800" dirty="0"/>
                  <a:t>And simplify again to define the population growth rate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ar-AE" sz="28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  <a:p>
                <a:pPr marL="0" lvl="0" indent="0">
                  <a:buNone/>
                </a:pPr>
                <a:r>
                  <a:rPr lang="en-US" sz="2800" dirty="0"/>
                  <a:t>The change in abundance per unit time is.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l-GR" sz="28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280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l-GR" sz="280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l-GR" sz="28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28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ar-AE" sz="2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800" dirty="0"/>
              </a:p>
              <a:p>
                <a:pPr marL="0" lvl="0" indent="0">
                  <a:buNone/>
                </a:pPr>
                <a:r>
                  <a:rPr lang="en-US" sz="2800" dirty="0"/>
                  <a:t>Population growth is also defined by the multiplication rate,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/>
                  <a:t> which is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=1+</m:t>
                    </m:r>
                    <m:sSub>
                      <m:sSubPr>
                        <m:ctrlPr>
                          <a:rPr lang="ar-AE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2800" dirty="0"/>
                  <a:t> </a:t>
                </a:r>
                <a:r>
                  <a:rPr lang="en-US" sz="2800" dirty="0"/>
                  <a:t>so that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ar-AE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ar-AE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5BB003-E52E-C9D9-A8D9-E63734A3E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306" r="-444" b="-12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08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32D41F02-8E01-46BD-8EF5-B3CCDD62C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Population growth rates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811" name="Rectangle 3">
                <a:extLst>
                  <a:ext uri="{FF2B5EF4-FFF2-40B4-BE49-F238E27FC236}">
                    <a16:creationId xmlns:a16="http://schemas.microsoft.com/office/drawing/2014/main" id="{9AEC5CAD-12AE-4030-821F-6315D6FA24A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57200" y="2057400"/>
                <a:ext cx="8229600" cy="3429000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32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ar-AE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is positive (</a:t>
                </a:r>
                <a14:m>
                  <m:oMath xmlns:m="http://schemas.openxmlformats.org/officeDocument/2006/math">
                    <m:r>
                      <a:rPr lang="ar-AE" sz="32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&gt;1) the population increases</a:t>
                </a:r>
              </a:p>
              <a:p>
                <a:pPr eaLnBrk="1" hangingPunct="1"/>
                <a:endParaRPr lang="en-US" altLang="en-US" dirty="0"/>
              </a:p>
              <a:p>
                <a:pPr eaLnBrk="1" hangingPunct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32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altLang="en-US" dirty="0"/>
                  <a:t>(</a:t>
                </a:r>
                <a14:m>
                  <m:oMath xmlns:m="http://schemas.openxmlformats.org/officeDocument/2006/math">
                    <m:r>
                      <a:rPr lang="ar-AE" sz="32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dirty="0"/>
                  <a:t>1) population is stationary</a:t>
                </a:r>
              </a:p>
              <a:p>
                <a:pPr eaLnBrk="1" hangingPunct="1"/>
                <a:endParaRPr lang="en-US" altLang="en-US" dirty="0"/>
              </a:p>
              <a:p>
                <a:pPr eaLnBrk="1" hangingPunct="1"/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80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altLang="en-US" dirty="0"/>
                  <a:t>(</a:t>
                </a:r>
                <a14:m>
                  <m:oMath xmlns:m="http://schemas.openxmlformats.org/officeDocument/2006/math">
                    <m:r>
                      <a:rPr lang="ar-AE" sz="28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en-US" dirty="0"/>
                  <a:t>1) population decreases</a:t>
                </a:r>
              </a:p>
              <a:p>
                <a:pPr eaLnBrk="1" hangingPunct="1"/>
                <a:endParaRPr lang="en-US" altLang="en-US" dirty="0"/>
              </a:p>
            </p:txBody>
          </p:sp>
        </mc:Choice>
        <mc:Fallback>
          <p:sp>
            <p:nvSpPr>
              <p:cNvPr id="119811" name="Rectangle 3">
                <a:extLst>
                  <a:ext uri="{FF2B5EF4-FFF2-40B4-BE49-F238E27FC236}">
                    <a16:creationId xmlns:a16="http://schemas.microsoft.com/office/drawing/2014/main" id="{9AEC5CAD-12AE-4030-821F-6315D6FA24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57200" y="2057400"/>
                <a:ext cx="8229600" cy="3429000"/>
              </a:xfrm>
              <a:blipFill>
                <a:blip r:embed="rId3"/>
                <a:stretch>
                  <a:fillRect l="-1481" t="-195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18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B8959A18-DB77-4801-A9BA-6D0D3A518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Instantaneous rates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2107500E-190A-4191-BA1B-A210E5B4D54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990600"/>
            <a:ext cx="76200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en-US" sz="2800" dirty="0"/>
              <a:t>If   =    </a:t>
            </a:r>
            <a:r>
              <a:rPr lang="en-US" altLang="en-US" sz="2800" dirty="0">
                <a:solidFill>
                  <a:srgbClr val="0000FF"/>
                </a:solidFill>
              </a:rPr>
              <a:t>t  </a:t>
            </a:r>
            <a:r>
              <a:rPr lang="en-US" altLang="en-US" sz="2800" dirty="0">
                <a:solidFill>
                  <a:srgbClr val="0000FF"/>
                </a:solidFill>
                <a:cs typeface="Arial" panose="020B0604020202020204" pitchFamily="34" charset="0"/>
              </a:rPr>
              <a:t>→</a:t>
            </a:r>
            <a:r>
              <a:rPr lang="en-US" altLang="en-US" sz="2800" dirty="0">
                <a:solidFill>
                  <a:srgbClr val="0000FF"/>
                </a:solidFill>
              </a:rPr>
              <a:t> 0</a:t>
            </a:r>
          </a:p>
          <a:p>
            <a:pPr eaLnBrk="1" hangingPunct="1">
              <a:buFontTx/>
              <a:buNone/>
            </a:pPr>
            <a:endParaRPr lang="en-US" altLang="en-US" sz="28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								</a:t>
            </a:r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r>
              <a:rPr lang="en-US" altLang="en-US" sz="2800" dirty="0"/>
              <a:t>Where </a:t>
            </a:r>
            <a:r>
              <a:rPr lang="en-US" altLang="en-US" sz="2800" i="1" dirty="0">
                <a:solidFill>
                  <a:srgbClr val="0000FF"/>
                </a:solidFill>
              </a:rPr>
              <a:t>r</a:t>
            </a:r>
            <a:r>
              <a:rPr lang="en-US" altLang="en-US" sz="2800" dirty="0"/>
              <a:t> is the </a:t>
            </a:r>
            <a:r>
              <a:rPr lang="en-US" altLang="en-US" sz="2800" i="1" dirty="0">
                <a:solidFill>
                  <a:srgbClr val="FF0000"/>
                </a:solidFill>
              </a:rPr>
              <a:t>population growth rate</a:t>
            </a:r>
          </a:p>
          <a:p>
            <a:pPr>
              <a:buNone/>
            </a:pPr>
            <a:r>
              <a:rPr lang="en-US" altLang="en-US" sz="2800" dirty="0"/>
              <a:t>Sometimes called </a:t>
            </a:r>
            <a:r>
              <a:rPr lang="en-US" altLang="en-US" sz="2800" i="1" dirty="0">
                <a:solidFill>
                  <a:srgbClr val="0000FF"/>
                </a:solidFill>
              </a:rPr>
              <a:t>r</a:t>
            </a:r>
            <a:r>
              <a:rPr lang="en-US" altLang="en-US" sz="2800" i="1" baseline="-25000" dirty="0">
                <a:solidFill>
                  <a:srgbClr val="0000FF"/>
                </a:solidFill>
              </a:rPr>
              <a:t>m</a:t>
            </a:r>
            <a:r>
              <a:rPr lang="en-US" altLang="en-US" sz="2800" dirty="0"/>
              <a:t> to indicate that it is the fundamental parameter, not realized value </a:t>
            </a:r>
            <a:endParaRPr lang="en-US" altLang="en-US" sz="2800" i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800" dirty="0"/>
              <a:t>Now </a:t>
            </a:r>
            <a:r>
              <a:rPr lang="en-US" altLang="en-US" sz="2800" i="1" dirty="0">
                <a:solidFill>
                  <a:srgbClr val="0000FF"/>
                </a:solidFill>
              </a:rPr>
              <a:t>r</a:t>
            </a:r>
            <a:r>
              <a:rPr lang="en-US" altLang="en-US" sz="2800" i="1" dirty="0"/>
              <a:t>, </a:t>
            </a:r>
            <a:r>
              <a:rPr lang="en-US" altLang="en-US" sz="2800" i="1" dirty="0">
                <a:solidFill>
                  <a:srgbClr val="0000FF"/>
                </a:solidFill>
              </a:rPr>
              <a:t>b </a:t>
            </a:r>
            <a:r>
              <a:rPr lang="en-US" altLang="en-US" sz="2800" dirty="0"/>
              <a:t>and </a:t>
            </a:r>
            <a:r>
              <a:rPr lang="en-US" altLang="en-US" sz="2800" i="1" dirty="0">
                <a:solidFill>
                  <a:srgbClr val="0000FF"/>
                </a:solidFill>
              </a:rPr>
              <a:t>d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are </a:t>
            </a:r>
            <a:r>
              <a:rPr lang="en-US" altLang="en-US" sz="2800" dirty="0">
                <a:solidFill>
                  <a:srgbClr val="FF0000"/>
                </a:solidFill>
              </a:rPr>
              <a:t>instantaneous</a:t>
            </a:r>
            <a:r>
              <a:rPr lang="en-US" altLang="en-US" sz="2800" dirty="0"/>
              <a:t> rates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476" name="Object 4">
                <a:extLst>
                  <a:ext uri="{FF2B5EF4-FFF2-40B4-BE49-F238E27FC236}">
                    <a16:creationId xmlns:a16="http://schemas.microsoft.com/office/drawing/2014/main" id="{BE645804-9E9B-4088-8BA8-5B8D98F0ECFC}"/>
                  </a:ext>
                </a:extLst>
              </p:cNvPr>
              <p:cNvSpPr txBox="1"/>
              <p:nvPr>
                <p:ph sz="quarter" idx="2"/>
              </p:nvPr>
            </p:nvSpPr>
            <p:spPr bwMode="auto">
              <a:xfrm>
                <a:off x="1066800" y="1627188"/>
                <a:ext cx="6781800" cy="735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 →</m:t>
                      </m:r>
                      <m:r>
                        <a:rPr lang="en-US" sz="3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105476" name="Object 4">
                <a:extLst>
                  <a:ext uri="{FF2B5EF4-FFF2-40B4-BE49-F238E27FC236}">
                    <a16:creationId xmlns:a16="http://schemas.microsoft.com/office/drawing/2014/main" id="{BE645804-9E9B-4088-8BA8-5B8D98F0E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1066800" y="1627188"/>
                <a:ext cx="6781800" cy="735012"/>
              </a:xfrm>
              <a:prstGeom prst="rect">
                <a:avLst/>
              </a:prstGeom>
              <a:blipFill>
                <a:blip r:embed="rId3"/>
                <a:stretch>
                  <a:fillRect b="-479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477" name="Object 5">
            <a:extLst>
              <a:ext uri="{FF2B5EF4-FFF2-40B4-BE49-F238E27FC236}">
                <a16:creationId xmlns:a16="http://schemas.microsoft.com/office/drawing/2014/main" id="{3C5D1360-02E4-4027-90A4-D7D760564747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169182998"/>
              </p:ext>
            </p:extLst>
          </p:nvPr>
        </p:nvGraphicFramePr>
        <p:xfrm>
          <a:off x="1963738" y="2743200"/>
          <a:ext cx="2166937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393529" progId="Equation.3">
                  <p:embed/>
                </p:oleObj>
              </mc:Choice>
              <mc:Fallback>
                <p:oleObj name="Equation" r:id="rId4" imgW="660113" imgH="393529" progId="Equation.3">
                  <p:embed/>
                  <p:pic>
                    <p:nvPicPr>
                      <p:cNvPr id="105477" name="Object 5">
                        <a:extLst>
                          <a:ext uri="{FF2B5EF4-FFF2-40B4-BE49-F238E27FC236}">
                            <a16:creationId xmlns:a16="http://schemas.microsoft.com/office/drawing/2014/main" id="{3C5D1360-02E4-4027-90A4-D7D7605647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2743200"/>
                        <a:ext cx="2166937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DDB703DF-67CF-42C4-8D8E-955E4D00F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Integrat</a:t>
            </a:r>
            <a:r>
              <a:rPr lang="en-US" altLang="en-US" dirty="0"/>
              <a:t>e to get </a:t>
            </a:r>
            <a:r>
              <a:rPr lang="en-US" altLang="en-US" dirty="0" err="1"/>
              <a:t>Nt</a:t>
            </a:r>
            <a:endParaRPr lang="en-US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619" name="Object 3">
                <a:extLst>
                  <a:ext uri="{FF2B5EF4-FFF2-40B4-BE49-F238E27FC236}">
                    <a16:creationId xmlns:a16="http://schemas.microsoft.com/office/drawing/2014/main" id="{49B706E0-0423-4E28-8245-B27AF33E4E5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457200" y="914400"/>
                <a:ext cx="8229600" cy="4779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      </m:t>
                      </m:r>
                      <m:nary>
                        <m:naryPr>
                          <m:limLoc m:val="undOvr"/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𝑁𝑜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𝑁𝑡</m:t>
                          </m:r>
                        </m:sup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nary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𝑑𝑁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br>
                  <a:rPr lang="en-US" sz="3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sz="3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𝐿𝑛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𝐿𝑛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 =</m:t>
                      </m:r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𝐿𝑛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US" sz="3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US" sz="3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1619" name="Object 3">
                <a:extLst>
                  <a:ext uri="{FF2B5EF4-FFF2-40B4-BE49-F238E27FC236}">
                    <a16:creationId xmlns:a16="http://schemas.microsoft.com/office/drawing/2014/main" id="{49B706E0-0423-4E28-8245-B27AF33E4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57200" y="914400"/>
                <a:ext cx="8229600" cy="4779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2BA4-159E-1B9A-4883-05001411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annual time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83C49-7B56-FBD6-8B0C-72BC27C46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  <a:p>
                <a:r>
                  <a:rPr lang="en-US" dirty="0"/>
                  <a:t>Which is the same equation we derived for an annual time step before,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3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ar-AE" sz="3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3200" dirty="0"/>
              </a:p>
              <a:p>
                <a:r>
                  <a:rPr lang="en-US" dirty="0"/>
                  <a:t> if we define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ar-AE" sz="280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83C49-7B56-FBD6-8B0C-72BC27C46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r="-2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56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444E-8AF1-DD29-2548-16977296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vs. continuous exponential growth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47AE75-A07F-362D-56BE-BB18BB2C1718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52400" y="1600200"/>
                <a:ext cx="4343400" cy="4525963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Continuous growth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 = 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𝑟𝑡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from differential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𝑑𝑁</m:t>
                        </m:r>
                      </m:num>
                      <m:den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𝑟𝑁</m:t>
                    </m:r>
                  </m:oMath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r>
                  <a:rPr lang="en-US" dirty="0"/>
                  <a:t>Assumes that the births and deaths happen at a constant rate over time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747AE75-A07F-362D-56BE-BB18BB2C1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52400" y="1600200"/>
                <a:ext cx="4343400" cy="4525963"/>
              </a:xfrm>
              <a:blipFill>
                <a:blip r:embed="rId2"/>
                <a:stretch>
                  <a:fillRect l="-3506" t="-1752" r="-5330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FFDA58-39D7-24FA-72B8-F25660E00854}"/>
                  </a:ext>
                </a:extLst>
              </p:cNvPr>
              <p:cNvSpPr>
                <a:spLocks noGrp="1"/>
              </p:cNvSpPr>
              <p:nvPr>
                <p:ph sz="quarter" idx="2"/>
              </p:nvPr>
            </p:nvSpPr>
            <p:spPr>
              <a:xfrm>
                <a:off x="4343400" y="1600200"/>
                <a:ext cx="4648200" cy="4525962"/>
              </a:xfrm>
            </p:spPr>
            <p:txBody>
              <a:bodyPr/>
              <a:lstStyle/>
              <a:p>
                <a:r>
                  <a:rPr lang="en-US" dirty="0"/>
                  <a:t>Annual growth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from difference equation 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Sometimes called geometric growth.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FFDA58-39D7-24FA-72B8-F25660E00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>
              <a:xfrm>
                <a:off x="4343400" y="1600200"/>
                <a:ext cx="4648200" cy="4525962"/>
              </a:xfrm>
              <a:blipFill>
                <a:blip r:embed="rId3"/>
                <a:stretch>
                  <a:fillRect l="-301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12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90DC-7D70-97F7-5FF5-2A2BCDD8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vs. continuous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35EC4B-AC27-8586-6509-D0180680911C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457200" y="1600200"/>
                <a:ext cx="80010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integral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over one year of births and deaths</a:t>
                </a:r>
              </a:p>
              <a:p>
                <a:r>
                  <a:rPr lang="en-US" dirty="0"/>
                  <a:t>The annual time step version is often used because animals have a breeding season so births and deaths don’t occur at a constant rate during a year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935EC4B-AC27-8586-6509-D01806809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600200"/>
                <a:ext cx="8001000" cy="4525963"/>
              </a:xfrm>
              <a:blipFill>
                <a:blip r:embed="rId2"/>
                <a:stretch>
                  <a:fillRect l="-17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295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2070-7364-4B45-2891-0E618A2C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CCC1A-4E6F-C454-ADC9-3310C5FCE47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Geometric growth is useful for tracking short term changes in growth </a:t>
            </a:r>
          </a:p>
          <a:p>
            <a:pPr lvl="1"/>
            <a:r>
              <a:rPr lang="en-US" dirty="0"/>
              <a:t>Extrapolate current trends</a:t>
            </a:r>
          </a:p>
          <a:p>
            <a:r>
              <a:rPr lang="en-US" dirty="0"/>
              <a:t>Fisheries models more often incorporate density dependence (next week)</a:t>
            </a:r>
          </a:p>
          <a:p>
            <a:r>
              <a:rPr lang="en-US" dirty="0"/>
              <a:t>Demographic models, e.g. Leslie matrix models use exponential growth models, common for protected species. </a:t>
            </a:r>
          </a:p>
        </p:txBody>
      </p:sp>
    </p:spTree>
    <p:extLst>
      <p:ext uri="{BB962C8B-B14F-4D97-AF65-F5344CB8AC3E}">
        <p14:creationId xmlns:p14="http://schemas.microsoft.com/office/powerpoint/2010/main" val="143584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2F1BB-3913-FB10-0C53-94185DCA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growth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D8D9F2-96B2-D978-5721-A6B58EA6D912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447869" y="1417638"/>
                <a:ext cx="8001000" cy="4525963"/>
              </a:xfrm>
            </p:spPr>
            <p:txBody>
              <a:bodyPr/>
              <a:lstStyle/>
              <a:p>
                <a:r>
                  <a:rPr lang="en-US" dirty="0"/>
                  <a:t>If you have a count of births and deaths, or their rates, you can estimate r directly.</a:t>
                </a:r>
              </a:p>
              <a:p>
                <a:r>
                  <a:rPr lang="en-US" dirty="0"/>
                  <a:t>If you have annual abundance data you can estimate the growth rate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 = 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𝑟𝑡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 = </m:t>
                    </m:r>
                    <m:sSub>
                      <m:sSubPr>
                        <m:ctrl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is a linear regression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as the intercept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as the slope.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This assumes normally distributed random error</a:t>
                </a: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D8D9F2-96B2-D978-5721-A6B58EA6D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47869" y="1417638"/>
                <a:ext cx="8001000" cy="4525963"/>
              </a:xfrm>
              <a:blipFill>
                <a:blip r:embed="rId2"/>
                <a:stretch>
                  <a:fillRect l="-1904" t="-1752" r="-228" b="-2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0876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5917</TotalTime>
  <Words>672</Words>
  <Application>Microsoft Office PowerPoint</Application>
  <PresentationFormat>On-screen Show (4:3)</PresentationFormat>
  <Paragraphs>106</Paragraphs>
  <Slides>15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Albertus Extra Bold</vt:lpstr>
      <vt:lpstr>Arial</vt:lpstr>
      <vt:lpstr>Cambria Math</vt:lpstr>
      <vt:lpstr>Default Design</vt:lpstr>
      <vt:lpstr>Equation</vt:lpstr>
      <vt:lpstr>MBE 713: Marine Population Dynamics Lecture 2: Exponential population growth</vt:lpstr>
      <vt:lpstr>Abundance Nt</vt:lpstr>
      <vt:lpstr>Changes in abundance</vt:lpstr>
      <vt:lpstr>Per capita rates</vt:lpstr>
      <vt:lpstr>Per capita change in abundance</vt:lpstr>
      <vt:lpstr>Change in abundance expressed as a function of per capita rates and abundance </vt:lpstr>
      <vt:lpstr>Annual time step difference equation</vt:lpstr>
      <vt:lpstr>Population growth rates</vt:lpstr>
      <vt:lpstr>Instantaneous rates</vt:lpstr>
      <vt:lpstr>Integrate to get Nt</vt:lpstr>
      <vt:lpstr>For annual time step</vt:lpstr>
      <vt:lpstr>Discrete vs. continuous exponential growth equations</vt:lpstr>
      <vt:lpstr>Discrete vs. continuous</vt:lpstr>
      <vt:lpstr>Applications</vt:lpstr>
      <vt:lpstr>Estimating the growth rate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601</cp:revision>
  <dcterms:created xsi:type="dcterms:W3CDTF">2002-07-02T19:54:08Z</dcterms:created>
  <dcterms:modified xsi:type="dcterms:W3CDTF">2026-08-24T20:42:37Z</dcterms:modified>
</cp:coreProperties>
</file>