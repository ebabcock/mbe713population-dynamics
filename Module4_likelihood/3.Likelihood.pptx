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16"/>
  </p:notesMasterIdLst>
  <p:handoutMasterIdLst>
    <p:handoutMasterId r:id="rId17"/>
  </p:handoutMasterIdLst>
  <p:sldIdLst>
    <p:sldId id="297" r:id="rId2"/>
    <p:sldId id="298" r:id="rId3"/>
    <p:sldId id="299" r:id="rId4"/>
    <p:sldId id="300" r:id="rId5"/>
    <p:sldId id="301" r:id="rId6"/>
    <p:sldId id="304" r:id="rId7"/>
    <p:sldId id="302" r:id="rId8"/>
    <p:sldId id="303" r:id="rId9"/>
    <p:sldId id="305" r:id="rId10"/>
    <p:sldId id="306" r:id="rId11"/>
    <p:sldId id="307" r:id="rId12"/>
    <p:sldId id="308" r:id="rId13"/>
    <p:sldId id="309" r:id="rId14"/>
    <p:sldId id="310" r:id="rId15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F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5" autoAdjust="0"/>
    <p:restoredTop sz="94590" autoAdjust="0"/>
  </p:normalViewPr>
  <p:slideViewPr>
    <p:cSldViewPr>
      <p:cViewPr>
        <p:scale>
          <a:sx n="64" d="100"/>
          <a:sy n="64" d="100"/>
        </p:scale>
        <p:origin x="1128" y="10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140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fld id="{44E1A066-3641-409E-B440-E03BE1A0AA5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53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0" y="4560570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fld id="{DB41E0A9-D23A-4D9E-8E36-829A8A18E11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22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1E0A9-D23A-4D9E-8E36-829A8A18E11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88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062168-CA75-4DCB-ACA1-3CBE51E9BB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>
            <a:lvl1pPr>
              <a:defRPr sz="3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4D0444-4EDE-4B38-A1B6-1736318DBC5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F321D8-A24E-4B03-8586-27459BEAE9B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C44912-138E-4802-853F-B984A9F1B8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9CEF9F-1C92-4FF0-B96A-F7A26EAD5E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14A5D3-C54B-4997-83E3-9432E83EEA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565590-C750-4EBE-B003-8C25E87E5ED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296C32-B7AF-4AD0-8CF7-595A42FA59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D90EA9-603D-4EE5-A1C2-41766C3D918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7161DC-BD25-4CCF-BE89-96EEE98F52E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DDD1C5-1327-4575-9025-19C1051F18E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665C853-9B71-41A6-85AE-FF9CB414E8D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263BF0B-CADE-419C-AB13-4AA4FFFE67C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10E6B2F-18C5-4BBA-93EB-6AAC223AFA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90D7465-2649-45B4-818D-D0220884C5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073B23E-588F-4102-9F6B-DE52C387C6E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751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C57D645-5CE9-4EB9-B8B2-706EBA74EC3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7772400" cy="1470025"/>
          </a:xfrm>
        </p:spPr>
        <p:txBody>
          <a:bodyPr/>
          <a:lstStyle/>
          <a:p>
            <a:r>
              <a:rPr lang="en-US" sz="3600" dirty="0"/>
              <a:t>MBE 713: Marine Population Dynamics</a:t>
            </a:r>
            <a:br>
              <a:rPr lang="en-US" sz="3600" dirty="0"/>
            </a:br>
            <a:r>
              <a:rPr lang="en-US" sz="3600" dirty="0"/>
              <a:t>Lecture 3:likelihood</a:t>
            </a:r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667000" y="4038600"/>
            <a:ext cx="4343400" cy="1189241"/>
          </a:xfrm>
        </p:spPr>
        <p:txBody>
          <a:bodyPr/>
          <a:lstStyle/>
          <a:p>
            <a:pPr algn="l"/>
            <a:r>
              <a:rPr lang="en-US" dirty="0"/>
              <a:t>Elizabeth A. Babcock</a:t>
            </a:r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3124200" y="3124200"/>
            <a:ext cx="533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endParaRPr lang="en-US" sz="2400">
              <a:latin typeface="Albertus Extra Bold" pitchFamily="34" charset="0"/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" y="4953000"/>
            <a:ext cx="2990850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A373-6577-194C-1757-9801F3816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likelihood?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6596B-B9F6-1E73-B0ED-9A68B55B8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commonly used method for fitting a model to data</a:t>
            </a:r>
          </a:p>
          <a:p>
            <a:r>
              <a:rPr lang="en-US" dirty="0"/>
              <a:t>The </a:t>
            </a:r>
            <a:r>
              <a:rPr lang="en-US" b="1" dirty="0"/>
              <a:t>likelihood</a:t>
            </a:r>
            <a:r>
              <a:rPr lang="en-US" dirty="0"/>
              <a:t> of a particular parameter value is the probability of observing the data we actually collected, </a:t>
            </a:r>
            <a:r>
              <a:rPr lang="en-US" i="1" dirty="0"/>
              <a:t>if that parameter value was the actual value in the population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2827AC-D56C-FDF5-E3DA-F404C56A8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4267200"/>
            <a:ext cx="4903309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13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61355-76FF-7042-AC08-A965C7C68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</a:t>
            </a:r>
            <a:r>
              <a:rPr lang="en-US" dirty="0" err="1"/>
              <a:t>estime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AE0BF-76D8-3053-A3A6-75A57502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maximum likelihood estimate (MLE)</a:t>
            </a:r>
            <a:r>
              <a:rPr lang="en-US" dirty="0"/>
              <a:t>: the value of a parameter that makes the observed data most probable.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326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E121B-2485-E8E2-E575-30C0540E7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estimating a proportion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66783-54C4-F584-7E2B-A3B4BE0A0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flip a coin 20 times and get 13 heads. What is the probability of heads (p)</a:t>
            </a:r>
          </a:p>
          <a:p>
            <a:r>
              <a:rPr lang="en-US" dirty="0"/>
              <a:t>Bernoulli distribution</a:t>
            </a:r>
          </a:p>
          <a:p>
            <a:pPr marL="0" indent="0">
              <a:buNone/>
            </a:pPr>
            <a:r>
              <a:rPr lang="en-US" dirty="0"/>
              <a:t>Data: k=13, n=20, </a:t>
            </a:r>
          </a:p>
          <a:p>
            <a:pPr marL="0" indent="0">
              <a:buNone/>
            </a:pPr>
            <a:r>
              <a:rPr lang="en-US" dirty="0"/>
              <a:t>Estimated parameter: p=?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R: </a:t>
            </a:r>
            <a:r>
              <a:rPr lang="en-US" dirty="0" err="1"/>
              <a:t>dbinom</a:t>
            </a:r>
            <a:r>
              <a:rPr lang="en-US" dirty="0"/>
              <a:t>(x = heads, size = n, prob = 0.5)</a:t>
            </a:r>
          </a:p>
          <a:p>
            <a:pPr marL="0" indent="0">
              <a:buNone/>
            </a:pPr>
            <a:r>
              <a:rPr lang="en-US" dirty="0"/>
              <a:t>is the probability of x successes out of n trials with probability prob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369AE8-1D49-BF20-DA29-C6666F505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733800"/>
            <a:ext cx="6115449" cy="116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403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7ED78-E8A6-D80A-12E5-712834664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Likelihood profile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0CA000-90C7-C347-14A8-83285CA89B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1272365"/>
            <a:ext cx="6248423" cy="44631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EC2BAC-5237-50DE-C349-5506EE922D8C}"/>
              </a:ext>
            </a:extLst>
          </p:cNvPr>
          <p:cNvSpPr txBox="1"/>
          <p:nvPr/>
        </p:nvSpPr>
        <p:spPr>
          <a:xfrm>
            <a:off x="914400" y="6248400"/>
            <a:ext cx="3397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MLE value of p is 0.65 (=13/20)</a:t>
            </a:r>
          </a:p>
        </p:txBody>
      </p:sp>
    </p:spTree>
    <p:extLst>
      <p:ext uri="{BB962C8B-B14F-4D97-AF65-F5344CB8AC3E}">
        <p14:creationId xmlns:p14="http://schemas.microsoft.com/office/powerpoint/2010/main" val="2711958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77D43-7DF8-073B-9399-7C148CBA5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Uncertainty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1529F-1DB4-13CF-AB31-CDD94A6D0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Width of likelihood profile tells us how precisely the parameter is estimated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CD825D-4FC6-32FD-D515-BB10FC984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09800"/>
            <a:ext cx="6400847" cy="457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956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CEF6D-B858-AF28-4A6C-6404CC72D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log(likelihood)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A6CDB-F1DC-4C8B-2455-045655160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 estimate negative log likelihood, because it is easier to minimize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1ACAD1-A102-EDD3-2146-6B4716C0A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594095"/>
            <a:ext cx="5257824" cy="375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63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A3DF8-80A1-7FE1-BC79-13E202D64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MLE estimation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D842C-7EFA-68F7-EF98-3A3361ADD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 function that takes the parameter(s) as an input and outputs the negative log likelihood</a:t>
            </a:r>
          </a:p>
          <a:p>
            <a:r>
              <a:rPr lang="en-US" dirty="0"/>
              <a:t>Use a minimizing function to find the value of the parameter that minimizes negative log likelihood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577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F42A2-3A01-FAFA-6EB8-DE7D34CFD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21B096-A2F6-CCFD-9E1E-410F68936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5800" y="1142983"/>
            <a:ext cx="6720865" cy="4800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206692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ACF64-D061-65ED-DC9C-7EDC44669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Sums of squares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8D79B0-A55B-0118-DAB5-2B0117331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62000" y="1088754"/>
            <a:ext cx="8195124" cy="5312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41989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383AF-A3DD-1FA1-8364-606815A9E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MLE uses normal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7B5920-66AB-F662-EB92-DAFB7518CA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09600" y="1447800"/>
            <a:ext cx="759325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47170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56E20-56B7-A7DE-790E-D77FBDA30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4D71AC-1841-3592-B8C2-F933A379AA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06893" y="1143000"/>
            <a:ext cx="8730213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70007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6EDED-FBF3-C42C-25CF-449EE9930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005A4-9E92-1396-857A-1CF970E63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Make a function that calculates the negative log likelihood.</a:t>
            </a:r>
          </a:p>
          <a:p>
            <a:pPr lvl="0"/>
            <a:r>
              <a:rPr lang="en-US" dirty="0"/>
              <a:t>Minimize the function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7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86E5B-27A4-CACD-3F01-3531632B4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FF7BF-CE9B-5D07-C19F-12DB49808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21257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5952</TotalTime>
  <Words>258</Words>
  <Application>Microsoft Office PowerPoint</Application>
  <PresentationFormat>On-screen Show (4:3)</PresentationFormat>
  <Paragraphs>34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Albertus Extra Bold</vt:lpstr>
      <vt:lpstr>Arial</vt:lpstr>
      <vt:lpstr>Default Design</vt:lpstr>
      <vt:lpstr>MBE 713: Marine Population Dynamics Lecture 3:likelihood</vt:lpstr>
      <vt:lpstr>What is likelihood?</vt:lpstr>
      <vt:lpstr>Maximum likelihood estime</vt:lpstr>
      <vt:lpstr>Example: estimating a proportion</vt:lpstr>
      <vt:lpstr>Likelihood profile</vt:lpstr>
      <vt:lpstr>Uncertainty</vt:lpstr>
      <vt:lpstr>Negative log(likelihood)</vt:lpstr>
      <vt:lpstr>MLE estimation algorithm</vt:lpstr>
      <vt:lpstr>Linear regression</vt:lpstr>
      <vt:lpstr>Sums of squares</vt:lpstr>
      <vt:lpstr>MLE uses normal distribution</vt:lpstr>
      <vt:lpstr>MLE</vt:lpstr>
      <vt:lpstr>MLE algorithm</vt:lpstr>
      <vt:lpstr>PowerPoint Presentation</vt:lpstr>
    </vt:vector>
  </TitlesOfParts>
  <Company>Wildlife Conservation Society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Rebecca Cerroni</dc:creator>
  <cp:lastModifiedBy>Babcock, Elizabeth A</cp:lastModifiedBy>
  <cp:revision>605</cp:revision>
  <dcterms:created xsi:type="dcterms:W3CDTF">2002-07-02T19:54:08Z</dcterms:created>
  <dcterms:modified xsi:type="dcterms:W3CDTF">2026-09-01T09:47:53Z</dcterms:modified>
</cp:coreProperties>
</file>