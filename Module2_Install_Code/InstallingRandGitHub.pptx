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60" r:id="rId3"/>
    <p:sldId id="259" r:id="rId4"/>
    <p:sldId id="258" r:id="rId5"/>
    <p:sldId id="273" r:id="rId6"/>
    <p:sldId id="274" r:id="rId7"/>
    <p:sldId id="261" r:id="rId8"/>
    <p:sldId id="263" r:id="rId9"/>
    <p:sldId id="266" r:id="rId10"/>
    <p:sldId id="264" r:id="rId11"/>
    <p:sldId id="265" r:id="rId12"/>
    <p:sldId id="267" r:id="rId13"/>
    <p:sldId id="269" r:id="rId14"/>
    <p:sldId id="271" r:id="rId15"/>
    <p:sldId id="270" r:id="rId16"/>
    <p:sldId id="275" r:id="rId17"/>
    <p:sldId id="298" r:id="rId18"/>
    <p:sldId id="276" r:id="rId19"/>
    <p:sldId id="306" r:id="rId20"/>
    <p:sldId id="307" r:id="rId21"/>
    <p:sldId id="299" r:id="rId22"/>
    <p:sldId id="301" r:id="rId23"/>
    <p:sldId id="300" r:id="rId24"/>
    <p:sldId id="272" r:id="rId25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07" autoAdjust="0"/>
    <p:restoredTop sz="94660"/>
  </p:normalViewPr>
  <p:slideViewPr>
    <p:cSldViewPr>
      <p:cViewPr varScale="1">
        <p:scale>
          <a:sx n="97" d="100"/>
          <a:sy n="97" d="100"/>
        </p:scale>
        <p:origin x="149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cock, Elizabeth A" userId="02b9ec88-22ae-4f16-80a8-fd6316399148" providerId="ADAL" clId="{E8038F86-5AB5-4746-8D56-4895026D4F4B}"/>
    <pc:docChg chg="modSld">
      <pc:chgData name="Babcock, Elizabeth A" userId="02b9ec88-22ae-4f16-80a8-fd6316399148" providerId="ADAL" clId="{E8038F86-5AB5-4746-8D56-4895026D4F4B}" dt="2020-09-09T21:21:15.483" v="24" actId="20577"/>
      <pc:docMkLst>
        <pc:docMk/>
      </pc:docMkLst>
      <pc:sldChg chg="modSp mod">
        <pc:chgData name="Babcock, Elizabeth A" userId="02b9ec88-22ae-4f16-80a8-fd6316399148" providerId="ADAL" clId="{E8038F86-5AB5-4746-8D56-4895026D4F4B}" dt="2020-09-03T17:53:01.379" v="17" actId="20577"/>
        <pc:sldMkLst>
          <pc:docMk/>
          <pc:sldMk cId="1491869312" sldId="305"/>
        </pc:sldMkLst>
        <pc:spChg chg="mod">
          <ac:chgData name="Babcock, Elizabeth A" userId="02b9ec88-22ae-4f16-80a8-fd6316399148" providerId="ADAL" clId="{E8038F86-5AB5-4746-8D56-4895026D4F4B}" dt="2020-09-03T17:53:01.379" v="17" actId="20577"/>
          <ac:spMkLst>
            <pc:docMk/>
            <pc:sldMk cId="1491869312" sldId="305"/>
            <ac:spMk id="3" creationId="{00000000-0000-0000-0000-000000000000}"/>
          </ac:spMkLst>
        </pc:spChg>
      </pc:sldChg>
      <pc:sldChg chg="modSp mod">
        <pc:chgData name="Babcock, Elizabeth A" userId="02b9ec88-22ae-4f16-80a8-fd6316399148" providerId="ADAL" clId="{E8038F86-5AB5-4746-8D56-4895026D4F4B}" dt="2020-09-03T17:51:19.112" v="15" actId="20577"/>
        <pc:sldMkLst>
          <pc:docMk/>
          <pc:sldMk cId="2509545339" sldId="313"/>
        </pc:sldMkLst>
        <pc:spChg chg="mod">
          <ac:chgData name="Babcock, Elizabeth A" userId="02b9ec88-22ae-4f16-80a8-fd6316399148" providerId="ADAL" clId="{E8038F86-5AB5-4746-8D56-4895026D4F4B}" dt="2020-09-03T17:51:19.112" v="15" actId="20577"/>
          <ac:spMkLst>
            <pc:docMk/>
            <pc:sldMk cId="2509545339" sldId="313"/>
            <ac:spMk id="3" creationId="{00000000-0000-0000-0000-000000000000}"/>
          </ac:spMkLst>
        </pc:spChg>
      </pc:sldChg>
      <pc:sldChg chg="modSp mod">
        <pc:chgData name="Babcock, Elizabeth A" userId="02b9ec88-22ae-4f16-80a8-fd6316399148" providerId="ADAL" clId="{E8038F86-5AB5-4746-8D56-4895026D4F4B}" dt="2020-09-09T21:21:15.483" v="24" actId="20577"/>
        <pc:sldMkLst>
          <pc:docMk/>
          <pc:sldMk cId="1785967812" sldId="328"/>
        </pc:sldMkLst>
        <pc:spChg chg="mod">
          <ac:chgData name="Babcock, Elizabeth A" userId="02b9ec88-22ae-4f16-80a8-fd6316399148" providerId="ADAL" clId="{E8038F86-5AB5-4746-8D56-4895026D4F4B}" dt="2020-09-09T21:21:15.483" v="24" actId="20577"/>
          <ac:spMkLst>
            <pc:docMk/>
            <pc:sldMk cId="1785967812" sldId="328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C2468-DC1D-423B-AFB6-67B06CCD6BB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BA39D-439A-4BD4-8404-D6198C44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75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FB80C02-016B-4C8E-AACA-9FDD5E31728A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3899764-16DA-444A-845E-248B6E083D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9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99764-16DA-444A-845E-248B6E083DD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93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ran.r-project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osit.co/download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esktop.github.com/download/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-scm.com/install/windows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 started with R, RStudio and GitHub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93234"/>
            <a:ext cx="6400800" cy="1752600"/>
          </a:xfrm>
        </p:spPr>
        <p:txBody>
          <a:bodyPr/>
          <a:lstStyle/>
          <a:p>
            <a:r>
              <a:rPr lang="en-US" dirty="0"/>
              <a:t>Elizabeth A Babcock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6" y="5029200"/>
            <a:ext cx="29908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13AE-38B8-4A74-B31A-16668B7A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D70D4-E2F2-474C-94A8-856FEB2B6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686800" cy="5791200"/>
          </a:xfrm>
        </p:spPr>
        <p:txBody>
          <a:bodyPr>
            <a:normAutofit/>
          </a:bodyPr>
          <a:lstStyle/>
          <a:p>
            <a:r>
              <a:rPr lang="en-US" dirty="0"/>
              <a:t>Install everything</a:t>
            </a:r>
          </a:p>
          <a:p>
            <a:pPr marL="914400" lvl="1" indent="-514350"/>
            <a:r>
              <a:rPr lang="en-US" dirty="0"/>
              <a:t>Install R</a:t>
            </a:r>
          </a:p>
          <a:p>
            <a:pPr marL="914400" lvl="1" indent="-514350"/>
            <a:r>
              <a:rPr lang="en-US" dirty="0"/>
              <a:t>Install </a:t>
            </a:r>
            <a:r>
              <a:rPr lang="en-US" dirty="0" err="1"/>
              <a:t>Rstudio</a:t>
            </a:r>
            <a:endParaRPr lang="en-US" dirty="0"/>
          </a:p>
          <a:p>
            <a:pPr marL="914400" lvl="1" indent="-514350"/>
            <a:r>
              <a:rPr lang="en-US" dirty="0"/>
              <a:t>Install Git</a:t>
            </a:r>
          </a:p>
          <a:p>
            <a:pPr marL="914400" lvl="1" indent="-514350"/>
            <a:r>
              <a:rPr lang="en-US" dirty="0"/>
              <a:t>In RStudio, install the following libraries: </a:t>
            </a:r>
            <a:r>
              <a:rPr lang="en-US" dirty="0" err="1"/>
              <a:t>tidyverse</a:t>
            </a:r>
            <a:r>
              <a:rPr lang="en-US" dirty="0"/>
              <a:t>, ggplot2</a:t>
            </a:r>
          </a:p>
          <a:p>
            <a:r>
              <a:rPr lang="en-US" dirty="0"/>
              <a:t>Make sure you can</a:t>
            </a:r>
          </a:p>
          <a:p>
            <a:pPr lvl="1"/>
            <a:r>
              <a:rPr lang="en-US" dirty="0"/>
              <a:t>Open and run </a:t>
            </a:r>
            <a:r>
              <a:rPr lang="en-US" dirty="0" err="1"/>
              <a:t>Rstudio</a:t>
            </a:r>
            <a:endParaRPr lang="en-US" dirty="0"/>
          </a:p>
          <a:p>
            <a:pPr marL="857250" lvl="1" indent="-457200"/>
            <a:r>
              <a:rPr lang="en-US" dirty="0"/>
              <a:t>Clone the class GitHub repository</a:t>
            </a:r>
          </a:p>
          <a:p>
            <a:pPr marL="857250" lvl="1" indent="-4572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997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E48BC-2207-4CF7-B634-7907FF19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Installing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9701A-A23B-4D1D-B610-35E84C3B3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https://cran.r-project.org/</a:t>
            </a:r>
            <a:endParaRPr lang="en-US" dirty="0"/>
          </a:p>
          <a:p>
            <a:r>
              <a:rPr lang="en-US" dirty="0"/>
              <a:t>Choose the correct operating system, then base/install R for the first time.</a:t>
            </a:r>
          </a:p>
          <a:p>
            <a:r>
              <a:rPr lang="en-US" dirty="0"/>
              <a:t>Save the file for your operating system, then run it and follow the instructions to install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8619FB-AD25-47A4-D784-E8102A321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810000"/>
            <a:ext cx="9144000" cy="164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03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8A9A-2DEF-47A9-9162-5F14E3FD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Installing 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2705E-594D-40F4-ACD2-76F036A61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763000" cy="5791200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https://posit.co/downloads</a:t>
            </a:r>
            <a:endParaRPr lang="en-US" dirty="0"/>
          </a:p>
          <a:p>
            <a:r>
              <a:rPr lang="en-US" dirty="0"/>
              <a:t>Select RStudio desktop free download and download the file for your operating system</a:t>
            </a:r>
          </a:p>
          <a:p>
            <a:r>
              <a:rPr lang="en-US" dirty="0"/>
              <a:t>Click on the file to run and follow all the instructions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F8FCA-F265-82EE-54C5-014527920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276600"/>
            <a:ext cx="5410200" cy="323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285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36E76-0D0B-149A-44FC-79E5F612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Open 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DC6A5-3D80-6F7F-0CEF-35C9478C3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have an RStudio shortcut on your desktop or start menu or somewhere on your computer</a:t>
            </a:r>
          </a:p>
          <a:p>
            <a:r>
              <a:rPr lang="en-US" dirty="0"/>
              <a:t>Open RStudio, you should see something like this: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52F1EB-7773-21D0-1E94-3D6D7057E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048000"/>
            <a:ext cx="8534400" cy="312168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501DDA9-3107-56E6-E5A6-FE5F7ACC9706}"/>
              </a:ext>
            </a:extLst>
          </p:cNvPr>
          <p:cNvSpPr/>
          <p:nvPr/>
        </p:nvSpPr>
        <p:spPr>
          <a:xfrm>
            <a:off x="152400" y="3505200"/>
            <a:ext cx="990600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8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59C7D-D518-08A1-C267-ACC859E60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Updating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CA11A-45A6-97D9-D401-C18D5B580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R version isn’t current (4.6.1 as of July 28, 2026)</a:t>
            </a:r>
          </a:p>
          <a:p>
            <a:r>
              <a:rPr lang="en-US" dirty="0"/>
              <a:t>You may need to select the new version in the pulldown menu </a:t>
            </a:r>
          </a:p>
          <a:p>
            <a:pPr marL="0" indent="0">
              <a:buNone/>
            </a:pPr>
            <a:r>
              <a:rPr lang="en-US" b="1" dirty="0"/>
              <a:t>Tools &gt;&gt;   Global options  &gt;&gt; R Session: &gt;&gt; R version.</a:t>
            </a:r>
          </a:p>
          <a:p>
            <a:pPr marL="0" indent="0">
              <a:buNone/>
            </a:pPr>
            <a:r>
              <a:rPr lang="en-US" dirty="0"/>
              <a:t>Set to 4.6.1 (or later) and restart R. You should now see the correct version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B7430F-3F35-DDC7-DACC-7E24D220A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392743"/>
            <a:ext cx="6400800" cy="249415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78C8DAC-8F5B-7A74-AD48-A3F2C088F55C}"/>
              </a:ext>
            </a:extLst>
          </p:cNvPr>
          <p:cNvSpPr/>
          <p:nvPr/>
        </p:nvSpPr>
        <p:spPr>
          <a:xfrm>
            <a:off x="685800" y="5181600"/>
            <a:ext cx="1524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041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0950-E621-4580-AFF4-4A24B75DE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Installing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ED2BB-6E12-4DC9-90A9-C2A33EA99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13619"/>
            <a:ext cx="8229600" cy="5791200"/>
          </a:xfrm>
        </p:spPr>
        <p:txBody>
          <a:bodyPr/>
          <a:lstStyle/>
          <a:p>
            <a:r>
              <a:rPr lang="en-US" dirty="0"/>
              <a:t>In the lower right corner of the RStudio user interface, select: packages &gt; install  &gt; and then type in the name of the libraries to install (ggplot2, </a:t>
            </a:r>
            <a:r>
              <a:rPr lang="en-US" dirty="0" err="1"/>
              <a:t>tidyverse</a:t>
            </a:r>
            <a:r>
              <a:rPr lang="en-US" dirty="0"/>
              <a:t>)</a:t>
            </a:r>
          </a:p>
          <a:p>
            <a:r>
              <a:rPr lang="en-US" dirty="0"/>
              <a:t> Answer any questions that come up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CA1FE-D6AA-4813-BF0A-68EE7C31C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6858000" cy="385762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151A7E5-A397-438F-BDDB-6388102E294B}"/>
              </a:ext>
            </a:extLst>
          </p:cNvPr>
          <p:cNvSpPr/>
          <p:nvPr/>
        </p:nvSpPr>
        <p:spPr>
          <a:xfrm>
            <a:off x="5486400" y="46482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26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0950-E621-4580-AFF4-4A24B75DE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Make a new R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ED2BB-6E12-4DC9-90A9-C2A33EA99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791200"/>
          </a:xfrm>
        </p:spPr>
        <p:txBody>
          <a:bodyPr>
            <a:normAutofit/>
          </a:bodyPr>
          <a:lstStyle/>
          <a:p>
            <a:r>
              <a:rPr lang="en-US" dirty="0"/>
              <a:t>You will save the code that  you run in an R script (.r file) so that you can edit and re-use it</a:t>
            </a:r>
          </a:p>
          <a:p>
            <a:r>
              <a:rPr lang="en-US" dirty="0"/>
              <a:t>In RStudio, select New File&gt;R Script and the new file will appear in the top right panel.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98736F-3BA4-4A07-BDD8-8AEBEA2DD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956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51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0950-E621-4580-AFF4-4A24B75DE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Saving the R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ED2BB-6E12-4DC9-90A9-C2A33EA99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077200" cy="5791200"/>
          </a:xfrm>
        </p:spPr>
        <p:txBody>
          <a:bodyPr>
            <a:normAutofit/>
          </a:bodyPr>
          <a:lstStyle/>
          <a:p>
            <a:r>
              <a:rPr lang="en-US" dirty="0"/>
              <a:t>Select  File&gt;Save as, and save the file into the folder where you are keeping your files for this class </a:t>
            </a:r>
          </a:p>
          <a:p>
            <a:r>
              <a:rPr lang="en-US" dirty="0"/>
              <a:t>Be sure to save regularly so you don’t lose your work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B887F-F19B-46D7-8128-97DBBD1F1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31" y="2819400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98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B4D45D7-AA9D-B665-4E8F-CB98F9082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69399"/>
            <a:ext cx="4983517" cy="34370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1D70E1-E1A5-435C-9A16-3EA5FAEA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164F0-AD36-462C-9CFD-AB616F563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R Script, type </a:t>
            </a:r>
          </a:p>
          <a:p>
            <a:pPr marL="0" indent="0">
              <a:buNone/>
            </a:pPr>
            <a:r>
              <a:rPr lang="en-US" dirty="0"/>
              <a:t>library(</a:t>
            </a:r>
            <a:r>
              <a:rPr lang="en-US" dirty="0" err="1"/>
              <a:t>tidyverse</a:t>
            </a:r>
            <a:r>
              <a:rPr lang="en-US" dirty="0"/>
              <a:t>)</a:t>
            </a:r>
          </a:p>
          <a:p>
            <a:r>
              <a:rPr lang="en-US" dirty="0"/>
              <a:t>And then click the green arrow that says run. In the console on the lower left you will see that the code ran and loaded the library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BD40B-E682-4DB6-807C-335770A9F19A}"/>
              </a:ext>
            </a:extLst>
          </p:cNvPr>
          <p:cNvSpPr txBox="1"/>
          <p:nvPr/>
        </p:nvSpPr>
        <p:spPr>
          <a:xfrm>
            <a:off x="7010400" y="43434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Ctrl-Enter</a:t>
            </a:r>
            <a:r>
              <a:rPr lang="en-US" dirty="0"/>
              <a:t> also runs the code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0A1520-F7B1-43A3-BBD2-66F1183C455E}"/>
              </a:ext>
            </a:extLst>
          </p:cNvPr>
          <p:cNvSpPr/>
          <p:nvPr/>
        </p:nvSpPr>
        <p:spPr>
          <a:xfrm>
            <a:off x="4648200" y="36195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11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65EB19-2205-731E-3A80-E2B412956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551306"/>
            <a:ext cx="6096000" cy="40268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242F6-08A1-4BCE-B34C-B5B0241C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the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0DF0F-B425-4FC2-9701-A74411434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typing this, and hitting run</a:t>
            </a:r>
          </a:p>
          <a:p>
            <a:pPr marL="0" indent="0">
              <a:buNone/>
            </a:pPr>
            <a:r>
              <a:rPr lang="en-US" dirty="0"/>
              <a:t>library(ggplot2)</a:t>
            </a:r>
          </a:p>
          <a:p>
            <a:pPr marL="0" indent="0">
              <a:buNone/>
            </a:pPr>
            <a:r>
              <a:rPr lang="en-US" dirty="0"/>
              <a:t>summary(mpg)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22F50-BABF-4949-8326-A290D7E1CAC4}"/>
              </a:ext>
            </a:extLst>
          </p:cNvPr>
          <p:cNvSpPr txBox="1"/>
          <p:nvPr/>
        </p:nvSpPr>
        <p:spPr>
          <a:xfrm>
            <a:off x="7315200" y="3027758"/>
            <a:ext cx="160020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You should see in the console a summary of a dataset about car fuel efficiency, that loaded with ggplot2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C1DCC7-4639-4477-9A79-BF821C5CCB06}"/>
              </a:ext>
            </a:extLst>
          </p:cNvPr>
          <p:cNvCxnSpPr>
            <a:cxnSpLocks/>
          </p:cNvCxnSpPr>
          <p:nvPr/>
        </p:nvCxnSpPr>
        <p:spPr>
          <a:xfrm flipH="1">
            <a:off x="1981200" y="4419600"/>
            <a:ext cx="525780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947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7913-F390-4467-8D47-A79E6818A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Changing the working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0ECC6-46EB-4DAF-9196-B44A9B413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RStudio select: Session&gt;Set working directory&gt; choose directory</a:t>
            </a:r>
          </a:p>
          <a:p>
            <a:r>
              <a:rPr lang="en-US" dirty="0"/>
              <a:t>And select the directory where you put the R script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232D4-E449-4D7F-BCA1-861F2A119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3622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21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CFDEFC-540A-F24C-17E8-AB8F57247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52" y="2074115"/>
            <a:ext cx="7902295" cy="41220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FFD847-C981-4955-B7FB-49DC35455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Check that you have the right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A7EF3-CFE0-4790-88D6-B177A7354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the function </a:t>
            </a:r>
            <a:r>
              <a:rPr lang="en-US" dirty="0" err="1"/>
              <a:t>getwd</a:t>
            </a:r>
            <a:r>
              <a:rPr lang="en-US" dirty="0"/>
              <a:t>()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BEBE1D-47D2-4FA7-A60B-9F5CA9B37CF0}"/>
              </a:ext>
            </a:extLst>
          </p:cNvPr>
          <p:cNvSpPr/>
          <p:nvPr/>
        </p:nvSpPr>
        <p:spPr>
          <a:xfrm>
            <a:off x="3886200" y="249125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6C4D80-9046-4C95-AB86-F9D1B741E270}"/>
              </a:ext>
            </a:extLst>
          </p:cNvPr>
          <p:cNvSpPr/>
          <p:nvPr/>
        </p:nvSpPr>
        <p:spPr>
          <a:xfrm>
            <a:off x="5791200" y="3407979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9CA02F-7104-4569-9F67-F1D2019905FD}"/>
              </a:ext>
            </a:extLst>
          </p:cNvPr>
          <p:cNvCxnSpPr>
            <a:cxnSpLocks/>
          </p:cNvCxnSpPr>
          <p:nvPr/>
        </p:nvCxnSpPr>
        <p:spPr>
          <a:xfrm flipH="1">
            <a:off x="6172200" y="1640839"/>
            <a:ext cx="1371600" cy="17008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5DF6EF6-97D1-48E5-AE39-B5F5114FAAC2}"/>
              </a:ext>
            </a:extLst>
          </p:cNvPr>
          <p:cNvSpPr txBox="1"/>
          <p:nvPr/>
        </p:nvSpPr>
        <p:spPr>
          <a:xfrm>
            <a:off x="7429500" y="918308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Files tab also shows the files</a:t>
            </a:r>
          </a:p>
        </p:txBody>
      </p:sp>
    </p:spTree>
    <p:extLst>
      <p:ext uri="{BB962C8B-B14F-4D97-AF65-F5344CB8AC3E}">
        <p14:creationId xmlns:p14="http://schemas.microsoft.com/office/powerpoint/2010/main" val="670075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42F6-08A1-4BCE-B34C-B5B0241C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Saving data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0DF0F-B425-4FC2-9701-A74411434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save this data to a file, run this</a:t>
            </a:r>
          </a:p>
          <a:p>
            <a:pPr marL="0" indent="0">
              <a:buNone/>
            </a:pPr>
            <a:r>
              <a:rPr lang="en-US" dirty="0"/>
              <a:t>write.csv(</a:t>
            </a:r>
            <a:r>
              <a:rPr lang="en-US" dirty="0" err="1"/>
              <a:t>mpg,”mpg.csv</a:t>
            </a:r>
            <a:r>
              <a:rPr lang="en-US" dirty="0"/>
              <a:t>”)</a:t>
            </a:r>
          </a:p>
          <a:p>
            <a:r>
              <a:rPr lang="en-US" dirty="0"/>
              <a:t>You should have printed a file with mpg data in your directory, called mpg.csv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B748C3-08DF-EE9F-154E-347DF6361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013605"/>
            <a:ext cx="3962416" cy="378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85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34135-574C-49ED-A17A-5675D4CB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 the data from the file into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7FAB0-C6E2-4683-B692-A5E7352F1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this code</a:t>
            </a:r>
          </a:p>
          <a:p>
            <a:pPr marL="0" indent="0">
              <a:buNone/>
            </a:pPr>
            <a:r>
              <a:rPr lang="en-US" dirty="0"/>
              <a:t>mpg2&lt;-read.csv(”mpg.csv”)</a:t>
            </a:r>
          </a:p>
          <a:p>
            <a:pPr marL="0" indent="0">
              <a:buNone/>
            </a:pPr>
            <a:r>
              <a:rPr lang="en-US" dirty="0"/>
              <a:t>summary(mpg2)</a:t>
            </a:r>
          </a:p>
          <a:p>
            <a:r>
              <a:rPr lang="en-US" dirty="0"/>
              <a:t>If you see a summary of the mpg data, the data loaded correctly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2DBFDB-A2ED-4A6C-B8FC-35F729970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3503124"/>
            <a:ext cx="5486400" cy="3086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F1A041-FCF7-4D43-BBD5-6F663126BBE0}"/>
              </a:ext>
            </a:extLst>
          </p:cNvPr>
          <p:cNvSpPr txBox="1"/>
          <p:nvPr/>
        </p:nvSpPr>
        <p:spPr>
          <a:xfrm>
            <a:off x="6248400" y="3810000"/>
            <a:ext cx="144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mpg.csv must be in the working directory</a:t>
            </a:r>
          </a:p>
        </p:txBody>
      </p:sp>
    </p:spTree>
    <p:extLst>
      <p:ext uri="{BB962C8B-B14F-4D97-AF65-F5344CB8AC3E}">
        <p14:creationId xmlns:p14="http://schemas.microsoft.com/office/powerpoint/2010/main" val="1243668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03E8-7C7E-9B89-F3FB-5520BD6E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Make a plot and save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BA97B-96F6-41AC-612C-5C9FD1EBA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this code to make a plot</a:t>
            </a:r>
          </a:p>
          <a:p>
            <a:pPr marL="0" indent="0">
              <a:buNone/>
            </a:pPr>
            <a:r>
              <a:rPr lang="en-US" dirty="0" err="1"/>
              <a:t>ggplot</a:t>
            </a:r>
            <a:r>
              <a:rPr lang="en-US" dirty="0"/>
              <a:t>(</a:t>
            </a:r>
            <a:r>
              <a:rPr lang="en-US" dirty="0" err="1"/>
              <a:t>mpg,aes</a:t>
            </a:r>
            <a:r>
              <a:rPr lang="en-US" dirty="0"/>
              <a:t>(y=manufacturer))+  </a:t>
            </a:r>
            <a:r>
              <a:rPr lang="en-US" dirty="0" err="1"/>
              <a:t>geom_bar</a:t>
            </a:r>
            <a:r>
              <a:rPr lang="en-US" dirty="0"/>
              <a:t>()</a:t>
            </a:r>
          </a:p>
          <a:p>
            <a:r>
              <a:rPr lang="en-US" dirty="0"/>
              <a:t>To save the plot, click “export”, “save as image”, and the image will be saved in your working directory.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2FF8C1-C0A3-7F9C-DA34-597C8C501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971239"/>
            <a:ext cx="4067668" cy="388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69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6BDD2-7857-DC7E-A87A-5B8A72EAD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92863-F4F5-4577-7BC2-34596E91A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is the most commonly used method for sharing code </a:t>
            </a:r>
            <a:r>
              <a:rPr lang="en-US" dirty="0">
                <a:hlinkClick r:id="rId2"/>
              </a:rPr>
              <a:t>https://github.com/</a:t>
            </a:r>
            <a:r>
              <a:rPr lang="en-US" dirty="0"/>
              <a:t> </a:t>
            </a:r>
          </a:p>
          <a:p>
            <a:r>
              <a:rPr lang="en-US" dirty="0"/>
              <a:t>Does automatic version control, so you don’t have multiple versions with multiple authors</a:t>
            </a:r>
          </a:p>
          <a:p>
            <a:r>
              <a:rPr lang="en-US" dirty="0"/>
              <a:t>Everyone should use GitHub for their own code, especially for published papers</a:t>
            </a:r>
          </a:p>
          <a:p>
            <a:r>
              <a:rPr lang="en-US" dirty="0"/>
              <a:t>Can be used from R, from the website, with an interface called GitHub Desktop </a:t>
            </a:r>
            <a:r>
              <a:rPr lang="en-US" dirty="0">
                <a:hlinkClick r:id="rId3"/>
              </a:rPr>
              <a:t>https://desktop.github.com/download/</a:t>
            </a:r>
            <a:r>
              <a:rPr lang="en-US" dirty="0"/>
              <a:t>  or through RStudio with Git </a:t>
            </a:r>
            <a:r>
              <a:rPr lang="en-US" dirty="0">
                <a:hlinkClick r:id="rId4"/>
              </a:rPr>
              <a:t>https://git-scm.com/install/windows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8765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1301-F0A8-6D3B-4C9C-95439AE98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Installing and using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15170-FE6C-21C2-5F85-F497FECD0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can be used in many ways</a:t>
            </a:r>
          </a:p>
          <a:p>
            <a:r>
              <a:rPr lang="en-US" dirty="0"/>
              <a:t>If you already use GitHub, keep doing whatever you are used to. </a:t>
            </a:r>
          </a:p>
          <a:p>
            <a:r>
              <a:rPr lang="en-US" dirty="0"/>
              <a:t>I’ll show you how to set up a Git project in RStudio.</a:t>
            </a:r>
          </a:p>
        </p:txBody>
      </p:sp>
    </p:spTree>
    <p:extLst>
      <p:ext uri="{BB962C8B-B14F-4D97-AF65-F5344CB8AC3E}">
        <p14:creationId xmlns:p14="http://schemas.microsoft.com/office/powerpoint/2010/main" val="1299239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62EC-9369-556A-EA9C-E8F71BE6C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GitHub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4B1AA7-BE07-28EA-F382-33B928D5B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8229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898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DF555-FEDD-5CED-5CEA-F1086CE3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1CA79-0C6F-7517-CAD1-C3877D376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Project</a:t>
            </a:r>
            <a:r>
              <a:rPr lang="en-US" dirty="0"/>
              <a:t> is a group of files and folders that contain all the data, code, settings, etc. for one project you are working on (e.g. this class, a thesis chapter). It is defined in RStudio as a project.</a:t>
            </a:r>
          </a:p>
          <a:p>
            <a:r>
              <a:rPr lang="en-US" dirty="0"/>
              <a:t>A </a:t>
            </a:r>
            <a:r>
              <a:rPr lang="en-US" b="1" dirty="0"/>
              <a:t>repository</a:t>
            </a:r>
            <a:r>
              <a:rPr lang="en-US" dirty="0"/>
              <a:t> is the folder containing the project, and its changes. It is copied on both your local computer and GitHub</a:t>
            </a:r>
          </a:p>
          <a:p>
            <a:pPr lvl="1"/>
            <a:r>
              <a:rPr lang="en-US" dirty="0"/>
              <a:t>Repositories can be edited in GitHub or in any location they are cloned to, then synced via the GitHub repository</a:t>
            </a:r>
          </a:p>
          <a:p>
            <a:r>
              <a:rPr lang="en-US" b="1" dirty="0"/>
              <a:t>Clone</a:t>
            </a:r>
            <a:r>
              <a:rPr lang="en-US" dirty="0"/>
              <a:t> means copy a repository to a new location</a:t>
            </a:r>
          </a:p>
          <a:p>
            <a:r>
              <a:rPr lang="en-US" b="1" dirty="0"/>
              <a:t>Branch</a:t>
            </a:r>
            <a:r>
              <a:rPr lang="en-US" dirty="0"/>
              <a:t> means a parallel version of the repository (e.g. for testing) which may be </a:t>
            </a:r>
            <a:r>
              <a:rPr lang="en-US" b="1" dirty="0"/>
              <a:t>merged</a:t>
            </a:r>
            <a:r>
              <a:rPr lang="en-US" dirty="0"/>
              <a:t> with the main branch</a:t>
            </a:r>
          </a:p>
        </p:txBody>
      </p:sp>
    </p:spTree>
    <p:extLst>
      <p:ext uri="{BB962C8B-B14F-4D97-AF65-F5344CB8AC3E}">
        <p14:creationId xmlns:p14="http://schemas.microsoft.com/office/powerpoint/2010/main" val="1160855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B36D-AB31-9B62-D7CD-CAB9646D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GitHub syncing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57D7F-9D5C-28FA-8F4E-DF15E71D6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change in your file on your computer in R</a:t>
            </a:r>
            <a:endParaRPr lang="en-US" b="1" dirty="0"/>
          </a:p>
          <a:p>
            <a:r>
              <a:rPr lang="en-US" b="1" dirty="0"/>
              <a:t>Commit </a:t>
            </a:r>
            <a:r>
              <a:rPr lang="en-US" dirty="0"/>
              <a:t>the change on your computer </a:t>
            </a:r>
          </a:p>
          <a:p>
            <a:r>
              <a:rPr lang="en-US" b="1" dirty="0"/>
              <a:t>Push</a:t>
            </a:r>
            <a:r>
              <a:rPr lang="en-US" dirty="0"/>
              <a:t> the committed changes to the GitHub cloud</a:t>
            </a:r>
          </a:p>
          <a:p>
            <a:r>
              <a:rPr lang="en-US" b="1" dirty="0"/>
              <a:t>Fetch</a:t>
            </a:r>
            <a:r>
              <a:rPr lang="en-US" dirty="0"/>
              <a:t> committed changes from the GitHub cloud</a:t>
            </a:r>
          </a:p>
          <a:p>
            <a:r>
              <a:rPr lang="en-US" b="1" dirty="0"/>
              <a:t>Pull</a:t>
            </a:r>
            <a:r>
              <a:rPr lang="en-US" dirty="0"/>
              <a:t> commits to update files on your computer</a:t>
            </a:r>
          </a:p>
        </p:txBody>
      </p:sp>
    </p:spTree>
    <p:extLst>
      <p:ext uri="{BB962C8B-B14F-4D97-AF65-F5344CB8AC3E}">
        <p14:creationId xmlns:p14="http://schemas.microsoft.com/office/powerpoint/2010/main" val="140454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C7F6-6315-D46E-025A-82B1E305A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Organizing GitHub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C16C9-9987-62A8-9A60-2E4EC609F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up a folder on your computer called “GitHub” with all your GitHub repositories in</a:t>
            </a:r>
          </a:p>
          <a:p>
            <a:r>
              <a:rPr lang="en-US" dirty="0"/>
              <a:t>Document</a:t>
            </a:r>
            <a:r>
              <a:rPr lang="en-US"/>
              <a:t>/GitHub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108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6921A-EFD3-2637-C977-E050EB8A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 clone a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A5B95-C516-A642-2E99-7630F23C3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 RStudio, go to </a:t>
            </a:r>
            <a:r>
              <a:rPr lang="en-US" b="1" dirty="0"/>
              <a:t>File → New Project → Version Control → Git</a:t>
            </a:r>
            <a:endParaRPr lang="en-US" dirty="0"/>
          </a:p>
          <a:p>
            <a:pPr lvl="0"/>
            <a:r>
              <a:rPr lang="en-US" dirty="0"/>
              <a:t>Paste the repository URL: https://github.com/ebabcock/MBE713Population-Dynamics</a:t>
            </a:r>
          </a:p>
          <a:p>
            <a:pPr lvl="0"/>
            <a:r>
              <a:rPr lang="en-US" dirty="0"/>
              <a:t>Choose where to save it on your computer (browse to documents/GitHub) click </a:t>
            </a:r>
            <a:r>
              <a:rPr lang="en-US" b="1" dirty="0"/>
              <a:t>Create Project</a:t>
            </a:r>
          </a:p>
          <a:p>
            <a:pPr lvl="0"/>
            <a:r>
              <a:rPr lang="en-US" dirty="0"/>
              <a:t>Look in the directory and you will see a .</a:t>
            </a:r>
            <a:r>
              <a:rPr lang="en-US" dirty="0" err="1"/>
              <a:t>proj</a:t>
            </a:r>
            <a:r>
              <a:rPr lang="en-US" dirty="0"/>
              <a:t> file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001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A41C0-BA27-49EB-9300-8FE3C4E4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 class on Thursday, August 20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C9E7F-BEF3-42C4-B5BD-A11753A4D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to open R, save an R script, change your directory and read in data for Thursday,</a:t>
            </a:r>
          </a:p>
          <a:p>
            <a:r>
              <a:rPr lang="en-US" dirty="0"/>
              <a:t>If you can’t, please attend office hours or email for help.  </a:t>
            </a:r>
          </a:p>
          <a:p>
            <a:r>
              <a:rPr lang="en-US" dirty="0"/>
              <a:t>There is an assignment on Canvas, called Week 1 Technology Check, </a:t>
            </a:r>
          </a:p>
          <a:p>
            <a:pPr lvl="1"/>
            <a:r>
              <a:rPr lang="en-US" dirty="0"/>
              <a:t>due Thursday during class, to make sure you have R and GitHub working and can upload your results to Canvas.  </a:t>
            </a:r>
          </a:p>
        </p:txBody>
      </p:sp>
    </p:spTree>
    <p:extLst>
      <p:ext uri="{BB962C8B-B14F-4D97-AF65-F5344CB8AC3E}">
        <p14:creationId xmlns:p14="http://schemas.microsoft.com/office/powerpoint/2010/main" val="3677182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7764</TotalTime>
  <Words>1061</Words>
  <Application>Microsoft Office PowerPoint</Application>
  <PresentationFormat>On-screen Show (4:3)</PresentationFormat>
  <Paragraphs>102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Getting started with R, RStudio and GitHub</vt:lpstr>
      <vt:lpstr>Getting started</vt:lpstr>
      <vt:lpstr>Installing R</vt:lpstr>
      <vt:lpstr>Installing RStudio</vt:lpstr>
      <vt:lpstr>Open RStudio</vt:lpstr>
      <vt:lpstr>Updating version</vt:lpstr>
      <vt:lpstr>Installing libraries</vt:lpstr>
      <vt:lpstr>Make a new R script</vt:lpstr>
      <vt:lpstr>Saving the R script</vt:lpstr>
      <vt:lpstr>Using libraries</vt:lpstr>
      <vt:lpstr>Using the library</vt:lpstr>
      <vt:lpstr>Changing the working directory</vt:lpstr>
      <vt:lpstr>Check that you have the right directory</vt:lpstr>
      <vt:lpstr>Saving data to a file</vt:lpstr>
      <vt:lpstr>Read the data from the file into R</vt:lpstr>
      <vt:lpstr>Make a plot and save it</vt:lpstr>
      <vt:lpstr>GitHub</vt:lpstr>
      <vt:lpstr>Installing and using GitHub</vt:lpstr>
      <vt:lpstr>GitHub process</vt:lpstr>
      <vt:lpstr>Vocabulary</vt:lpstr>
      <vt:lpstr>GitHub syncing process</vt:lpstr>
      <vt:lpstr>Organizing GitHub files</vt:lpstr>
      <vt:lpstr>To clone a repository</vt:lpstr>
      <vt:lpstr>For class on Thursday, August 20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MBF   :Lecture 3.  Functioning of Marine Ecosystems</dc:title>
  <dc:creator>Elizabeth A. Babcock</dc:creator>
  <cp:lastModifiedBy>Babcock, Elizabeth A</cp:lastModifiedBy>
  <cp:revision>766</cp:revision>
  <cp:lastPrinted>2017-09-25T20:19:55Z</cp:lastPrinted>
  <dcterms:created xsi:type="dcterms:W3CDTF">2006-08-16T00:00:00Z</dcterms:created>
  <dcterms:modified xsi:type="dcterms:W3CDTF">2026-08-14T21:32:03Z</dcterms:modified>
</cp:coreProperties>
</file>