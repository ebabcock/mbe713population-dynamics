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41"/>
  </p:notesMasterIdLst>
  <p:handoutMasterIdLst>
    <p:handoutMasterId r:id="rId42"/>
  </p:handoutMasterIdLst>
  <p:sldIdLst>
    <p:sldId id="297" r:id="rId2"/>
    <p:sldId id="304" r:id="rId3"/>
    <p:sldId id="356" r:id="rId4"/>
    <p:sldId id="298" r:id="rId5"/>
    <p:sldId id="306" r:id="rId6"/>
    <p:sldId id="358" r:id="rId7"/>
    <p:sldId id="359" r:id="rId8"/>
    <p:sldId id="362" r:id="rId9"/>
    <p:sldId id="360" r:id="rId10"/>
    <p:sldId id="357" r:id="rId11"/>
    <p:sldId id="361" r:id="rId12"/>
    <p:sldId id="370" r:id="rId13"/>
    <p:sldId id="354" r:id="rId14"/>
    <p:sldId id="307" r:id="rId15"/>
    <p:sldId id="285" r:id="rId16"/>
    <p:sldId id="331" r:id="rId17"/>
    <p:sldId id="286" r:id="rId18"/>
    <p:sldId id="353" r:id="rId19"/>
    <p:sldId id="287" r:id="rId20"/>
    <p:sldId id="320" r:id="rId21"/>
    <p:sldId id="288" r:id="rId22"/>
    <p:sldId id="350" r:id="rId23"/>
    <p:sldId id="355" r:id="rId24"/>
    <p:sldId id="300" r:id="rId25"/>
    <p:sldId id="365" r:id="rId26"/>
    <p:sldId id="366" r:id="rId27"/>
    <p:sldId id="308" r:id="rId28"/>
    <p:sldId id="309" r:id="rId29"/>
    <p:sldId id="312" r:id="rId30"/>
    <p:sldId id="313" r:id="rId31"/>
    <p:sldId id="367" r:id="rId32"/>
    <p:sldId id="301" r:id="rId33"/>
    <p:sldId id="302" r:id="rId34"/>
    <p:sldId id="305" r:id="rId35"/>
    <p:sldId id="369" r:id="rId36"/>
    <p:sldId id="303" r:id="rId37"/>
    <p:sldId id="363" r:id="rId38"/>
    <p:sldId id="364" r:id="rId39"/>
    <p:sldId id="371" r:id="rId4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590" autoAdjust="0"/>
  </p:normalViewPr>
  <p:slideViewPr>
    <p:cSldViewPr>
      <p:cViewPr varScale="1">
        <p:scale>
          <a:sx n="109" d="100"/>
          <a:sy n="109" d="100"/>
        </p:scale>
        <p:origin x="706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14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44E1A066-3641-409E-B440-E03BE1A0AA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3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DB41E0A9-D23A-4D9E-8E36-829A8A18E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2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1E0A9-D23A-4D9E-8E36-829A8A18E11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8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9F80-45B0-4F1E-BC10-13B91018D52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06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9F80-45B0-4F1E-BC10-13B91018D52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6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9F80-45B0-4F1E-BC10-13B91018D52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69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9F80-45B0-4F1E-BC10-13B91018D52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74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9F80-45B0-4F1E-BC10-13B91018D52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70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9F80-45B0-4F1E-BC10-13B91018D52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23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9F80-45B0-4F1E-BC10-13B91018D52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00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BBBEE46A-2972-45EC-9F92-6432878416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F4824D-0FAD-4767-A537-5E382C348E71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6DBAE4B8-E3F0-48F7-BB7F-0819DF212C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E7E4A1E7-E6C0-435D-B1E7-A86DA33F62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523DE8FA-0F69-4D32-A00A-EBB4925179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04DC9C-4C72-4061-8919-4313D5CEECC9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5B7C1EA3-BE82-4B90-A014-E66D034287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EB201088-4189-47CA-8454-01E59D113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8465D851-56AF-4383-9C68-35861BDF09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929626-6FE0-433F-B343-AF97818F888F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20018CF6-31E0-483F-A267-D9E5B3A851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6492FEF6-539A-4ACD-AD53-4B2D2429F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0551B44F-38A6-4D3A-ADA6-F81E091DAA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DF863DD9-34C6-43B7-9FCE-65C749231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53E24225-63EA-40A8-9127-AFA022300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20B692-721C-4E98-8003-F19A8B0FCDDE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8F5C5E0E-1E42-4217-A809-DFC51BB925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1923D7A7-EA27-4A72-BAF7-76CEC5120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3031EB5F-695A-44D7-B16B-A7EF2395E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4366CBC-5C3E-4594-B010-65B00713927E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75B005FE-B8DF-4382-AFCC-A286DAD119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CC8C5AB5-BB48-4334-A438-66639C5BB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44F9444D-AB64-45CA-B6F5-4B5CFBE72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0DEB831-E2F3-452C-86AE-F1E20E029780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62168-CA75-4DCB-ACA1-3CBE51E9B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D0444-4EDE-4B38-A1B6-1736318DBC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321D8-A24E-4B03-8586-27459BEAE9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44912-138E-4802-853F-B984A9F1B8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CEF9F-1C92-4FF0-B96A-F7A26EAD5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4A5D3-C54B-4997-83E3-9432E83EEA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65590-C750-4EBE-B003-8C25E87E5E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96C32-B7AF-4AD0-8CF7-595A42FA59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90EA9-603D-4EE5-A1C2-41766C3D91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161DC-BD25-4CCF-BE89-96EEE98F52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DDD1C5-1327-4575-9025-19C1051F18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665C853-9B71-41A6-85AE-FF9CB414E8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263BF0B-CADE-419C-AB13-4AA4FFFE67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10E6B2F-18C5-4BBA-93EB-6AAC223AF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90D7465-2649-45B4-818D-D0220884C5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73B23E-588F-4102-9F6B-DE52C387C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51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57D645-5CE9-4EB9-B8B2-706EBA74EC3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11.bin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8.w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2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7772400" cy="1470025"/>
          </a:xfrm>
        </p:spPr>
        <p:txBody>
          <a:bodyPr/>
          <a:lstStyle/>
          <a:p>
            <a:r>
              <a:rPr lang="en-US" sz="3600" dirty="0"/>
              <a:t>MBE 713: Marine Population Dynamics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3148216"/>
            <a:ext cx="4038600" cy="1752600"/>
          </a:xfrm>
        </p:spPr>
        <p:txBody>
          <a:bodyPr/>
          <a:lstStyle/>
          <a:p>
            <a:pPr algn="l"/>
            <a:r>
              <a:rPr lang="en-US" dirty="0"/>
              <a:t>Elizabeth A. Babcock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3124200" y="3124200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endParaRPr lang="en-US" sz="2400">
              <a:latin typeface="Albertus Extra Bold" pitchFamily="34" charset="0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" y="4953000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5E1B-F1BD-109D-F6F0-E4259453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0565D-DA68-E816-4136-54BEDAAD4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6858000" cy="5135563"/>
          </a:xfrm>
        </p:spPr>
        <p:txBody>
          <a:bodyPr/>
          <a:lstStyle/>
          <a:p>
            <a:r>
              <a:rPr lang="en-US" dirty="0"/>
              <a:t>Fisheries Science, quantitative ecology, Bayesian statistics, bycatch </a:t>
            </a:r>
          </a:p>
          <a:p>
            <a:r>
              <a:rPr lang="en-US" dirty="0"/>
              <a:t>Mostly fisheries work, including fisheries stock assessments</a:t>
            </a:r>
          </a:p>
          <a:p>
            <a:pPr lvl="1"/>
            <a:r>
              <a:rPr lang="en-US" dirty="0"/>
              <a:t>Sharks</a:t>
            </a:r>
          </a:p>
          <a:p>
            <a:pPr lvl="1"/>
            <a:r>
              <a:rPr lang="en-US" dirty="0"/>
              <a:t>Finfish, conch, spiny lobster</a:t>
            </a:r>
          </a:p>
          <a:p>
            <a:r>
              <a:rPr lang="en-US" dirty="0"/>
              <a:t>Protected species </a:t>
            </a:r>
          </a:p>
          <a:p>
            <a:pPr lvl="1"/>
            <a:r>
              <a:rPr lang="en-US" dirty="0"/>
              <a:t>sea turtles, marine mammals</a:t>
            </a:r>
          </a:p>
          <a:p>
            <a:r>
              <a:rPr lang="en-US" dirty="0"/>
              <a:t>Extinction risk and endangered status</a:t>
            </a:r>
          </a:p>
          <a:p>
            <a:pPr lvl="1"/>
            <a:r>
              <a:rPr lang="en-US" dirty="0"/>
              <a:t>IUCN, CITES, ESA</a:t>
            </a:r>
          </a:p>
        </p:txBody>
      </p:sp>
      <p:pic>
        <p:nvPicPr>
          <p:cNvPr id="4" name="Picture 3" descr="A person wearing glasses and smiling at the camera&#10;&#10;Description automatically generated">
            <a:extLst>
              <a:ext uri="{FF2B5EF4-FFF2-40B4-BE49-F238E27FC236}">
                <a16:creationId xmlns:a16="http://schemas.microsoft.com/office/drawing/2014/main" id="{2FCEBB38-DCDC-F7B6-79DD-DF2CB3EF3C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285999"/>
            <a:ext cx="2209800" cy="222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9EC3-E9D6-F553-249E-F1FEC867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F46FB-EEDE-A262-3800-955DCFFB9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intro on population dynamics, what it is and what it is used for</a:t>
            </a:r>
          </a:p>
          <a:p>
            <a:r>
              <a:rPr lang="en-US" dirty="0"/>
              <a:t>Mathematical models</a:t>
            </a:r>
          </a:p>
          <a:p>
            <a:r>
              <a:rPr lang="en-US" dirty="0"/>
              <a:t>Course syllabus</a:t>
            </a:r>
          </a:p>
          <a:p>
            <a:r>
              <a:rPr lang="en-US" dirty="0"/>
              <a:t>GitHub for sharing code</a:t>
            </a:r>
          </a:p>
        </p:txBody>
      </p:sp>
    </p:spTree>
    <p:extLst>
      <p:ext uri="{BB962C8B-B14F-4D97-AF65-F5344CB8AC3E}">
        <p14:creationId xmlns:p14="http://schemas.microsoft.com/office/powerpoint/2010/main" val="2496267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4F000-8C7C-4089-A63B-4A6555A4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BCE46-1E43-CD43-4D26-D9E34E430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Tracking trends in abundance of a marine animal over time</a:t>
            </a:r>
          </a:p>
          <a:p>
            <a:pPr lvl="1"/>
            <a:r>
              <a:rPr lang="en-US" dirty="0"/>
              <a:t>Surveys</a:t>
            </a:r>
          </a:p>
          <a:p>
            <a:pPr lvl="1"/>
            <a:r>
              <a:rPr lang="en-US" dirty="0"/>
              <a:t>Data from fisheries </a:t>
            </a:r>
          </a:p>
          <a:p>
            <a:pPr lvl="1"/>
            <a:r>
              <a:rPr lang="en-US" dirty="0"/>
              <a:t>Mark-recapture studies</a:t>
            </a:r>
          </a:p>
          <a:p>
            <a:r>
              <a:rPr lang="en-US" dirty="0"/>
              <a:t>Modeling change in abundance over time</a:t>
            </a:r>
          </a:p>
          <a:p>
            <a:pPr lvl="1"/>
            <a:r>
              <a:rPr lang="en-US" dirty="0"/>
              <a:t>Estimate fecundity and survival</a:t>
            </a:r>
          </a:p>
          <a:p>
            <a:pPr lvl="1"/>
            <a:r>
              <a:rPr lang="en-US" dirty="0"/>
              <a:t>Use estimates to predict change in abundance over time</a:t>
            </a:r>
          </a:p>
        </p:txBody>
      </p:sp>
    </p:spTree>
    <p:extLst>
      <p:ext uri="{BB962C8B-B14F-4D97-AF65-F5344CB8AC3E}">
        <p14:creationId xmlns:p14="http://schemas.microsoft.com/office/powerpoint/2010/main" val="3921161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9271D-6A92-A0FD-8ADE-86DF21587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population dynamics?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5D516-A6F1-3445-BFFD-0961425DB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fisheries and other living marine resources</a:t>
            </a:r>
          </a:p>
          <a:p>
            <a:pPr lvl="1"/>
            <a:r>
              <a:rPr lang="en-US" dirty="0"/>
              <a:t>Evaluate status relative to reference points</a:t>
            </a:r>
          </a:p>
          <a:p>
            <a:pPr lvl="1"/>
            <a:r>
              <a:rPr lang="en-US" dirty="0"/>
              <a:t>Estimate likely effectiveness of conservation and management strategies</a:t>
            </a:r>
          </a:p>
          <a:p>
            <a:r>
              <a:rPr lang="en-US" dirty="0"/>
              <a:t>For protected species</a:t>
            </a:r>
          </a:p>
          <a:p>
            <a:pPr lvl="1"/>
            <a:r>
              <a:rPr lang="en-US" dirty="0"/>
              <a:t>Managing incidental take and allowable catch or bycatch limits in fisheries</a:t>
            </a:r>
          </a:p>
          <a:p>
            <a:pPr lvl="1"/>
            <a:r>
              <a:rPr lang="en-US" dirty="0"/>
              <a:t>Estimating extinction risk, e.g. IUCN Red List, CITES, ESA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262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13F4B-010D-4A7E-5570-64F47FB3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69973"/>
            <a:ext cx="8229600" cy="487362"/>
          </a:xfrm>
        </p:spPr>
        <p:txBody>
          <a:bodyPr/>
          <a:lstStyle/>
          <a:p>
            <a:r>
              <a:rPr lang="en-US" dirty="0"/>
              <a:t>Fishery stock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B95A9-D57E-CC2F-DBBE-7CDB7EC04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78467"/>
            <a:ext cx="8229600" cy="5135563"/>
          </a:xfrm>
        </p:spPr>
        <p:txBody>
          <a:bodyPr/>
          <a:lstStyle/>
          <a:p>
            <a:r>
              <a:rPr lang="en-US" dirty="0"/>
              <a:t>Combine data on catches, abundance trend data, biological data, etc. with a population dynamics model to </a:t>
            </a:r>
          </a:p>
          <a:p>
            <a:pPr lvl="1"/>
            <a:r>
              <a:rPr lang="en-US" dirty="0"/>
              <a:t>estimate current status with respect to reference points. </a:t>
            </a:r>
          </a:p>
          <a:p>
            <a:pPr lvl="1"/>
            <a:r>
              <a:rPr lang="en-US" dirty="0"/>
              <a:t>Predict the effect of proposed management actions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C7BA3-CEF3-242E-CC62-91A893A8EEF9}"/>
              </a:ext>
            </a:extLst>
          </p:cNvPr>
          <p:cNvSpPr txBox="1"/>
          <p:nvPr/>
        </p:nvSpPr>
        <p:spPr>
          <a:xfrm>
            <a:off x="2819400" y="621403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www.iccat.int/documents/scrs/other/glossary.pdf</a:t>
            </a:r>
          </a:p>
        </p:txBody>
      </p:sp>
    </p:spTree>
    <p:extLst>
      <p:ext uri="{BB962C8B-B14F-4D97-AF65-F5344CB8AC3E}">
        <p14:creationId xmlns:p14="http://schemas.microsoft.com/office/powerpoint/2010/main" val="1404133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895C-EE1F-C51F-17E9-0795DB45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points (ICCAT)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F77FA-055A-D565-00E6-1F93AB9E3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61218"/>
            <a:ext cx="8229600" cy="5135563"/>
          </a:xfrm>
        </p:spPr>
        <p:txBody>
          <a:bodyPr/>
          <a:lstStyle/>
          <a:p>
            <a:r>
              <a:rPr lang="en-US" dirty="0"/>
              <a:t>“Target reference point: A benchmark that should be achieved on average according to a given set of management objectives. ICCAT´s implied targets are F</a:t>
            </a:r>
            <a:r>
              <a:rPr lang="en-US" baseline="-25000" dirty="0"/>
              <a:t>MSY</a:t>
            </a:r>
            <a:r>
              <a:rPr lang="en-US" dirty="0"/>
              <a:t>, B</a:t>
            </a:r>
            <a:r>
              <a:rPr lang="en-US" baseline="-25000" dirty="0"/>
              <a:t>MSY</a:t>
            </a:r>
            <a:r>
              <a:rPr lang="en-US" dirty="0"/>
              <a:t> and MSY*</a:t>
            </a:r>
          </a:p>
          <a:p>
            <a:r>
              <a:rPr lang="en-US" dirty="0"/>
              <a:t>Limit reference point: A benchmark that should not be exceeded with any significant probability according to a given set of management objectives”</a:t>
            </a:r>
          </a:p>
          <a:p>
            <a:pPr marL="0" indent="0">
              <a:buNone/>
            </a:pPr>
            <a:r>
              <a:rPr lang="en-US" dirty="0"/>
              <a:t>	*</a:t>
            </a:r>
            <a:r>
              <a:rPr lang="en-US" sz="2800" dirty="0"/>
              <a:t>MSY is maximum sustainable yield, F is 	fishing mortality, B is biomass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3B547-152D-9B16-9F6B-CAA3D6C20EE9}"/>
              </a:ext>
            </a:extLst>
          </p:cNvPr>
          <p:cNvSpPr txBox="1"/>
          <p:nvPr/>
        </p:nvSpPr>
        <p:spPr>
          <a:xfrm>
            <a:off x="2819400" y="621403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www.iccat.int/documents/scrs/other/glossary.pdf</a:t>
            </a:r>
          </a:p>
        </p:txBody>
      </p:sp>
    </p:spTree>
    <p:extLst>
      <p:ext uri="{BB962C8B-B14F-4D97-AF65-F5344CB8AC3E}">
        <p14:creationId xmlns:p14="http://schemas.microsoft.com/office/powerpoint/2010/main" val="1374316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D38E-AFF4-B377-651D-F25E75EB2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8155"/>
            <a:ext cx="8229600" cy="487362"/>
          </a:xfrm>
        </p:spPr>
        <p:txBody>
          <a:bodyPr/>
          <a:lstStyle/>
          <a:p>
            <a:r>
              <a:rPr lang="en-US" dirty="0"/>
              <a:t>ICCAT: International Commission for the Conservation of Atlantic Tuna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75072-5445-4394-85C8-21ED9650B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429000"/>
            <a:ext cx="8305800" cy="2697163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https://www.iccat.int/en/assess.html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CBD46-05F5-BABF-17C2-AA9826FEA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56" y="1676400"/>
            <a:ext cx="8329789" cy="233869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8095055-F968-780B-81A7-EC3C6B056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996" y="4074623"/>
            <a:ext cx="3850780" cy="169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12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A27EC-4455-9E0B-F8B4-4A340776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594D-4EB5-BD62-224A-AECD49ADF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 N Atlantic blue shark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2E9505-9F3C-B770-7C34-DDCA31639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-76200" y="1026671"/>
            <a:ext cx="5562600" cy="2676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6EA99C-C9E8-638E-7D74-69FDA7CCE03D}"/>
              </a:ext>
            </a:extLst>
          </p:cNvPr>
          <p:cNvSpPr txBox="1"/>
          <p:nvPr/>
        </p:nvSpPr>
        <p:spPr>
          <a:xfrm>
            <a:off x="5791201" y="990267"/>
            <a:ext cx="312419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Also have biological information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Age at maturity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Length at 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Number of pups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Interpupping</a:t>
            </a:r>
            <a:r>
              <a:rPr lang="en-US" sz="2000" dirty="0"/>
              <a:t> interval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Natural mortality rate</a:t>
            </a:r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4DA69-A445-4EE9-7381-EE6FE5742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795536"/>
            <a:ext cx="5594032" cy="2797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9423BD-BA3C-CC43-3172-A6D752A188C7}"/>
              </a:ext>
            </a:extLst>
          </p:cNvPr>
          <p:cNvSpPr txBox="1"/>
          <p:nvPr/>
        </p:nvSpPr>
        <p:spPr>
          <a:xfrm>
            <a:off x="76200" y="6914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Abundance trends from fishery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C8A614-3316-5132-E872-F055EFAE7C8E}"/>
              </a:ext>
            </a:extLst>
          </p:cNvPr>
          <p:cNvSpPr txBox="1"/>
          <p:nvPr/>
        </p:nvSpPr>
        <p:spPr>
          <a:xfrm>
            <a:off x="94861" y="323386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Catches (red is N Atlantic)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98552-40EA-58D5-3C15-18BF6AD4AA0C}"/>
              </a:ext>
            </a:extLst>
          </p:cNvPr>
          <p:cNvSpPr txBox="1"/>
          <p:nvPr/>
        </p:nvSpPr>
        <p:spPr>
          <a:xfrm>
            <a:off x="7331529" y="6398696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www.iccat.int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484A6C56-BA8C-CEB6-AAC6-CC84084C0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572" y="4531272"/>
            <a:ext cx="2372901" cy="104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959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4CEE-47C2-F0FC-077A-2230A7E2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943600" cy="487362"/>
          </a:xfrm>
        </p:spPr>
        <p:txBody>
          <a:bodyPr/>
          <a:lstStyle/>
          <a:p>
            <a:r>
              <a:rPr lang="en-US" dirty="0"/>
              <a:t>Assessment of status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C7A490-19FB-A42D-DA92-24F402D06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19200"/>
            <a:ext cx="7287709" cy="52578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0E2A20D-2D8D-F745-564F-5CB3DF68F626}"/>
              </a:ext>
            </a:extLst>
          </p:cNvPr>
          <p:cNvSpPr txBox="1"/>
          <p:nvPr/>
        </p:nvSpPr>
        <p:spPr>
          <a:xfrm>
            <a:off x="6477000" y="1219200"/>
            <a:ext cx="2286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Stock assessment combined data with population dynamics models (JABBA and </a:t>
            </a:r>
            <a:r>
              <a:rPr lang="en-US" dirty="0" err="1"/>
              <a:t>StockSynthesis</a:t>
            </a:r>
            <a:r>
              <a:rPr lang="en-US" dirty="0"/>
              <a:t>) to estimate status with respect to target reference point of MSY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Line at 1.0 is </a:t>
            </a:r>
            <a:r>
              <a:rPr lang="en-US" dirty="0" err="1"/>
              <a:t>Bmsy</a:t>
            </a:r>
            <a:r>
              <a:rPr lang="en-US" dirty="0"/>
              <a:t>, the biomass to stay above, or </a:t>
            </a:r>
            <a:r>
              <a:rPr lang="en-US" dirty="0" err="1"/>
              <a:t>Fmsy</a:t>
            </a:r>
            <a:r>
              <a:rPr lang="en-US" dirty="0"/>
              <a:t>, the fishing mortality rate to stay below.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B11B1955-CB77-73BD-A845-5CC9D29BB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322"/>
            <a:ext cx="2819400" cy="123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F2325E6-7E2F-5FD0-632F-DA673C0349D6}"/>
              </a:ext>
            </a:extLst>
          </p:cNvPr>
          <p:cNvSpPr txBox="1"/>
          <p:nvPr/>
        </p:nvSpPr>
        <p:spPr>
          <a:xfrm>
            <a:off x="7331529" y="6398696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www.iccat.int</a:t>
            </a:r>
          </a:p>
        </p:txBody>
      </p:sp>
    </p:spTree>
    <p:extLst>
      <p:ext uri="{BB962C8B-B14F-4D97-AF65-F5344CB8AC3E}">
        <p14:creationId xmlns:p14="http://schemas.microsoft.com/office/powerpoint/2010/main" val="1480187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4286-B195-DBC4-7587-367B81A5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581400" cy="487362"/>
          </a:xfrm>
        </p:spPr>
        <p:txBody>
          <a:bodyPr/>
          <a:lstStyle/>
          <a:p>
            <a:r>
              <a:rPr lang="en-US" dirty="0"/>
              <a:t>Projections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ECC7AB-D670-9AFB-BA86-CB92AC7FA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1447800"/>
            <a:ext cx="5791200" cy="3054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2F839A7-BFC0-D93D-7867-C76758535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020" y="152400"/>
            <a:ext cx="3850780" cy="169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A92777-BF2F-B0CA-9BBD-A0CEE4D77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48200"/>
            <a:ext cx="5563673" cy="18609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BB41C9-F250-41C2-0093-933BF9F6CE75}"/>
              </a:ext>
            </a:extLst>
          </p:cNvPr>
          <p:cNvSpPr txBox="1"/>
          <p:nvPr/>
        </p:nvSpPr>
        <p:spPr>
          <a:xfrm>
            <a:off x="7331529" y="6398696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www.iccat.int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0D5B31-C871-6146-66B5-D898E39BEF30}"/>
              </a:ext>
            </a:extLst>
          </p:cNvPr>
          <p:cNvSpPr txBox="1"/>
          <p:nvPr/>
        </p:nvSpPr>
        <p:spPr>
          <a:xfrm>
            <a:off x="6400800" y="2514600"/>
            <a:ext cx="228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Managers use this information to decide on a quota, with an acceptable probability of maintain the population above the reference point</a:t>
            </a:r>
          </a:p>
        </p:txBody>
      </p:sp>
    </p:spTree>
    <p:extLst>
      <p:ext uri="{BB962C8B-B14F-4D97-AF65-F5344CB8AC3E}">
        <p14:creationId xmlns:p14="http://schemas.microsoft.com/office/powerpoint/2010/main" val="2688453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1900-F65C-945E-6BD9-1DCC0950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IUCN estimates of extinction risk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56D9A5-D9DB-FBA9-58D1-A99D59E7A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023" y="2133600"/>
            <a:ext cx="8229600" cy="164940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0AE2F1-BBDE-987C-B48A-9A078B1344EB}"/>
              </a:ext>
            </a:extLst>
          </p:cNvPr>
          <p:cNvSpPr txBox="1"/>
          <p:nvPr/>
        </p:nvSpPr>
        <p:spPr>
          <a:xfrm>
            <a:off x="5638800" y="598543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https://www.iucnredlist.org/</a:t>
            </a:r>
          </a:p>
        </p:txBody>
      </p:sp>
    </p:spTree>
    <p:extLst>
      <p:ext uri="{BB962C8B-B14F-4D97-AF65-F5344CB8AC3E}">
        <p14:creationId xmlns:p14="http://schemas.microsoft.com/office/powerpoint/2010/main" val="847832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6572-B8C4-7EEA-9FB5-56E4214F1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Shark extinction risk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8A68766-55E4-2DAE-1869-65F7387A3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99" y="1066800"/>
            <a:ext cx="8546599" cy="342899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710F91-7ED0-892F-8A5F-AE7E5098A10A}"/>
              </a:ext>
            </a:extLst>
          </p:cNvPr>
          <p:cNvSpPr txBox="1"/>
          <p:nvPr/>
        </p:nvSpPr>
        <p:spPr>
          <a:xfrm>
            <a:off x="6874964" y="6361294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Dulvy</a:t>
            </a:r>
            <a:r>
              <a:rPr lang="en-US" dirty="0"/>
              <a:t> et al. 2024</a:t>
            </a:r>
          </a:p>
        </p:txBody>
      </p:sp>
    </p:spTree>
    <p:extLst>
      <p:ext uri="{BB962C8B-B14F-4D97-AF65-F5344CB8AC3E}">
        <p14:creationId xmlns:p14="http://schemas.microsoft.com/office/powerpoint/2010/main" val="2961925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C45B-4F72-265A-86EA-F0BBA06C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Shark and ray population decline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DD91B87-773C-4614-B3ED-C4E406130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849318"/>
            <a:ext cx="5274764" cy="588130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2C3B6A-81F2-9DAD-1B0D-00A41358D2BE}"/>
              </a:ext>
            </a:extLst>
          </p:cNvPr>
          <p:cNvSpPr txBox="1"/>
          <p:nvPr/>
        </p:nvSpPr>
        <p:spPr>
          <a:xfrm>
            <a:off x="6874964" y="6324600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Dulvy</a:t>
            </a:r>
            <a:r>
              <a:rPr lang="en-US" dirty="0"/>
              <a:t> et al. 2024</a:t>
            </a:r>
          </a:p>
        </p:txBody>
      </p:sp>
    </p:spTree>
    <p:extLst>
      <p:ext uri="{BB962C8B-B14F-4D97-AF65-F5344CB8AC3E}">
        <p14:creationId xmlns:p14="http://schemas.microsoft.com/office/powerpoint/2010/main" val="2294410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Estimating extinction risk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IUCN (World Conservation Union) red list ranks species on their relative risk of extinction</a:t>
            </a:r>
          </a:p>
          <a:p>
            <a:r>
              <a:rPr lang="en-US" dirty="0"/>
              <a:t>Criteria are a checklist of characteristics that are typical of species at risk of extinction.  A species is at risk if any of them are met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RedList_Cats</a:t>
            </a:r>
            <a:r>
              <a:rPr lang="en-US" dirty="0"/>
              <a:t> document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5890" y="986631"/>
            <a:ext cx="6332220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897FB5-D1DB-CFCD-52CC-F0A500A5B401}"/>
              </a:ext>
            </a:extLst>
          </p:cNvPr>
          <p:cNvSpPr txBox="1"/>
          <p:nvPr/>
        </p:nvSpPr>
        <p:spPr>
          <a:xfrm>
            <a:off x="609600" y="6172200"/>
            <a:ext cx="845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https://iucn.org/sites/default/files/import/downloads/redlistcatsenglish.pdf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 list risk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44" y="6182045"/>
            <a:ext cx="92869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IUCN Red List Categories and Criteria Version 3.1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14" y="838200"/>
            <a:ext cx="7526886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24600" y="64008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Dulvy</a:t>
            </a:r>
            <a:r>
              <a:rPr lang="en-US" dirty="0"/>
              <a:t> et al. 2024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4A5DBA0-849C-11F1-B4C1-2C9C551FA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457200"/>
            <a:ext cx="4864335" cy="61722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C0DF5F-0948-D508-B985-CC80A683E43A}"/>
              </a:ext>
            </a:extLst>
          </p:cNvPr>
          <p:cNvSpPr txBox="1"/>
          <p:nvPr/>
        </p:nvSpPr>
        <p:spPr>
          <a:xfrm>
            <a:off x="5707631" y="609600"/>
            <a:ext cx="290297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Sharks’ IUCN status is declining rapidly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IUCN status usually is not calculated by population dynamics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based on a semi-quantitative checklist of status criteria related to population 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Models may be used if available.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Models are also used for projecting possible future changes in IUCN status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3F241-DAD1-209B-41D7-59BBE5CBA52A}"/>
              </a:ext>
            </a:extLst>
          </p:cNvPr>
          <p:cNvSpPr txBox="1"/>
          <p:nvPr/>
        </p:nvSpPr>
        <p:spPr>
          <a:xfrm>
            <a:off x="381000" y="214604"/>
            <a:ext cx="4724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 averaging IUCN status across species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BC144-CAA0-DC78-D382-91C86A27EEF5}"/>
              </a:ext>
            </a:extLst>
          </p:cNvPr>
          <p:cNvSpPr txBox="1"/>
          <p:nvPr/>
        </p:nvSpPr>
        <p:spPr>
          <a:xfrm>
            <a:off x="381000" y="2438400"/>
            <a:ext cx="289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Individual species status</a:t>
            </a:r>
          </a:p>
        </p:txBody>
      </p:sp>
    </p:spTree>
    <p:extLst>
      <p:ext uri="{BB962C8B-B14F-4D97-AF65-F5344CB8AC3E}">
        <p14:creationId xmlns:p14="http://schemas.microsoft.com/office/powerpoint/2010/main" val="162009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Critically endangered meets any of criteria A-E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915400" cy="55626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Reduction in population size (mature individuals only):</a:t>
            </a:r>
          </a:p>
          <a:p>
            <a:pPr marL="914400" lvl="1" indent="-514350">
              <a:buAutoNum type="arabicPeriod"/>
            </a:pPr>
            <a:r>
              <a:rPr lang="en-US" dirty="0"/>
              <a:t>&gt;90% over the last 10 years or 3 generations, where the causes are understood and have ceased,</a:t>
            </a:r>
          </a:p>
          <a:p>
            <a:pPr marL="914400" lvl="1" indent="-514350">
              <a:buNone/>
            </a:pPr>
            <a:r>
              <a:rPr lang="en-US" dirty="0"/>
              <a:t>	based on:</a:t>
            </a:r>
          </a:p>
          <a:p>
            <a:pPr marL="1314450" lvl="2" indent="-514350">
              <a:buAutoNum type="alphaLcPeriod"/>
            </a:pPr>
            <a:r>
              <a:rPr lang="en-US" dirty="0"/>
              <a:t>direct observation. </a:t>
            </a:r>
          </a:p>
          <a:p>
            <a:pPr marL="1314450" lvl="2" indent="-514350">
              <a:buAutoNum type="alphaLcPeriod"/>
            </a:pPr>
            <a:r>
              <a:rPr lang="en-US" dirty="0"/>
              <a:t>index of abundance. </a:t>
            </a:r>
          </a:p>
          <a:p>
            <a:pPr marL="1314450" lvl="2" indent="-514350">
              <a:buAutoNum type="alphaLcPeriod"/>
            </a:pPr>
            <a:r>
              <a:rPr lang="en-US" dirty="0"/>
              <a:t>occupancy or habitat. </a:t>
            </a:r>
          </a:p>
          <a:p>
            <a:pPr marL="1314450" lvl="2" indent="-514350">
              <a:buAutoNum type="alphaLcPeriod"/>
            </a:pPr>
            <a:r>
              <a:rPr lang="en-US" dirty="0"/>
              <a:t>levels of exploitation. </a:t>
            </a:r>
          </a:p>
          <a:p>
            <a:pPr marL="1314450" lvl="2" indent="-514350">
              <a:buAutoNum type="alphaLcPeriod"/>
            </a:pPr>
            <a:r>
              <a:rPr lang="en-US" dirty="0"/>
              <a:t>introduced species, pathogens, etc.</a:t>
            </a:r>
          </a:p>
          <a:p>
            <a:pPr marL="914400" lvl="1" indent="-514350">
              <a:buNone/>
            </a:pPr>
            <a:r>
              <a:rPr lang="en-US" dirty="0"/>
              <a:t>2. &gt;80% where the causes are not known or controlled (a-e)</a:t>
            </a:r>
          </a:p>
          <a:p>
            <a:pPr marL="914400" lvl="1" indent="-514350">
              <a:buNone/>
            </a:pPr>
            <a:r>
              <a:rPr lang="en-US" dirty="0"/>
              <a:t>3. &gt;80% decline predicted for next 10 years or 3 MGT</a:t>
            </a:r>
          </a:p>
          <a:p>
            <a:pPr marL="914400" lvl="1" indent="-514350">
              <a:buNone/>
            </a:pPr>
            <a:r>
              <a:rPr lang="en-US" dirty="0"/>
              <a:t>4. &gt;80% decline for time period including past and future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533400"/>
            <a:ext cx="2305050" cy="605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Critically endangered meets any of criteria A-E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915400" cy="5562600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en-US" dirty="0"/>
              <a:t>B. Reduction in geographic range</a:t>
            </a:r>
          </a:p>
          <a:p>
            <a:pPr marL="914400" lvl="1" indent="-514350">
              <a:buAutoNum type="arabicPeriod"/>
            </a:pPr>
            <a:r>
              <a:rPr lang="en-US" dirty="0"/>
              <a:t>Area of occurrence less than 100 km</a:t>
            </a:r>
            <a:r>
              <a:rPr lang="en-US" baseline="30000" dirty="0"/>
              <a:t>2</a:t>
            </a:r>
            <a:r>
              <a:rPr lang="en-US" dirty="0"/>
              <a:t> and </a:t>
            </a:r>
          </a:p>
          <a:p>
            <a:pPr marL="914400" lvl="1" indent="-514350">
              <a:buNone/>
            </a:pPr>
            <a:r>
              <a:rPr lang="en-US" dirty="0"/>
              <a:t> 	a. fragmented or at 1 location</a:t>
            </a:r>
          </a:p>
          <a:p>
            <a:pPr marL="914400" lvl="1" indent="-514350">
              <a:buNone/>
            </a:pPr>
            <a:r>
              <a:rPr lang="en-US" dirty="0"/>
              <a:t>	b. declining in:</a:t>
            </a:r>
          </a:p>
          <a:p>
            <a:pPr marL="914400" lvl="1" indent="-514350">
              <a:buNone/>
            </a:pPr>
            <a:r>
              <a:rPr lang="en-US" dirty="0"/>
              <a:t>		1. occurrence. 2. occupancy. etc.</a:t>
            </a:r>
          </a:p>
          <a:p>
            <a:pPr marL="914400" lvl="1" indent="-514350">
              <a:buNone/>
            </a:pPr>
            <a:r>
              <a:rPr lang="en-US" dirty="0"/>
              <a:t>	c. fluctuating in:</a:t>
            </a:r>
          </a:p>
          <a:p>
            <a:pPr marL="914400" lvl="1" indent="-514350">
              <a:buNone/>
            </a:pPr>
            <a:r>
              <a:rPr lang="en-US" dirty="0"/>
              <a:t>		1. occurrence. 2. occupancy. etc</a:t>
            </a:r>
          </a:p>
          <a:p>
            <a:pPr marL="914400" lvl="1" indent="-514350">
              <a:buAutoNum type="arabicPeriod" startAt="2"/>
            </a:pPr>
            <a:r>
              <a:rPr lang="en-US" dirty="0"/>
              <a:t>Area of occupancy less than 10 km</a:t>
            </a:r>
            <a:r>
              <a:rPr lang="en-US" baseline="30000" dirty="0"/>
              <a:t>2</a:t>
            </a:r>
            <a:r>
              <a:rPr lang="en-US" dirty="0"/>
              <a:t> and </a:t>
            </a:r>
          </a:p>
          <a:p>
            <a:pPr marL="914400" lvl="1" indent="-514350">
              <a:buNone/>
            </a:pPr>
            <a:r>
              <a:rPr lang="en-US" dirty="0"/>
              <a:t>	a. fragmented or at 1 location</a:t>
            </a:r>
          </a:p>
          <a:p>
            <a:pPr marL="914400" lvl="1" indent="-514350">
              <a:buNone/>
            </a:pPr>
            <a:r>
              <a:rPr lang="en-US" dirty="0"/>
              <a:t>	b. declining</a:t>
            </a:r>
          </a:p>
          <a:p>
            <a:pPr marL="914400" lvl="1" indent="-514350">
              <a:buNone/>
            </a:pPr>
            <a:r>
              <a:rPr lang="en-US" dirty="0"/>
              <a:t>	c. fluctuating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437F3C-B2EE-4EAF-90A6-093F1AFBCFFD}"/>
              </a:ext>
            </a:extLst>
          </p:cNvPr>
          <p:cNvSpPr/>
          <p:nvPr/>
        </p:nvSpPr>
        <p:spPr>
          <a:xfrm>
            <a:off x="7813187" y="436602"/>
            <a:ext cx="1231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occurrence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A6ABC5-F01E-4EBD-978B-C4DEA77FFB6C}"/>
              </a:ext>
            </a:extLst>
          </p:cNvPr>
          <p:cNvSpPr/>
          <p:nvPr/>
        </p:nvSpPr>
        <p:spPr>
          <a:xfrm>
            <a:off x="7771904" y="3377684"/>
            <a:ext cx="1180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occupancy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Critically endangered,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C. Population size estimated to number fewer than 250 mature individuals and either:</a:t>
            </a:r>
          </a:p>
          <a:p>
            <a:pPr>
              <a:buNone/>
            </a:pPr>
            <a:r>
              <a:rPr lang="en-US" dirty="0"/>
              <a:t> 	</a:t>
            </a:r>
            <a:r>
              <a:rPr lang="en-US" sz="2800" dirty="0"/>
              <a:t>1. continuing decline &gt; 25% within 3 years or 1 generation</a:t>
            </a:r>
          </a:p>
          <a:p>
            <a:pPr>
              <a:buNone/>
            </a:pPr>
            <a:r>
              <a:rPr lang="en-US" sz="2800" dirty="0"/>
              <a:t>    2. continuing decline and </a:t>
            </a:r>
          </a:p>
          <a:p>
            <a:pPr>
              <a:buNone/>
            </a:pPr>
            <a:r>
              <a:rPr lang="en-US" sz="2800" dirty="0"/>
              <a:t>		a. subpopulation structure (1,2)</a:t>
            </a:r>
          </a:p>
          <a:p>
            <a:pPr>
              <a:buNone/>
            </a:pPr>
            <a:r>
              <a:rPr lang="en-US" sz="2800" dirty="0"/>
              <a:t>		b. extreme fluctuations</a:t>
            </a:r>
          </a:p>
          <a:p>
            <a:pPr>
              <a:buNone/>
            </a:pPr>
            <a:r>
              <a:rPr lang="en-US" sz="2800" dirty="0"/>
              <a:t>D. Population size less than 50 mature individuals</a:t>
            </a:r>
          </a:p>
          <a:p>
            <a:pPr>
              <a:buNone/>
            </a:pPr>
            <a:r>
              <a:rPr lang="en-US" sz="2800" dirty="0"/>
              <a:t>E. Quantitative analysis showing the probability of extinction in the wild is at least 50% within 10 years or three generations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563562"/>
          </a:xfrm>
        </p:spPr>
        <p:txBody>
          <a:bodyPr/>
          <a:lstStyle/>
          <a:p>
            <a:r>
              <a:rPr lang="en-US" dirty="0"/>
              <a:t>Endangered and Vulnerable have similar criteria with different cut-offs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524000"/>
            <a:ext cx="9044521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8534400" y="5029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248400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VU: D. 1. Population below 1000, 2. Population with a restricted area of occupancy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6096000"/>
            <a:ext cx="495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064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844E-1232-E218-CF0B-2D8BD32E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needs for extinction 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7642B-84CC-D868-EBCE-217274760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Historical data on trends in abundance from</a:t>
            </a:r>
          </a:p>
          <a:p>
            <a:pPr lvl="1"/>
            <a:r>
              <a:rPr lang="en-US" dirty="0"/>
              <a:t>Surveys</a:t>
            </a:r>
          </a:p>
          <a:p>
            <a:pPr lvl="1"/>
            <a:r>
              <a:rPr lang="en-US" dirty="0"/>
              <a:t>Catch per unit effort (CPUE)</a:t>
            </a:r>
          </a:p>
          <a:p>
            <a:pPr lvl="1"/>
            <a:r>
              <a:rPr lang="en-US" dirty="0"/>
              <a:t>Catch</a:t>
            </a:r>
          </a:p>
          <a:p>
            <a:pPr lvl="1"/>
            <a:r>
              <a:rPr lang="en-US" dirty="0"/>
              <a:t>Citizen science or local knowledge</a:t>
            </a:r>
          </a:p>
          <a:p>
            <a:r>
              <a:rPr lang="en-US" dirty="0"/>
              <a:t>Population dynamics models if available</a:t>
            </a:r>
          </a:p>
          <a:p>
            <a:pPr lvl="1"/>
            <a:r>
              <a:rPr lang="en-US" dirty="0"/>
              <a:t>Predict future population trends, and directly estimate extinction risk </a:t>
            </a:r>
          </a:p>
          <a:p>
            <a:pPr lvl="1"/>
            <a:r>
              <a:rPr lang="en-US" dirty="0"/>
              <a:t>Needs data to estimate biological traits, like fecundity, mortality, as well as data on threats</a:t>
            </a:r>
          </a:p>
        </p:txBody>
      </p:sp>
    </p:spTree>
    <p:extLst>
      <p:ext uri="{BB962C8B-B14F-4D97-AF65-F5344CB8AC3E}">
        <p14:creationId xmlns:p14="http://schemas.microsoft.com/office/powerpoint/2010/main" val="4034714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175F-6C0B-FE91-C720-B8FBACA6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population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E27B5-CC3C-483C-D626-06889ECF2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Extinction risk estimation</a:t>
            </a:r>
          </a:p>
          <a:p>
            <a:pPr lvl="1"/>
            <a:r>
              <a:rPr lang="en-US" dirty="0"/>
              <a:t>What is the probability of extinction in the next 20 years if current threats continue?</a:t>
            </a:r>
          </a:p>
          <a:p>
            <a:r>
              <a:rPr lang="en-US" dirty="0"/>
              <a:t>Fishery management</a:t>
            </a:r>
          </a:p>
          <a:p>
            <a:pPr lvl="1"/>
            <a:r>
              <a:rPr lang="en-US" dirty="0"/>
              <a:t>Estimate reference points: is population over- fished?</a:t>
            </a:r>
          </a:p>
          <a:p>
            <a:r>
              <a:rPr lang="en-US" dirty="0"/>
              <a:t>Both: Predict whether a management/conservation action or threat will cause increase or decrease of population</a:t>
            </a:r>
          </a:p>
        </p:txBody>
      </p:sp>
    </p:spTree>
    <p:extLst>
      <p:ext uri="{BB962C8B-B14F-4D97-AF65-F5344CB8AC3E}">
        <p14:creationId xmlns:p14="http://schemas.microsoft.com/office/powerpoint/2010/main" val="1421229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4046518-280E-46DE-97FF-1FF4ECC8F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000"/>
              <a:t>Basic concepts of modeling</a:t>
            </a:r>
            <a:br>
              <a:rPr lang="en-US" altLang="en-US" sz="4000"/>
            </a:br>
            <a:r>
              <a:rPr lang="en-US" altLang="en-US" sz="4000"/>
              <a:t>Simple population models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97C6D1D-C78E-450E-8D32-AC3AFBF5EA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000" y="1676400"/>
            <a:ext cx="82296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Characteristics of mathematical models</a:t>
            </a:r>
          </a:p>
          <a:p>
            <a:pPr lvl="1" eaLnBrk="1" hangingPunct="1"/>
            <a:r>
              <a:rPr lang="en-US" altLang="en-US" dirty="0"/>
              <a:t>Model structure</a:t>
            </a:r>
          </a:p>
          <a:p>
            <a:pPr lvl="1" eaLnBrk="1" hangingPunct="1"/>
            <a:r>
              <a:rPr lang="en-US" altLang="en-US" dirty="0"/>
              <a:t>Parameters and variables</a:t>
            </a:r>
          </a:p>
          <a:p>
            <a:pPr lvl="1" eaLnBrk="1" hangingPunct="1"/>
            <a:r>
              <a:rPr lang="en-US" altLang="en-US" dirty="0"/>
              <a:t>Model fitting</a:t>
            </a:r>
          </a:p>
          <a:p>
            <a:pPr lvl="1" eaLnBrk="1" hangingPunct="1"/>
            <a:r>
              <a:rPr lang="en-US" altLang="en-US" dirty="0"/>
              <a:t>Model assumptions</a:t>
            </a:r>
          </a:p>
          <a:p>
            <a:pPr lvl="1" eaLnBrk="1" hangingPunct="1"/>
            <a:endParaRPr lang="en-US" altLang="en-US" dirty="0"/>
          </a:p>
          <a:p>
            <a:pPr marL="457200" lvl="1" indent="0" eaLnBrk="1" hangingPunct="1">
              <a:buNone/>
            </a:pPr>
            <a:endParaRPr lang="en-US" altLang="en-US" dirty="0"/>
          </a:p>
          <a:p>
            <a:pPr lvl="1" eaLnBrk="1" hangingPunct="1"/>
            <a:endParaRPr lang="en-US" altLang="en-US" dirty="0"/>
          </a:p>
        </p:txBody>
      </p:sp>
      <p:sp>
        <p:nvSpPr>
          <p:cNvPr id="64517" name="Footer Placeholder 9">
            <a:extLst>
              <a:ext uri="{FF2B5EF4-FFF2-40B4-BE49-F238E27FC236}">
                <a16:creationId xmlns:a16="http://schemas.microsoft.com/office/drawing/2014/main" id="{3D03A0DB-CD1B-4C9C-9B66-68EDBDD3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MBE 713 FALL 2024         Instructor D.J. Die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F3304390-804D-46EA-8E1A-239222C18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Modeling concepts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0E93558-AF8C-4D65-AA28-F16BBEF37E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71600"/>
            <a:ext cx="50292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Mathematical models are a subset of models (physical, diagrammatic, conceptual)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All models are an abstraction (simpler) representation of the phenomenon or process being characterized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Need to select the properties of the system for the model to be replicate 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All models have limitations derived from how (type, purpose, assumptions) they were designed</a:t>
            </a:r>
          </a:p>
        </p:txBody>
      </p:sp>
      <p:sp>
        <p:nvSpPr>
          <p:cNvPr id="66565" name="Footer Placeholder 11">
            <a:extLst>
              <a:ext uri="{FF2B5EF4-FFF2-40B4-BE49-F238E27FC236}">
                <a16:creationId xmlns:a16="http://schemas.microsoft.com/office/drawing/2014/main" id="{D11C0D52-3C50-48C7-9045-22E1774A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MBE 713 FALL 2024         Instructor D.J. Die</a:t>
            </a:r>
          </a:p>
        </p:txBody>
      </p:sp>
      <p:pic>
        <p:nvPicPr>
          <p:cNvPr id="66566" name="Picture 4" descr="BallAndStick">
            <a:extLst>
              <a:ext uri="{FF2B5EF4-FFF2-40B4-BE49-F238E27FC236}">
                <a16:creationId xmlns:a16="http://schemas.microsoft.com/office/drawing/2014/main" id="{C287035B-BD54-44E9-92CC-254628F7A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371600"/>
            <a:ext cx="2819400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F769A03E-5BCA-47C0-B184-3E75FDE8C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000"/>
              <a:t>Mathematical Model components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E11DC40-E9C4-43A7-868B-E60E13DC91F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724400" y="1143000"/>
            <a:ext cx="41910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FF"/>
                </a:solidFill>
              </a:rPr>
              <a:t>Variables are entities that can be defined and associated with observations from nature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B050"/>
                </a:solidFill>
              </a:rPr>
              <a:t>Parameters are quantities that help define the  relationships between variables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Operators are mathematical functions that establish the relationship between variables and parameters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  <p:graphicFrame>
        <p:nvGraphicFramePr>
          <p:cNvPr id="184324" name="Object 4">
            <a:extLst>
              <a:ext uri="{FF2B5EF4-FFF2-40B4-BE49-F238E27FC236}">
                <a16:creationId xmlns:a16="http://schemas.microsoft.com/office/drawing/2014/main" id="{BE7FB852-6818-40E3-8C39-6CAD8D2CDA7F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05200" y="3657600"/>
          <a:ext cx="91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431800" progId="Equation.3">
                  <p:embed/>
                </p:oleObj>
              </mc:Choice>
              <mc:Fallback>
                <p:oleObj name="Equation" r:id="rId3" imgW="914400" imgH="431800" progId="Equation.3">
                  <p:embed/>
                  <p:pic>
                    <p:nvPicPr>
                      <p:cNvPr id="184324" name="Object 4">
                        <a:extLst>
                          <a:ext uri="{FF2B5EF4-FFF2-40B4-BE49-F238E27FC236}">
                            <a16:creationId xmlns:a16="http://schemas.microsoft.com/office/drawing/2014/main" id="{BE7FB852-6818-40E3-8C39-6CAD8D2CDA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657600"/>
                        <a:ext cx="914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4" name="Footer Placeholder 25">
            <a:extLst>
              <a:ext uri="{FF2B5EF4-FFF2-40B4-BE49-F238E27FC236}">
                <a16:creationId xmlns:a16="http://schemas.microsoft.com/office/drawing/2014/main" id="{AEA39440-55A3-478D-9D70-B60E9E4D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nl-NL" altLang="en-US" dirty="0"/>
              <a:t>MBE 713 FALL 2024         Instructor D.J. Die</a:t>
            </a:r>
            <a:endParaRPr lang="en-US" altLang="en-US" dirty="0"/>
          </a:p>
        </p:txBody>
      </p:sp>
      <p:graphicFrame>
        <p:nvGraphicFramePr>
          <p:cNvPr id="184329" name="Object 9">
            <a:extLst>
              <a:ext uri="{FF2B5EF4-FFF2-40B4-BE49-F238E27FC236}">
                <a16:creationId xmlns:a16="http://schemas.microsoft.com/office/drawing/2014/main" id="{9ACE2B68-C8DB-43E8-9BF8-B0A9A5874F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981200"/>
          <a:ext cx="198120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9100" imgH="228600" progId="Equation.3">
                  <p:embed/>
                </p:oleObj>
              </mc:Choice>
              <mc:Fallback>
                <p:oleObj name="Equation" r:id="rId5" imgW="1689100" imgH="228600" progId="Equation.3">
                  <p:embed/>
                  <p:pic>
                    <p:nvPicPr>
                      <p:cNvPr id="184329" name="Object 9">
                        <a:extLst>
                          <a:ext uri="{FF2B5EF4-FFF2-40B4-BE49-F238E27FC236}">
                            <a16:creationId xmlns:a16="http://schemas.microsoft.com/office/drawing/2014/main" id="{9ACE2B68-C8DB-43E8-9BF8-B0A9A5874F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981200"/>
                        <a:ext cx="1981200" cy="26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30" name="Object 10">
            <a:extLst>
              <a:ext uri="{FF2B5EF4-FFF2-40B4-BE49-F238E27FC236}">
                <a16:creationId xmlns:a16="http://schemas.microsoft.com/office/drawing/2014/main" id="{348C400A-4CAF-4953-A793-4319C4B78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971800"/>
          <a:ext cx="2792413" cy="214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3000" imgH="1854200" progId="Equation.3">
                  <p:embed/>
                </p:oleObj>
              </mc:Choice>
              <mc:Fallback>
                <p:oleObj name="Equation" r:id="rId7" imgW="2413000" imgH="1854200" progId="Equation.3">
                  <p:embed/>
                  <p:pic>
                    <p:nvPicPr>
                      <p:cNvPr id="184330" name="Object 10">
                        <a:extLst>
                          <a:ext uri="{FF2B5EF4-FFF2-40B4-BE49-F238E27FC236}">
                            <a16:creationId xmlns:a16="http://schemas.microsoft.com/office/drawing/2014/main" id="{348C400A-4CAF-4953-A793-4319C4B782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971800"/>
                        <a:ext cx="2792413" cy="214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258AA39-0A7A-4F3E-AA59-650C89A6AFCC}"/>
              </a:ext>
            </a:extLst>
          </p:cNvPr>
          <p:cNvSpPr/>
          <p:nvPr/>
        </p:nvSpPr>
        <p:spPr>
          <a:xfrm>
            <a:off x="3124200" y="1981200"/>
            <a:ext cx="304800" cy="30480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7F17DC-545C-42E6-9D9A-4BE47F79119D}"/>
              </a:ext>
            </a:extLst>
          </p:cNvPr>
          <p:cNvSpPr/>
          <p:nvPr/>
        </p:nvSpPr>
        <p:spPr>
          <a:xfrm>
            <a:off x="2743200" y="1981200"/>
            <a:ext cx="304800" cy="30480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B1F7E4-6491-4361-8C4E-705392782ABE}"/>
              </a:ext>
            </a:extLst>
          </p:cNvPr>
          <p:cNvSpPr/>
          <p:nvPr/>
        </p:nvSpPr>
        <p:spPr>
          <a:xfrm>
            <a:off x="3810000" y="3581400"/>
            <a:ext cx="304800" cy="30480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DE0C3D-66DB-467F-AF7A-E7976AA31A11}"/>
              </a:ext>
            </a:extLst>
          </p:cNvPr>
          <p:cNvSpPr/>
          <p:nvPr/>
        </p:nvSpPr>
        <p:spPr>
          <a:xfrm>
            <a:off x="1524000" y="4724400"/>
            <a:ext cx="304800" cy="30480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EA809C-814C-43AC-80A8-01C6C63EF1F7}"/>
              </a:ext>
            </a:extLst>
          </p:cNvPr>
          <p:cNvSpPr/>
          <p:nvPr/>
        </p:nvSpPr>
        <p:spPr>
          <a:xfrm>
            <a:off x="1981200" y="3124200"/>
            <a:ext cx="152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563A7-F906-4974-8E1F-DAD9DF6E4349}"/>
              </a:ext>
            </a:extLst>
          </p:cNvPr>
          <p:cNvSpPr/>
          <p:nvPr/>
        </p:nvSpPr>
        <p:spPr>
          <a:xfrm>
            <a:off x="4267200" y="3733800"/>
            <a:ext cx="152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6A18AC-2048-4C7A-AAC6-376AAD948A20}"/>
              </a:ext>
            </a:extLst>
          </p:cNvPr>
          <p:cNvSpPr/>
          <p:nvPr/>
        </p:nvSpPr>
        <p:spPr>
          <a:xfrm>
            <a:off x="3962400" y="3886200"/>
            <a:ext cx="1524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EAED27-1428-4D06-B75E-6138B7836AE7}"/>
              </a:ext>
            </a:extLst>
          </p:cNvPr>
          <p:cNvSpPr/>
          <p:nvPr/>
        </p:nvSpPr>
        <p:spPr>
          <a:xfrm>
            <a:off x="3733800" y="3886200"/>
            <a:ext cx="1524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184763-19B7-41E6-87EC-37EB6A35058F}"/>
              </a:ext>
            </a:extLst>
          </p:cNvPr>
          <p:cNvSpPr/>
          <p:nvPr/>
        </p:nvSpPr>
        <p:spPr>
          <a:xfrm>
            <a:off x="609600" y="3124200"/>
            <a:ext cx="228600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E11B49C2-D58B-456C-BFCD-79C8A71FE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Types of Model structure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F359950-11F2-4E0B-B7DC-66B495FC59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371600"/>
            <a:ext cx="82296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000">
                <a:solidFill>
                  <a:srgbClr val="0000FF"/>
                </a:solidFill>
              </a:rPr>
              <a:t>Static (equilibrium)                   vs                           dynamic</a:t>
            </a:r>
          </a:p>
          <a:p>
            <a:pPr lvl="2" eaLnBrk="1" hangingPunct="1"/>
            <a:endParaRPr lang="en-US" altLang="en-US" sz="2000">
              <a:solidFill>
                <a:srgbClr val="0000FF"/>
              </a:solidFill>
            </a:endParaRPr>
          </a:p>
          <a:p>
            <a:pPr eaLnBrk="1" hangingPunct="1"/>
            <a:endParaRPr lang="en-US" altLang="en-US" sz="200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2000">
                <a:solidFill>
                  <a:srgbClr val="0000FF"/>
                </a:solidFill>
              </a:rPr>
              <a:t>Deterministic                            vs                         stochastic</a:t>
            </a:r>
          </a:p>
          <a:p>
            <a:pPr eaLnBrk="1" hangingPunct="1"/>
            <a:endParaRPr lang="en-US" altLang="en-US" sz="2000">
              <a:solidFill>
                <a:srgbClr val="0000FF"/>
              </a:solidFill>
            </a:endParaRPr>
          </a:p>
          <a:p>
            <a:pPr eaLnBrk="1" hangingPunct="1"/>
            <a:endParaRPr lang="en-US" altLang="en-US" sz="200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2000">
                <a:solidFill>
                  <a:srgbClr val="0000FF"/>
                </a:solidFill>
              </a:rPr>
              <a:t>Continuous                               vs                         discrete</a:t>
            </a:r>
          </a:p>
          <a:p>
            <a:pPr eaLnBrk="1" hangingPunct="1"/>
            <a:endParaRPr lang="en-US" altLang="en-US" sz="2000">
              <a:solidFill>
                <a:srgbClr val="0000FF"/>
              </a:solidFill>
            </a:endParaRPr>
          </a:p>
          <a:p>
            <a:pPr eaLnBrk="1" hangingPunct="1"/>
            <a:endParaRPr lang="en-US" altLang="en-US" sz="2000">
              <a:solidFill>
                <a:srgbClr val="0000FF"/>
              </a:solidFill>
            </a:endParaRPr>
          </a:p>
          <a:p>
            <a:pPr eaLnBrk="1" hangingPunct="1"/>
            <a:endParaRPr lang="en-US" altLang="en-US" sz="200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2000">
                <a:solidFill>
                  <a:srgbClr val="0000FF"/>
                </a:solidFill>
              </a:rPr>
              <a:t>Descriptive                               vs                       explanatory </a:t>
            </a:r>
          </a:p>
        </p:txBody>
      </p:sp>
      <p:graphicFrame>
        <p:nvGraphicFramePr>
          <p:cNvPr id="183300" name="Object 4">
            <a:extLst>
              <a:ext uri="{FF2B5EF4-FFF2-40B4-BE49-F238E27FC236}">
                <a16:creationId xmlns:a16="http://schemas.microsoft.com/office/drawing/2014/main" id="{FCA62AD4-82CA-43FD-9E8A-47EA0922076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67400" y="1905000"/>
          <a:ext cx="16192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300" imgH="228600" progId="Equation.3">
                  <p:embed/>
                </p:oleObj>
              </mc:Choice>
              <mc:Fallback>
                <p:oleObj name="Equation" r:id="rId3" imgW="876300" imgH="228600" progId="Equation.3">
                  <p:embed/>
                  <p:pic>
                    <p:nvPicPr>
                      <p:cNvPr id="183300" name="Object 4">
                        <a:extLst>
                          <a:ext uri="{FF2B5EF4-FFF2-40B4-BE49-F238E27FC236}">
                            <a16:creationId xmlns:a16="http://schemas.microsoft.com/office/drawing/2014/main" id="{FCA62AD4-82CA-43FD-9E8A-47EA092207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905000"/>
                        <a:ext cx="16192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2" name="Object 6">
            <a:extLst>
              <a:ext uri="{FF2B5EF4-FFF2-40B4-BE49-F238E27FC236}">
                <a16:creationId xmlns:a16="http://schemas.microsoft.com/office/drawing/2014/main" id="{3DA0FC9E-A17C-40A9-86F1-3DE52478A9B1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1447800" y="1905000"/>
          <a:ext cx="11906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252" imgH="203112" progId="Equation.3">
                  <p:embed/>
                </p:oleObj>
              </mc:Choice>
              <mc:Fallback>
                <p:oleObj name="Equation" r:id="rId5" imgW="571252" imgH="203112" progId="Equation.3">
                  <p:embed/>
                  <p:pic>
                    <p:nvPicPr>
                      <p:cNvPr id="183302" name="Object 6">
                        <a:extLst>
                          <a:ext uri="{FF2B5EF4-FFF2-40B4-BE49-F238E27FC236}">
                            <a16:creationId xmlns:a16="http://schemas.microsoft.com/office/drawing/2014/main" id="{3DA0FC9E-A17C-40A9-86F1-3DE52478A9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905000"/>
                        <a:ext cx="119062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3" name="Footer Placeholder 17">
            <a:extLst>
              <a:ext uri="{FF2B5EF4-FFF2-40B4-BE49-F238E27FC236}">
                <a16:creationId xmlns:a16="http://schemas.microsoft.com/office/drawing/2014/main" id="{6B0530FB-3439-4E7C-8890-D4A90905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nl-NL" altLang="en-US" dirty="0"/>
              <a:t>MBE 713 FALL 2024         Instructor D.J. Die</a:t>
            </a:r>
            <a:endParaRPr lang="en-US" altLang="en-US" dirty="0"/>
          </a:p>
        </p:txBody>
      </p:sp>
      <p:graphicFrame>
        <p:nvGraphicFramePr>
          <p:cNvPr id="183304" name="Object 8">
            <a:extLst>
              <a:ext uri="{FF2B5EF4-FFF2-40B4-BE49-F238E27FC236}">
                <a16:creationId xmlns:a16="http://schemas.microsoft.com/office/drawing/2014/main" id="{2CEC6B94-6D0E-48C0-8B4C-9D0EEBF0A3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2667000"/>
          <a:ext cx="2590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62100" imgH="482600" progId="Equation.3">
                  <p:embed/>
                </p:oleObj>
              </mc:Choice>
              <mc:Fallback>
                <p:oleObj name="Equation" r:id="rId7" imgW="1562100" imgH="482600" progId="Equation.3">
                  <p:embed/>
                  <p:pic>
                    <p:nvPicPr>
                      <p:cNvPr id="183304" name="Object 8">
                        <a:extLst>
                          <a:ext uri="{FF2B5EF4-FFF2-40B4-BE49-F238E27FC236}">
                            <a16:creationId xmlns:a16="http://schemas.microsoft.com/office/drawing/2014/main" id="{2CEC6B94-6D0E-48C0-8B4C-9D0EEBF0A3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667000"/>
                        <a:ext cx="2590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5" name="Object 9">
            <a:extLst>
              <a:ext uri="{FF2B5EF4-FFF2-40B4-BE49-F238E27FC236}">
                <a16:creationId xmlns:a16="http://schemas.microsoft.com/office/drawing/2014/main" id="{68D3C034-4980-4007-AA34-C7FDAA6DB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667000"/>
          <a:ext cx="23717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227" imgH="482391" progId="Equation.3">
                  <p:embed/>
                </p:oleObj>
              </mc:Choice>
              <mc:Fallback>
                <p:oleObj name="Equation" r:id="rId9" imgW="1320227" imgH="482391" progId="Equation.3">
                  <p:embed/>
                  <p:pic>
                    <p:nvPicPr>
                      <p:cNvPr id="183305" name="Object 9">
                        <a:extLst>
                          <a:ext uri="{FF2B5EF4-FFF2-40B4-BE49-F238E27FC236}">
                            <a16:creationId xmlns:a16="http://schemas.microsoft.com/office/drawing/2014/main" id="{68D3C034-4980-4007-AA34-C7FDAA6DBB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667000"/>
                        <a:ext cx="23717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7" name="Object 11">
            <a:extLst>
              <a:ext uri="{FF2B5EF4-FFF2-40B4-BE49-F238E27FC236}">
                <a16:creationId xmlns:a16="http://schemas.microsoft.com/office/drawing/2014/main" id="{D42DD95A-0942-455A-BB4A-3FC8727FD7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4038600"/>
          <a:ext cx="247967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22400" imgH="457200" progId="Equation.3">
                  <p:embed/>
                </p:oleObj>
              </mc:Choice>
              <mc:Fallback>
                <p:oleObj name="Equation" r:id="rId11" imgW="1422400" imgH="457200" progId="Equation.3">
                  <p:embed/>
                  <p:pic>
                    <p:nvPicPr>
                      <p:cNvPr id="183307" name="Object 11">
                        <a:extLst>
                          <a:ext uri="{FF2B5EF4-FFF2-40B4-BE49-F238E27FC236}">
                            <a16:creationId xmlns:a16="http://schemas.microsoft.com/office/drawing/2014/main" id="{D42DD95A-0942-455A-BB4A-3FC8727FD7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038600"/>
                        <a:ext cx="247967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8" name="Object 12">
            <a:extLst>
              <a:ext uri="{FF2B5EF4-FFF2-40B4-BE49-F238E27FC236}">
                <a16:creationId xmlns:a16="http://schemas.microsoft.com/office/drawing/2014/main" id="{2DDF6348-B655-4A11-8D0C-CF716B6AF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962400"/>
          <a:ext cx="106680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34725" imgH="393529" progId="Equation.3">
                  <p:embed/>
                </p:oleObj>
              </mc:Choice>
              <mc:Fallback>
                <p:oleObj name="Equation" r:id="rId13" imgW="634725" imgH="393529" progId="Equation.3">
                  <p:embed/>
                  <p:pic>
                    <p:nvPicPr>
                      <p:cNvPr id="183308" name="Object 12">
                        <a:extLst>
                          <a:ext uri="{FF2B5EF4-FFF2-40B4-BE49-F238E27FC236}">
                            <a16:creationId xmlns:a16="http://schemas.microsoft.com/office/drawing/2014/main" id="{2DDF6348-B655-4A11-8D0C-CF716B6AFF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962400"/>
                        <a:ext cx="1066800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9" name="Object 13">
            <a:extLst>
              <a:ext uri="{FF2B5EF4-FFF2-40B4-BE49-F238E27FC236}">
                <a16:creationId xmlns:a16="http://schemas.microsoft.com/office/drawing/2014/main" id="{F4DB0DF8-C4E4-478E-962F-C3DF5DBC25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5638800"/>
          <a:ext cx="3200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52600" imgH="203200" progId="Equation.3">
                  <p:embed/>
                </p:oleObj>
              </mc:Choice>
              <mc:Fallback>
                <p:oleObj name="Equation" r:id="rId15" imgW="1752600" imgH="203200" progId="Equation.3">
                  <p:embed/>
                  <p:pic>
                    <p:nvPicPr>
                      <p:cNvPr id="183309" name="Object 13">
                        <a:extLst>
                          <a:ext uri="{FF2B5EF4-FFF2-40B4-BE49-F238E27FC236}">
                            <a16:creationId xmlns:a16="http://schemas.microsoft.com/office/drawing/2014/main" id="{F4DB0DF8-C4E4-478E-962F-C3DF5DBC25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638800"/>
                        <a:ext cx="32004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10" name="Object 14">
            <a:extLst>
              <a:ext uri="{FF2B5EF4-FFF2-40B4-BE49-F238E27FC236}">
                <a16:creationId xmlns:a16="http://schemas.microsoft.com/office/drawing/2014/main" id="{98CCCF90-2174-430A-8A99-59B77FBDD0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5105400"/>
          <a:ext cx="23717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20227" imgH="482391" progId="Equation.3">
                  <p:embed/>
                </p:oleObj>
              </mc:Choice>
              <mc:Fallback>
                <p:oleObj name="Equation" r:id="rId17" imgW="1320227" imgH="482391" progId="Equation.3">
                  <p:embed/>
                  <p:pic>
                    <p:nvPicPr>
                      <p:cNvPr id="183310" name="Object 14">
                        <a:extLst>
                          <a:ext uri="{FF2B5EF4-FFF2-40B4-BE49-F238E27FC236}">
                            <a16:creationId xmlns:a16="http://schemas.microsoft.com/office/drawing/2014/main" id="{98CCCF90-2174-430A-8A99-59B77FBDD0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105400"/>
                        <a:ext cx="23717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19B78F59-1B26-4A53-9F93-DCD39EA604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/>
              <a:t>Hypotheses and Model development</a:t>
            </a:r>
          </a:p>
        </p:txBody>
      </p:sp>
      <p:pic>
        <p:nvPicPr>
          <p:cNvPr id="76803" name="Picture 5" descr="coho">
            <a:extLst>
              <a:ext uri="{FF2B5EF4-FFF2-40B4-BE49-F238E27FC236}">
                <a16:creationId xmlns:a16="http://schemas.microsoft.com/office/drawing/2014/main" id="{397D9BE0-B0D5-403F-A646-11859D1EFC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3454400" cy="2311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Footer Placeholder 22">
            <a:extLst>
              <a:ext uri="{FF2B5EF4-FFF2-40B4-BE49-F238E27FC236}">
                <a16:creationId xmlns:a16="http://schemas.microsoft.com/office/drawing/2014/main" id="{E218E3A3-1106-4D2D-9E0F-B8B592C65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MBE 713 FALL 2024         Instructor D.J. Die</a:t>
            </a:r>
          </a:p>
        </p:txBody>
      </p:sp>
      <p:sp>
        <p:nvSpPr>
          <p:cNvPr id="76806" name="Text Box 6">
            <a:extLst>
              <a:ext uri="{FF2B5EF4-FFF2-40B4-BE49-F238E27FC236}">
                <a16:creationId xmlns:a16="http://schemas.microsoft.com/office/drawing/2014/main" id="{CA3C8EBE-A1B9-4D1A-840D-A89F4A3A5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600200"/>
            <a:ext cx="1416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Observation</a:t>
            </a:r>
          </a:p>
          <a:p>
            <a:pPr algn="ctr" eaLnBrk="1" hangingPunct="1"/>
            <a:endParaRPr lang="en-US" altLang="en-US"/>
          </a:p>
        </p:txBody>
      </p:sp>
      <p:sp>
        <p:nvSpPr>
          <p:cNvPr id="76807" name="Text Box 7">
            <a:extLst>
              <a:ext uri="{FF2B5EF4-FFF2-40B4-BE49-F238E27FC236}">
                <a16:creationId xmlns:a16="http://schemas.microsoft.com/office/drawing/2014/main" id="{708AB899-27B2-44B5-9596-0ED6EFBE1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209800"/>
            <a:ext cx="14478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Variables</a:t>
            </a:r>
          </a:p>
          <a:p>
            <a:pPr algn="ctr" eaLnBrk="1" hangingPunct="1"/>
            <a:endParaRPr lang="en-US" altLang="en-US"/>
          </a:p>
        </p:txBody>
      </p:sp>
      <p:sp>
        <p:nvSpPr>
          <p:cNvPr id="76808" name="Text Box 8">
            <a:extLst>
              <a:ext uri="{FF2B5EF4-FFF2-40B4-BE49-F238E27FC236}">
                <a16:creationId xmlns:a16="http://schemas.microsoft.com/office/drawing/2014/main" id="{3EF07636-A1B1-4791-8408-B4BA7989B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733800"/>
            <a:ext cx="20574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Mathematical model</a:t>
            </a:r>
          </a:p>
        </p:txBody>
      </p:sp>
      <p:sp>
        <p:nvSpPr>
          <p:cNvPr id="76809" name="Text Box 16">
            <a:extLst>
              <a:ext uri="{FF2B5EF4-FFF2-40B4-BE49-F238E27FC236}">
                <a16:creationId xmlns:a16="http://schemas.microsoft.com/office/drawing/2014/main" id="{3248911C-2DE8-4320-866F-236018400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495800"/>
            <a:ext cx="1974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Scientific enquiry,</a:t>
            </a:r>
          </a:p>
          <a:p>
            <a:pPr eaLnBrk="1" hangingPunct="1"/>
            <a:r>
              <a:rPr lang="en-US" altLang="en-US"/>
              <a:t> and theory</a:t>
            </a:r>
          </a:p>
        </p:txBody>
      </p:sp>
      <p:sp>
        <p:nvSpPr>
          <p:cNvPr id="76810" name="Line 19">
            <a:extLst>
              <a:ext uri="{FF2B5EF4-FFF2-40B4-BE49-F238E27FC236}">
                <a16:creationId xmlns:a16="http://schemas.microsoft.com/office/drawing/2014/main" id="{B61E7597-F071-42F7-971F-BCB59EFAC2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752600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76811" name="Line 20">
            <a:extLst>
              <a:ext uri="{FF2B5EF4-FFF2-40B4-BE49-F238E27FC236}">
                <a16:creationId xmlns:a16="http://schemas.microsoft.com/office/drawing/2014/main" id="{33EAF4A2-E3B1-4478-8C10-E423C7540E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1981200"/>
            <a:ext cx="1143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76812" name="Line 21">
            <a:extLst>
              <a:ext uri="{FF2B5EF4-FFF2-40B4-BE49-F238E27FC236}">
                <a16:creationId xmlns:a16="http://schemas.microsoft.com/office/drawing/2014/main" id="{416D18E1-CCEC-47E5-81DB-40E6AFEC09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3886200"/>
            <a:ext cx="6858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76813" name="Line 22">
            <a:extLst>
              <a:ext uri="{FF2B5EF4-FFF2-40B4-BE49-F238E27FC236}">
                <a16:creationId xmlns:a16="http://schemas.microsoft.com/office/drawing/2014/main" id="{16BCA6A3-1195-4344-A4D9-7600AFFCD3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2133600"/>
            <a:ext cx="76200" cy="914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76814" name="Text Box 25">
            <a:extLst>
              <a:ext uri="{FF2B5EF4-FFF2-40B4-BE49-F238E27FC236}">
                <a16:creationId xmlns:a16="http://schemas.microsoft.com/office/drawing/2014/main" id="{384FFA01-C272-400D-9F5B-181090951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276600"/>
            <a:ext cx="20574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Hypotheses</a:t>
            </a:r>
          </a:p>
        </p:txBody>
      </p:sp>
      <p:sp>
        <p:nvSpPr>
          <p:cNvPr id="76815" name="Line 26">
            <a:extLst>
              <a:ext uri="{FF2B5EF4-FFF2-40B4-BE49-F238E27FC236}">
                <a16:creationId xmlns:a16="http://schemas.microsoft.com/office/drawing/2014/main" id="{5A778322-9943-4F16-9DB4-9E2BC43E34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886200"/>
            <a:ext cx="838200" cy="228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76816" name="Line 27">
            <a:extLst>
              <a:ext uri="{FF2B5EF4-FFF2-40B4-BE49-F238E27FC236}">
                <a16:creationId xmlns:a16="http://schemas.microsoft.com/office/drawing/2014/main" id="{45CCADA1-963C-4603-BB10-CFA1E0AB4C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3048000"/>
            <a:ext cx="76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76817" name="Line 29">
            <a:extLst>
              <a:ext uri="{FF2B5EF4-FFF2-40B4-BE49-F238E27FC236}">
                <a16:creationId xmlns:a16="http://schemas.microsoft.com/office/drawing/2014/main" id="{2C57C63C-81F7-478A-A885-CADF99DEDF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4648200"/>
            <a:ext cx="3429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76818" name="Text Box 18">
            <a:extLst>
              <a:ext uri="{FF2B5EF4-FFF2-40B4-BE49-F238E27FC236}">
                <a16:creationId xmlns:a16="http://schemas.microsoft.com/office/drawing/2014/main" id="{A729363D-F11D-40FF-8E50-412358928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295400"/>
            <a:ext cx="1441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Real system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FB1C79FF-FD61-45CC-8940-27AECC768B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/>
              <a:t>Model assumptions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0137919-F2C7-46AE-8A90-41875D2C6C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All assumptions should be explicit and should be listed when a model is presented.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The implications (shortcomings, benefits) of making the assumptions should be stated</a:t>
            </a:r>
          </a:p>
        </p:txBody>
      </p:sp>
      <p:sp>
        <p:nvSpPr>
          <p:cNvPr id="78853" name="Footer Placeholder 9">
            <a:extLst>
              <a:ext uri="{FF2B5EF4-FFF2-40B4-BE49-F238E27FC236}">
                <a16:creationId xmlns:a16="http://schemas.microsoft.com/office/drawing/2014/main" id="{1ACEAF27-25B6-4D06-B04C-3CC9ED3C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MBE 713 FALL 2024         Instructor D.J. Die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EC0B-A49F-F139-3846-4758359C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B1DC4-AFC2-BE65-928C-FF54F1839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305800" cy="5364163"/>
          </a:xfrm>
        </p:spPr>
        <p:txBody>
          <a:bodyPr/>
          <a:lstStyle/>
          <a:p>
            <a:r>
              <a:rPr lang="en-US" sz="2800" b="1" dirty="0"/>
              <a:t>Estimation</a:t>
            </a:r>
            <a:r>
              <a:rPr lang="en-US" sz="2800" dirty="0"/>
              <a:t>: Fit the model to data to estimate parameters, e.g. using maximum likelihood</a:t>
            </a:r>
          </a:p>
          <a:p>
            <a:pPr lvl="1"/>
            <a:r>
              <a:rPr lang="en-US" sz="2400" dirty="0"/>
              <a:t>Maximum likelihood, etc.</a:t>
            </a:r>
          </a:p>
          <a:p>
            <a:r>
              <a:rPr lang="en-US" sz="2800" b="1" dirty="0"/>
              <a:t>Prediction</a:t>
            </a:r>
            <a:r>
              <a:rPr lang="en-US" sz="2800" dirty="0"/>
              <a:t>: Predict the values of variables in data that has not been sampled yet.</a:t>
            </a:r>
          </a:p>
          <a:p>
            <a:pPr lvl="1"/>
            <a:r>
              <a:rPr lang="en-US" sz="2400" dirty="0"/>
              <a:t>To evaluate model prediction skill</a:t>
            </a:r>
          </a:p>
          <a:p>
            <a:r>
              <a:rPr lang="en-US" sz="2800" b="1" dirty="0"/>
              <a:t>Forecasting</a:t>
            </a:r>
            <a:r>
              <a:rPr lang="en-US" sz="2800" dirty="0"/>
              <a:t>: Predict values of variables in the future</a:t>
            </a:r>
          </a:p>
          <a:p>
            <a:pPr lvl="1"/>
            <a:r>
              <a:rPr lang="en-US" sz="2400" dirty="0"/>
              <a:t>Fishery projections, climate forecasts</a:t>
            </a:r>
          </a:p>
          <a:p>
            <a:r>
              <a:rPr lang="en-US" sz="2800" b="1" dirty="0"/>
              <a:t>Simulation</a:t>
            </a:r>
            <a:r>
              <a:rPr lang="en-US" sz="2800" dirty="0"/>
              <a:t>: Use the model to generate simulated data </a:t>
            </a:r>
          </a:p>
          <a:p>
            <a:pPr lvl="1"/>
            <a:r>
              <a:rPr lang="en-US" sz="2400" dirty="0"/>
              <a:t>To understand the effects of parameters and model </a:t>
            </a:r>
          </a:p>
          <a:p>
            <a:pPr lvl="1"/>
            <a:r>
              <a:rPr lang="en-US" sz="2400" dirty="0"/>
              <a:t>To test if estimation model works. </a:t>
            </a:r>
          </a:p>
        </p:txBody>
      </p:sp>
    </p:spTree>
    <p:extLst>
      <p:ext uri="{BB962C8B-B14F-4D97-AF65-F5344CB8AC3E}">
        <p14:creationId xmlns:p14="http://schemas.microsoft.com/office/powerpoint/2010/main" val="37221789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63AB-C56C-B9D7-1A2F-41FD38E3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43BF-6B45-79B9-8DB6-ED1067BE7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MBE 713: What you will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900D1-CF7C-7A95-28A2-3AABEFBFD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basics of modeling population dynamics, e.g.</a:t>
            </a:r>
          </a:p>
          <a:p>
            <a:pPr lvl="1"/>
            <a:r>
              <a:rPr lang="en-US" dirty="0"/>
              <a:t>Logistic (surplus production) models</a:t>
            </a:r>
          </a:p>
          <a:p>
            <a:pPr lvl="1"/>
            <a:r>
              <a:rPr lang="en-US" dirty="0"/>
              <a:t>Leslie matrix models</a:t>
            </a:r>
          </a:p>
          <a:p>
            <a:pPr lvl="1"/>
            <a:r>
              <a:rPr lang="en-US" dirty="0"/>
              <a:t>Statistical catch at age models </a:t>
            </a:r>
          </a:p>
          <a:p>
            <a:pPr lvl="1"/>
            <a:r>
              <a:rPr lang="en-US" dirty="0"/>
              <a:t>Extinction risk estimation models (Vortex)</a:t>
            </a:r>
          </a:p>
          <a:p>
            <a:pPr lvl="1"/>
            <a:r>
              <a:rPr lang="en-US" dirty="0"/>
              <a:t>Food web models (</a:t>
            </a:r>
            <a:r>
              <a:rPr lang="en-US" dirty="0" err="1"/>
              <a:t>EcoPath</a:t>
            </a:r>
            <a:r>
              <a:rPr lang="en-US" dirty="0"/>
              <a:t>/</a:t>
            </a:r>
            <a:r>
              <a:rPr lang="en-US" dirty="0" err="1"/>
              <a:t>EcoSim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609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82942-D2FD-F47D-EDA0-7DCD7059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CBF5-818E-F951-E93F-8B0105E90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1E363-C7D3-0F9D-7521-26664AF95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models to estimate abundance trends over time</a:t>
            </a:r>
          </a:p>
          <a:p>
            <a:pPr lvl="1"/>
            <a:r>
              <a:rPr lang="en-US" dirty="0"/>
              <a:t>Surveys</a:t>
            </a:r>
          </a:p>
          <a:p>
            <a:pPr lvl="1"/>
            <a:r>
              <a:rPr lang="en-US" dirty="0"/>
              <a:t>Catch rates in fisheries (CPUE)</a:t>
            </a:r>
          </a:p>
          <a:p>
            <a:pPr lvl="1"/>
            <a:r>
              <a:rPr lang="en-US" dirty="0"/>
              <a:t>Mark/recapture</a:t>
            </a:r>
          </a:p>
          <a:p>
            <a:r>
              <a:rPr lang="en-US" dirty="0"/>
              <a:t>Statistical models to estimate basic life processes</a:t>
            </a:r>
          </a:p>
          <a:p>
            <a:pPr lvl="1"/>
            <a:r>
              <a:rPr lang="en-US" dirty="0"/>
              <a:t>Mortality/Survival</a:t>
            </a:r>
          </a:p>
          <a:p>
            <a:pPr lvl="1"/>
            <a:r>
              <a:rPr lang="en-US" dirty="0"/>
              <a:t>Growth</a:t>
            </a:r>
          </a:p>
          <a:p>
            <a:pPr lvl="1"/>
            <a:r>
              <a:rPr lang="en-US" dirty="0"/>
              <a:t>Fecundity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44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0CD11-4256-1ED9-AA76-A2B9699B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B2FEF-409A-2A7B-49FA-12E58129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E5200-38AB-1B3C-AF11-B43C26771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models are used to inform conservation, management for endangered species, protected species and harvested species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370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73D7-7561-ECBB-14CF-971BFB48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not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8A02-01AD-3F99-C4E0-D46A827E3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 genetics models, evolutionary models</a:t>
            </a:r>
          </a:p>
          <a:p>
            <a:r>
              <a:rPr lang="en-US"/>
              <a:t>Physiological models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55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01155-1703-047F-B830-A50E3CFD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you will acquire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23F46-95DF-6BD6-B854-C1F84D031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  <a:p>
            <a:r>
              <a:rPr lang="en-US" dirty="0"/>
              <a:t>How to work in a team</a:t>
            </a:r>
          </a:p>
          <a:p>
            <a:r>
              <a:rPr lang="en-US" dirty="0"/>
              <a:t>How to use R libraries, GitHub and other tools</a:t>
            </a:r>
          </a:p>
          <a:p>
            <a:r>
              <a:rPr lang="en-US" dirty="0"/>
              <a:t>Simulating data</a:t>
            </a:r>
          </a:p>
          <a:p>
            <a:r>
              <a:rPr lang="en-US" dirty="0"/>
              <a:t>Estimating linear and non-linear models</a:t>
            </a:r>
          </a:p>
          <a:p>
            <a:r>
              <a:rPr lang="en-US" dirty="0"/>
              <a:t>Model selection</a:t>
            </a:r>
          </a:p>
          <a:p>
            <a:r>
              <a:rPr lang="en-US" dirty="0"/>
              <a:t>Diagnostics and model evaluation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7446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71B1-D009-58AC-017F-6C38F047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don’t know R or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F1488-7EFC-0562-5D17-D628BEC0E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start simple, so you will be able to learn as we go</a:t>
            </a:r>
          </a:p>
          <a:p>
            <a:r>
              <a:rPr lang="en-US" dirty="0"/>
              <a:t>For Thursday’s class, do the R and tutorial on the Canvas site. We will go through this and build from on it in class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03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BD26-1651-08E8-A483-61E13FEB7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3E4EF-31EF-1BC4-08B7-4E7C90F40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class session we will:</a:t>
            </a:r>
          </a:p>
          <a:p>
            <a:pPr marL="514350" indent="-514350">
              <a:buAutoNum type="arabicPeriod"/>
            </a:pPr>
            <a:r>
              <a:rPr lang="en-US" dirty="0"/>
              <a:t>Review assignment from the last class (due before class). </a:t>
            </a:r>
          </a:p>
          <a:p>
            <a:pPr marL="514350" indent="-514350">
              <a:buAutoNum type="arabicPeriod"/>
            </a:pPr>
            <a:r>
              <a:rPr lang="en-US" dirty="0"/>
              <a:t>Submit quiz or in-class activity. </a:t>
            </a:r>
          </a:p>
          <a:p>
            <a:pPr marL="514350" indent="-514350">
              <a:buAutoNum type="arabicPeriod"/>
            </a:pPr>
            <a:r>
              <a:rPr lang="en-US" dirty="0"/>
              <a:t>Have brief lecture for the new material</a:t>
            </a:r>
          </a:p>
          <a:p>
            <a:pPr marL="514350" indent="-514350">
              <a:buAutoNum type="arabicPeriod"/>
            </a:pPr>
            <a:r>
              <a:rPr lang="en-US" dirty="0"/>
              <a:t>Work through an R demo together.</a:t>
            </a:r>
          </a:p>
          <a:p>
            <a:pPr marL="514350" indent="-514350">
              <a:buAutoNum type="arabicPeriod"/>
            </a:pPr>
            <a:r>
              <a:rPr lang="en-US" dirty="0"/>
              <a:t>Begin the assignment to be due next time.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Lecture and demo will be recorded on Zoom.</a:t>
            </a:r>
          </a:p>
          <a:p>
            <a:r>
              <a:rPr lang="en-US" dirty="0"/>
              <a:t>Please log in to Zoom (muted) so we can share screens. </a:t>
            </a:r>
          </a:p>
        </p:txBody>
      </p:sp>
    </p:spTree>
    <p:extLst>
      <p:ext uri="{BB962C8B-B14F-4D97-AF65-F5344CB8AC3E}">
        <p14:creationId xmlns:p14="http://schemas.microsoft.com/office/powerpoint/2010/main" val="2785923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0960-917C-9DC3-4D97-3D47E6FE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DAF3-C623-4A68-4A43-8FCCD5AEE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Syllabus is on Canvas </a:t>
            </a:r>
          </a:p>
          <a:p>
            <a:r>
              <a:rPr lang="en-US" dirty="0"/>
              <a:t>See glossary </a:t>
            </a:r>
            <a:r>
              <a:rPr lang="en-US"/>
              <a:t>for fisheries terms</a:t>
            </a:r>
          </a:p>
        </p:txBody>
      </p:sp>
    </p:spTree>
    <p:extLst>
      <p:ext uri="{BB962C8B-B14F-4D97-AF65-F5344CB8AC3E}">
        <p14:creationId xmlns:p14="http://schemas.microsoft.com/office/powerpoint/2010/main" val="271665081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5862</TotalTime>
  <Words>1698</Words>
  <Application>Microsoft Office PowerPoint</Application>
  <PresentationFormat>On-screen Show (4:3)</PresentationFormat>
  <Paragraphs>274</Paragraphs>
  <Slides>39</Slides>
  <Notes>14</Notes>
  <HiddenSlides>1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Albertus Extra Bold</vt:lpstr>
      <vt:lpstr>Arial</vt:lpstr>
      <vt:lpstr>Default Design</vt:lpstr>
      <vt:lpstr>Equation</vt:lpstr>
      <vt:lpstr>MBE 713: Marine Population Dynamics</vt:lpstr>
      <vt:lpstr>My background</vt:lpstr>
      <vt:lpstr>Today</vt:lpstr>
      <vt:lpstr>Population Dynamics</vt:lpstr>
      <vt:lpstr>Why population dynamics?</vt:lpstr>
      <vt:lpstr>Fishery stock assessment</vt:lpstr>
      <vt:lpstr>Reference points (ICCAT)</vt:lpstr>
      <vt:lpstr>ICCAT: International Commission for the Conservation of Atlantic Tuna </vt:lpstr>
      <vt:lpstr>Data for N Atlantic blue shark</vt:lpstr>
      <vt:lpstr>Assessment of status</vt:lpstr>
      <vt:lpstr>Projections</vt:lpstr>
      <vt:lpstr>IUCN estimates of extinction risk</vt:lpstr>
      <vt:lpstr>Example: Shark extinction risk</vt:lpstr>
      <vt:lpstr>Shark and ray population decline</vt:lpstr>
      <vt:lpstr>Estimating extinction risk  </vt:lpstr>
      <vt:lpstr>RedList_Cats document</vt:lpstr>
      <vt:lpstr>Red list risk categories</vt:lpstr>
      <vt:lpstr>PowerPoint Presentation</vt:lpstr>
      <vt:lpstr>Critically endangered meets any of criteria A-E</vt:lpstr>
      <vt:lpstr>Critically endangered meets any of criteria A-E</vt:lpstr>
      <vt:lpstr>Critically endangered, continued</vt:lpstr>
      <vt:lpstr>Endangered and Vulnerable have similar criteria with different cut-offs</vt:lpstr>
      <vt:lpstr>Data needs for extinction risk assessment</vt:lpstr>
      <vt:lpstr>Modeling population dynamics</vt:lpstr>
      <vt:lpstr>Basic concepts of modeling Simple population models</vt:lpstr>
      <vt:lpstr>Modeling concepts</vt:lpstr>
      <vt:lpstr>Mathematical Model components</vt:lpstr>
      <vt:lpstr>Types of Model structure</vt:lpstr>
      <vt:lpstr>Hypotheses and Model development</vt:lpstr>
      <vt:lpstr>Model assumptions</vt:lpstr>
      <vt:lpstr>Working with models</vt:lpstr>
      <vt:lpstr>MBE 713: What you will learn</vt:lpstr>
      <vt:lpstr>What you will learn</vt:lpstr>
      <vt:lpstr>What you will learn</vt:lpstr>
      <vt:lpstr>What you will not learn</vt:lpstr>
      <vt:lpstr>Skills you will acquire</vt:lpstr>
      <vt:lpstr>If you don’t know R or GitHub</vt:lpstr>
      <vt:lpstr>Class format</vt:lpstr>
      <vt:lpstr>Syllabus</vt:lpstr>
    </vt:vector>
  </TitlesOfParts>
  <Company>Wildlife Conservation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Rebecca Cerroni</dc:creator>
  <cp:lastModifiedBy>Babcock, Elizabeth A</cp:lastModifiedBy>
  <cp:revision>606</cp:revision>
  <dcterms:created xsi:type="dcterms:W3CDTF">2002-07-02T19:54:08Z</dcterms:created>
  <dcterms:modified xsi:type="dcterms:W3CDTF">2026-08-10T17:52:41Z</dcterms:modified>
</cp:coreProperties>
</file>