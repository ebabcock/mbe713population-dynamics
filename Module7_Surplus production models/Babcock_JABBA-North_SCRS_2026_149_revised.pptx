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301" r:id="rId3"/>
    <p:sldId id="279" r:id="rId4"/>
    <p:sldId id="281" r:id="rId5"/>
    <p:sldId id="298" r:id="rId6"/>
    <p:sldId id="282" r:id="rId7"/>
    <p:sldId id="283" r:id="rId8"/>
    <p:sldId id="284" r:id="rId9"/>
    <p:sldId id="292" r:id="rId10"/>
    <p:sldId id="305" r:id="rId11"/>
    <p:sldId id="285" r:id="rId12"/>
    <p:sldId id="286" r:id="rId13"/>
    <p:sldId id="287" r:id="rId14"/>
    <p:sldId id="302" r:id="rId15"/>
    <p:sldId id="303" r:id="rId16"/>
    <p:sldId id="304" r:id="rId17"/>
    <p:sldId id="297"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A8D46E6-2903-4087-9237-A240CF1C3078}" v="1" dt="2026-09-09T21:18:33.82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957" autoAdjust="0"/>
    <p:restoredTop sz="94660"/>
  </p:normalViewPr>
  <p:slideViewPr>
    <p:cSldViewPr snapToGrid="0">
      <p:cViewPr varScale="1">
        <p:scale>
          <a:sx n="97" d="100"/>
          <a:sy n="97" d="100"/>
        </p:scale>
        <p:origin x="259"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bcock, Elizabeth A" userId="02b9ec88-22ae-4f16-80a8-fd6316399148" providerId="ADAL" clId="{CFAE71B8-9659-41D1-BF87-D488A69E897D}"/>
    <pc:docChg chg="modSld">
      <pc:chgData name="Babcock, Elizabeth A" userId="02b9ec88-22ae-4f16-80a8-fd6316399148" providerId="ADAL" clId="{CFAE71B8-9659-41D1-BF87-D488A69E897D}" dt="2026-09-09T21:18:35.411" v="1" actId="1076"/>
      <pc:docMkLst>
        <pc:docMk/>
      </pc:docMkLst>
      <pc:sldChg chg="addSp delSp modSp mod">
        <pc:chgData name="Babcock, Elizabeth A" userId="02b9ec88-22ae-4f16-80a8-fd6316399148" providerId="ADAL" clId="{CFAE71B8-9659-41D1-BF87-D488A69E897D}" dt="2026-09-09T21:18:35.411" v="1" actId="1076"/>
        <pc:sldMkLst>
          <pc:docMk/>
          <pc:sldMk cId="1063186693" sldId="305"/>
        </pc:sldMkLst>
        <pc:spChg chg="del">
          <ac:chgData name="Babcock, Elizabeth A" userId="02b9ec88-22ae-4f16-80a8-fd6316399148" providerId="ADAL" clId="{CFAE71B8-9659-41D1-BF87-D488A69E897D}" dt="2026-09-09T21:18:33.822" v="0"/>
          <ac:spMkLst>
            <pc:docMk/>
            <pc:sldMk cId="1063186693" sldId="305"/>
            <ac:spMk id="9" creationId="{19F7B6F0-CB10-8986-982C-E40F4D836A9E}"/>
          </ac:spMkLst>
        </pc:spChg>
        <pc:picChg chg="add mod">
          <ac:chgData name="Babcock, Elizabeth A" userId="02b9ec88-22ae-4f16-80a8-fd6316399148" providerId="ADAL" clId="{CFAE71B8-9659-41D1-BF87-D488A69E897D}" dt="2026-09-09T21:18:35.411" v="1" actId="1076"/>
          <ac:picMkLst>
            <pc:docMk/>
            <pc:sldMk cId="1063186693" sldId="305"/>
            <ac:picMk id="3" creationId="{ACD2446E-A074-E743-D60B-53C49C055ADB}"/>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4771E79-1943-43F5-AC0D-8FCC447FDE4F}" type="datetimeFigureOut">
              <a:rPr lang="en-US" smtClean="0"/>
              <a:t>9/9/2026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B28BBF-04AB-4387-9095-656D439F6B10}" type="slidenum">
              <a:rPr lang="en-US" smtClean="0"/>
              <a:t>‹#›</a:t>
            </a:fld>
            <a:endParaRPr lang="en-US"/>
          </a:p>
        </p:txBody>
      </p:sp>
    </p:spTree>
    <p:extLst>
      <p:ext uri="{BB962C8B-B14F-4D97-AF65-F5344CB8AC3E}">
        <p14:creationId xmlns:p14="http://schemas.microsoft.com/office/powerpoint/2010/main" val="16586756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DD81F3-2E1D-3AF4-6AB3-9EA02408F495}"/>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578B27CD-1436-CD4E-850F-8B1676776B54}"/>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E5761816-5E91-78C2-4040-FB0E095AF52A}"/>
              </a:ext>
            </a:extLst>
          </p:cNvPr>
          <p:cNvSpPr>
            <a:spLocks noGrp="1"/>
          </p:cNvSpPr>
          <p:nvPr>
            <p:ph type="dt" sz="half" idx="10"/>
          </p:nvPr>
        </p:nvSpPr>
        <p:spPr/>
        <p:txBody>
          <a:bodyPr/>
          <a:lstStyle/>
          <a:p>
            <a:fld id="{EA32326B-8F39-4D39-B9ED-212244B16FBB}" type="datetimeFigureOut">
              <a:rPr lang="en-US" smtClean="0"/>
              <a:t>9/9/2026</a:t>
            </a:fld>
            <a:endParaRPr lang="en-US"/>
          </a:p>
        </p:txBody>
      </p:sp>
      <p:sp>
        <p:nvSpPr>
          <p:cNvPr id="5" name="Footer Placeholder 4">
            <a:extLst>
              <a:ext uri="{FF2B5EF4-FFF2-40B4-BE49-F238E27FC236}">
                <a16:creationId xmlns:a16="http://schemas.microsoft.com/office/drawing/2014/main" id="{2B69381E-1517-9A9F-EC30-35F1329701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C270C5-BB1D-308C-5A06-D430C6C4566D}"/>
              </a:ext>
            </a:extLst>
          </p:cNvPr>
          <p:cNvSpPr>
            <a:spLocks noGrp="1"/>
          </p:cNvSpPr>
          <p:nvPr>
            <p:ph type="sldNum" sz="quarter" idx="12"/>
          </p:nvPr>
        </p:nvSpPr>
        <p:spPr/>
        <p:txBody>
          <a:bodyPr/>
          <a:lstStyle/>
          <a:p>
            <a:fld id="{031158CD-B3AD-4A6D-BC08-0480F4A17146}" type="slidenum">
              <a:rPr lang="en-US" smtClean="0"/>
              <a:t>‹#›</a:t>
            </a:fld>
            <a:endParaRPr lang="en-US"/>
          </a:p>
        </p:txBody>
      </p:sp>
    </p:spTree>
    <p:extLst>
      <p:ext uri="{BB962C8B-B14F-4D97-AF65-F5344CB8AC3E}">
        <p14:creationId xmlns:p14="http://schemas.microsoft.com/office/powerpoint/2010/main" val="2365286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C099A-F8DC-5874-7123-54F2F4FD8E08}"/>
              </a:ext>
            </a:extLst>
          </p:cNvPr>
          <p:cNvSpPr>
            <a:spLocks noGrp="1"/>
          </p:cNvSpPr>
          <p:nvPr>
            <p:ph type="title"/>
          </p:nvPr>
        </p:nvSpPr>
        <p:spPr>
          <a:xfrm>
            <a:off x="628650" y="146906"/>
            <a:ext cx="7382119" cy="534132"/>
          </a:xfrm>
        </p:spPr>
        <p:txBody>
          <a:bodyPr>
            <a:normAutofit/>
          </a:bodyPr>
          <a:lstStyle>
            <a:lvl1pPr>
              <a:defRPr sz="2400"/>
            </a:lvl1pPr>
          </a:lstStyle>
          <a:p>
            <a:r>
              <a:rPr lang="en-US" dirty="0"/>
              <a:t>Click to edit Master title style</a:t>
            </a:r>
          </a:p>
        </p:txBody>
      </p:sp>
      <p:sp>
        <p:nvSpPr>
          <p:cNvPr id="3" name="Content Placeholder 2">
            <a:extLst>
              <a:ext uri="{FF2B5EF4-FFF2-40B4-BE49-F238E27FC236}">
                <a16:creationId xmlns:a16="http://schemas.microsoft.com/office/drawing/2014/main" id="{238728CA-3D4E-B39A-049A-032D756EB360}"/>
              </a:ext>
            </a:extLst>
          </p:cNvPr>
          <p:cNvSpPr>
            <a:spLocks noGrp="1"/>
          </p:cNvSpPr>
          <p:nvPr>
            <p:ph idx="1"/>
          </p:nvPr>
        </p:nvSpPr>
        <p:spPr>
          <a:xfrm>
            <a:off x="628650" y="914400"/>
            <a:ext cx="7886700" cy="579669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9B4F737-C1DD-65CC-2E70-41F75BB74E96}"/>
              </a:ext>
            </a:extLst>
          </p:cNvPr>
          <p:cNvSpPr>
            <a:spLocks noGrp="1"/>
          </p:cNvSpPr>
          <p:nvPr>
            <p:ph type="dt" sz="half" idx="10"/>
          </p:nvPr>
        </p:nvSpPr>
        <p:spPr/>
        <p:txBody>
          <a:bodyPr/>
          <a:lstStyle/>
          <a:p>
            <a:fld id="{EA32326B-8F39-4D39-B9ED-212244B16FBB}" type="datetimeFigureOut">
              <a:rPr lang="en-US" smtClean="0"/>
              <a:t>9/9/2026</a:t>
            </a:fld>
            <a:endParaRPr lang="en-US"/>
          </a:p>
        </p:txBody>
      </p:sp>
      <p:sp>
        <p:nvSpPr>
          <p:cNvPr id="5" name="Footer Placeholder 4">
            <a:extLst>
              <a:ext uri="{FF2B5EF4-FFF2-40B4-BE49-F238E27FC236}">
                <a16:creationId xmlns:a16="http://schemas.microsoft.com/office/drawing/2014/main" id="{4350A7E8-C559-B0DE-F41A-7877E4317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49B7CB-D069-872A-E675-7C6AA5E3E1B3}"/>
              </a:ext>
            </a:extLst>
          </p:cNvPr>
          <p:cNvSpPr>
            <a:spLocks noGrp="1"/>
          </p:cNvSpPr>
          <p:nvPr>
            <p:ph type="sldNum" sz="quarter" idx="12"/>
          </p:nvPr>
        </p:nvSpPr>
        <p:spPr/>
        <p:txBody>
          <a:bodyPr/>
          <a:lstStyle/>
          <a:p>
            <a:fld id="{031158CD-B3AD-4A6D-BC08-0480F4A17146}" type="slidenum">
              <a:rPr lang="en-US" smtClean="0"/>
              <a:t>‹#›</a:t>
            </a:fld>
            <a:endParaRPr lang="en-US"/>
          </a:p>
        </p:txBody>
      </p:sp>
    </p:spTree>
    <p:extLst>
      <p:ext uri="{BB962C8B-B14F-4D97-AF65-F5344CB8AC3E}">
        <p14:creationId xmlns:p14="http://schemas.microsoft.com/office/powerpoint/2010/main" val="21292342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A884E-B47D-B4CC-555E-613239D21973}"/>
              </a:ext>
            </a:extLst>
          </p:cNvPr>
          <p:cNvSpPr>
            <a:spLocks noGrp="1"/>
          </p:cNvSpPr>
          <p:nvPr>
            <p:ph type="title"/>
          </p:nvPr>
        </p:nvSpPr>
        <p:spPr>
          <a:xfrm>
            <a:off x="623888" y="1709739"/>
            <a:ext cx="7886700" cy="2852737"/>
          </a:xfrm>
        </p:spPr>
        <p:txBody>
          <a:bodyPr anchor="b">
            <a:normAutofit/>
          </a:bodyPr>
          <a:lstStyle>
            <a:lvl1pPr>
              <a:defRPr sz="3600"/>
            </a:lvl1pPr>
          </a:lstStyle>
          <a:p>
            <a:r>
              <a:rPr lang="en-US" dirty="0"/>
              <a:t>Click to edit Master title style</a:t>
            </a:r>
          </a:p>
        </p:txBody>
      </p:sp>
      <p:sp>
        <p:nvSpPr>
          <p:cNvPr id="3" name="Text Placeholder 2">
            <a:extLst>
              <a:ext uri="{FF2B5EF4-FFF2-40B4-BE49-F238E27FC236}">
                <a16:creationId xmlns:a16="http://schemas.microsoft.com/office/drawing/2014/main" id="{48F80D8C-BFCB-B572-F3BF-01B7488EA8BB}"/>
              </a:ext>
            </a:extLst>
          </p:cNvPr>
          <p:cNvSpPr>
            <a:spLocks noGrp="1"/>
          </p:cNvSpPr>
          <p:nvPr>
            <p:ph type="body" idx="1"/>
          </p:nvPr>
        </p:nvSpPr>
        <p:spPr>
          <a:xfrm>
            <a:off x="623888" y="4589464"/>
            <a:ext cx="7886700" cy="150018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2AD28FE-0319-C444-530B-10722413F805}"/>
              </a:ext>
            </a:extLst>
          </p:cNvPr>
          <p:cNvSpPr>
            <a:spLocks noGrp="1"/>
          </p:cNvSpPr>
          <p:nvPr>
            <p:ph type="dt" sz="half" idx="10"/>
          </p:nvPr>
        </p:nvSpPr>
        <p:spPr/>
        <p:txBody>
          <a:bodyPr/>
          <a:lstStyle/>
          <a:p>
            <a:fld id="{EA32326B-8F39-4D39-B9ED-212244B16FBB}" type="datetimeFigureOut">
              <a:rPr lang="en-US" smtClean="0"/>
              <a:t>9/9/2026</a:t>
            </a:fld>
            <a:endParaRPr lang="en-US"/>
          </a:p>
        </p:txBody>
      </p:sp>
      <p:sp>
        <p:nvSpPr>
          <p:cNvPr id="5" name="Footer Placeholder 4">
            <a:extLst>
              <a:ext uri="{FF2B5EF4-FFF2-40B4-BE49-F238E27FC236}">
                <a16:creationId xmlns:a16="http://schemas.microsoft.com/office/drawing/2014/main" id="{E5DB525B-F4B3-2EB1-326F-0FD9C2E9EC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29495B-7D5D-F942-2BCF-ACA4C6C8094B}"/>
              </a:ext>
            </a:extLst>
          </p:cNvPr>
          <p:cNvSpPr>
            <a:spLocks noGrp="1"/>
          </p:cNvSpPr>
          <p:nvPr>
            <p:ph type="sldNum" sz="quarter" idx="12"/>
          </p:nvPr>
        </p:nvSpPr>
        <p:spPr/>
        <p:txBody>
          <a:bodyPr/>
          <a:lstStyle/>
          <a:p>
            <a:fld id="{031158CD-B3AD-4A6D-BC08-0480F4A17146}" type="slidenum">
              <a:rPr lang="en-US" smtClean="0"/>
              <a:t>‹#›</a:t>
            </a:fld>
            <a:endParaRPr lang="en-US"/>
          </a:p>
        </p:txBody>
      </p:sp>
    </p:spTree>
    <p:extLst>
      <p:ext uri="{BB962C8B-B14F-4D97-AF65-F5344CB8AC3E}">
        <p14:creationId xmlns:p14="http://schemas.microsoft.com/office/powerpoint/2010/main" val="40946279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CA9C63-A57E-07E6-AB80-77E7F040DC8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9B2A472-E9B9-0123-9D83-4045353AD5E9}"/>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3D2BAF6-97E0-24CF-8D72-B9D4C7BEF01B}"/>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DED7523-E6BC-30F0-FDDB-27041B8D5D01}"/>
              </a:ext>
            </a:extLst>
          </p:cNvPr>
          <p:cNvSpPr>
            <a:spLocks noGrp="1"/>
          </p:cNvSpPr>
          <p:nvPr>
            <p:ph type="dt" sz="half" idx="10"/>
          </p:nvPr>
        </p:nvSpPr>
        <p:spPr/>
        <p:txBody>
          <a:bodyPr/>
          <a:lstStyle/>
          <a:p>
            <a:fld id="{EA32326B-8F39-4D39-B9ED-212244B16FBB}" type="datetimeFigureOut">
              <a:rPr lang="en-US" smtClean="0"/>
              <a:t>9/9/2026</a:t>
            </a:fld>
            <a:endParaRPr lang="en-US"/>
          </a:p>
        </p:txBody>
      </p:sp>
      <p:sp>
        <p:nvSpPr>
          <p:cNvPr id="6" name="Footer Placeholder 5">
            <a:extLst>
              <a:ext uri="{FF2B5EF4-FFF2-40B4-BE49-F238E27FC236}">
                <a16:creationId xmlns:a16="http://schemas.microsoft.com/office/drawing/2014/main" id="{484B8E9A-A393-A9E0-7778-E7294BC5CA9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AC707F-4AD3-7D23-2085-B5F144782AFC}"/>
              </a:ext>
            </a:extLst>
          </p:cNvPr>
          <p:cNvSpPr>
            <a:spLocks noGrp="1"/>
          </p:cNvSpPr>
          <p:nvPr>
            <p:ph type="sldNum" sz="quarter" idx="12"/>
          </p:nvPr>
        </p:nvSpPr>
        <p:spPr/>
        <p:txBody>
          <a:bodyPr/>
          <a:lstStyle/>
          <a:p>
            <a:fld id="{031158CD-B3AD-4A6D-BC08-0480F4A17146}" type="slidenum">
              <a:rPr lang="en-US" smtClean="0"/>
              <a:t>‹#›</a:t>
            </a:fld>
            <a:endParaRPr lang="en-US"/>
          </a:p>
        </p:txBody>
      </p:sp>
    </p:spTree>
    <p:extLst>
      <p:ext uri="{BB962C8B-B14F-4D97-AF65-F5344CB8AC3E}">
        <p14:creationId xmlns:p14="http://schemas.microsoft.com/office/powerpoint/2010/main" val="24643477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AD0901-7C24-EDC1-3580-9DE1655684B0}"/>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2D78846-8AE2-9698-525A-0F7AF5E573E0}"/>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B7BB49F4-37FE-CF69-B8CF-7B1B6CC94EB0}"/>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645C81B-D485-6067-9058-30AAE2CAD050}"/>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CB53B707-C58E-EE06-180C-9C6C7C8D7A58}"/>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2EC81B2-5CAC-D844-730F-616278E9DF1A}"/>
              </a:ext>
            </a:extLst>
          </p:cNvPr>
          <p:cNvSpPr>
            <a:spLocks noGrp="1"/>
          </p:cNvSpPr>
          <p:nvPr>
            <p:ph type="dt" sz="half" idx="10"/>
          </p:nvPr>
        </p:nvSpPr>
        <p:spPr/>
        <p:txBody>
          <a:bodyPr/>
          <a:lstStyle/>
          <a:p>
            <a:fld id="{EA32326B-8F39-4D39-B9ED-212244B16FBB}" type="datetimeFigureOut">
              <a:rPr lang="en-US" smtClean="0"/>
              <a:t>9/9/2026</a:t>
            </a:fld>
            <a:endParaRPr lang="en-US"/>
          </a:p>
        </p:txBody>
      </p:sp>
      <p:sp>
        <p:nvSpPr>
          <p:cNvPr id="8" name="Footer Placeholder 7">
            <a:extLst>
              <a:ext uri="{FF2B5EF4-FFF2-40B4-BE49-F238E27FC236}">
                <a16:creationId xmlns:a16="http://schemas.microsoft.com/office/drawing/2014/main" id="{69082680-B42C-C7BD-1669-E8520432850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9FEB562-EACB-2F97-3C1A-66263D0F4610}"/>
              </a:ext>
            </a:extLst>
          </p:cNvPr>
          <p:cNvSpPr>
            <a:spLocks noGrp="1"/>
          </p:cNvSpPr>
          <p:nvPr>
            <p:ph type="sldNum" sz="quarter" idx="12"/>
          </p:nvPr>
        </p:nvSpPr>
        <p:spPr/>
        <p:txBody>
          <a:bodyPr/>
          <a:lstStyle/>
          <a:p>
            <a:fld id="{031158CD-B3AD-4A6D-BC08-0480F4A17146}" type="slidenum">
              <a:rPr lang="en-US" smtClean="0"/>
              <a:t>‹#›</a:t>
            </a:fld>
            <a:endParaRPr lang="en-US"/>
          </a:p>
        </p:txBody>
      </p:sp>
    </p:spTree>
    <p:extLst>
      <p:ext uri="{BB962C8B-B14F-4D97-AF65-F5344CB8AC3E}">
        <p14:creationId xmlns:p14="http://schemas.microsoft.com/office/powerpoint/2010/main" val="40529326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C5456-FF9F-897E-D70D-572F7B44BD2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DBE14B0-14F3-D4A4-558E-F610FE7D61F7}"/>
              </a:ext>
            </a:extLst>
          </p:cNvPr>
          <p:cNvSpPr>
            <a:spLocks noGrp="1"/>
          </p:cNvSpPr>
          <p:nvPr>
            <p:ph type="dt" sz="half" idx="10"/>
          </p:nvPr>
        </p:nvSpPr>
        <p:spPr/>
        <p:txBody>
          <a:bodyPr/>
          <a:lstStyle/>
          <a:p>
            <a:fld id="{EA32326B-8F39-4D39-B9ED-212244B16FBB}" type="datetimeFigureOut">
              <a:rPr lang="en-US" smtClean="0"/>
              <a:t>9/9/2026</a:t>
            </a:fld>
            <a:endParaRPr lang="en-US"/>
          </a:p>
        </p:txBody>
      </p:sp>
      <p:sp>
        <p:nvSpPr>
          <p:cNvPr id="4" name="Footer Placeholder 3">
            <a:extLst>
              <a:ext uri="{FF2B5EF4-FFF2-40B4-BE49-F238E27FC236}">
                <a16:creationId xmlns:a16="http://schemas.microsoft.com/office/drawing/2014/main" id="{59E2FAE0-CB1D-3AB8-092A-C98ECC1D668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DEED2EB-066C-B5CF-46C8-7A67C1DFD5F7}"/>
              </a:ext>
            </a:extLst>
          </p:cNvPr>
          <p:cNvSpPr>
            <a:spLocks noGrp="1"/>
          </p:cNvSpPr>
          <p:nvPr>
            <p:ph type="sldNum" sz="quarter" idx="12"/>
          </p:nvPr>
        </p:nvSpPr>
        <p:spPr/>
        <p:txBody>
          <a:bodyPr/>
          <a:lstStyle/>
          <a:p>
            <a:fld id="{031158CD-B3AD-4A6D-BC08-0480F4A17146}" type="slidenum">
              <a:rPr lang="en-US" smtClean="0"/>
              <a:t>‹#›</a:t>
            </a:fld>
            <a:endParaRPr lang="en-US"/>
          </a:p>
        </p:txBody>
      </p:sp>
    </p:spTree>
    <p:extLst>
      <p:ext uri="{BB962C8B-B14F-4D97-AF65-F5344CB8AC3E}">
        <p14:creationId xmlns:p14="http://schemas.microsoft.com/office/powerpoint/2010/main" val="15105186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DB595AA-D995-A50F-2DA7-F0DC058E0666}"/>
              </a:ext>
            </a:extLst>
          </p:cNvPr>
          <p:cNvSpPr>
            <a:spLocks noGrp="1"/>
          </p:cNvSpPr>
          <p:nvPr>
            <p:ph type="dt" sz="half" idx="10"/>
          </p:nvPr>
        </p:nvSpPr>
        <p:spPr/>
        <p:txBody>
          <a:bodyPr/>
          <a:lstStyle/>
          <a:p>
            <a:fld id="{EA32326B-8F39-4D39-B9ED-212244B16FBB}" type="datetimeFigureOut">
              <a:rPr lang="en-US" smtClean="0"/>
              <a:t>9/9/2026</a:t>
            </a:fld>
            <a:endParaRPr lang="en-US"/>
          </a:p>
        </p:txBody>
      </p:sp>
      <p:sp>
        <p:nvSpPr>
          <p:cNvPr id="3" name="Footer Placeholder 2">
            <a:extLst>
              <a:ext uri="{FF2B5EF4-FFF2-40B4-BE49-F238E27FC236}">
                <a16:creationId xmlns:a16="http://schemas.microsoft.com/office/drawing/2014/main" id="{C42B5820-57D3-996B-D13E-DBD235CAC69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A5E4E99-56EB-066F-F5EA-A8C5AF1D2E23}"/>
              </a:ext>
            </a:extLst>
          </p:cNvPr>
          <p:cNvSpPr>
            <a:spLocks noGrp="1"/>
          </p:cNvSpPr>
          <p:nvPr>
            <p:ph type="sldNum" sz="quarter" idx="12"/>
          </p:nvPr>
        </p:nvSpPr>
        <p:spPr/>
        <p:txBody>
          <a:bodyPr/>
          <a:lstStyle/>
          <a:p>
            <a:fld id="{031158CD-B3AD-4A6D-BC08-0480F4A17146}" type="slidenum">
              <a:rPr lang="en-US" smtClean="0"/>
              <a:t>‹#›</a:t>
            </a:fld>
            <a:endParaRPr lang="en-US"/>
          </a:p>
        </p:txBody>
      </p:sp>
    </p:spTree>
    <p:extLst>
      <p:ext uri="{BB962C8B-B14F-4D97-AF65-F5344CB8AC3E}">
        <p14:creationId xmlns:p14="http://schemas.microsoft.com/office/powerpoint/2010/main" val="10000024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85E7E0-37E2-F182-9E89-3C1F71B3AB54}"/>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3E73FF29-4D46-7F7E-5700-B5C238499678}"/>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33C04A4-6C7D-9BA1-AD45-4EC2A2FDBB8C}"/>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12453CDE-F2AC-A142-E745-9F4E899C0D7C}"/>
              </a:ext>
            </a:extLst>
          </p:cNvPr>
          <p:cNvSpPr>
            <a:spLocks noGrp="1"/>
          </p:cNvSpPr>
          <p:nvPr>
            <p:ph type="dt" sz="half" idx="10"/>
          </p:nvPr>
        </p:nvSpPr>
        <p:spPr/>
        <p:txBody>
          <a:bodyPr/>
          <a:lstStyle/>
          <a:p>
            <a:fld id="{EA32326B-8F39-4D39-B9ED-212244B16FBB}" type="datetimeFigureOut">
              <a:rPr lang="en-US" smtClean="0"/>
              <a:t>9/9/2026</a:t>
            </a:fld>
            <a:endParaRPr lang="en-US"/>
          </a:p>
        </p:txBody>
      </p:sp>
      <p:sp>
        <p:nvSpPr>
          <p:cNvPr id="6" name="Footer Placeholder 5">
            <a:extLst>
              <a:ext uri="{FF2B5EF4-FFF2-40B4-BE49-F238E27FC236}">
                <a16:creationId xmlns:a16="http://schemas.microsoft.com/office/drawing/2014/main" id="{DEF47AE7-9EBE-F1B8-6154-9502376965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12634CD-509E-9B7B-C834-9B39D5F53002}"/>
              </a:ext>
            </a:extLst>
          </p:cNvPr>
          <p:cNvSpPr>
            <a:spLocks noGrp="1"/>
          </p:cNvSpPr>
          <p:nvPr>
            <p:ph type="sldNum" sz="quarter" idx="12"/>
          </p:nvPr>
        </p:nvSpPr>
        <p:spPr/>
        <p:txBody>
          <a:bodyPr/>
          <a:lstStyle/>
          <a:p>
            <a:fld id="{031158CD-B3AD-4A6D-BC08-0480F4A17146}" type="slidenum">
              <a:rPr lang="en-US" smtClean="0"/>
              <a:t>‹#›</a:t>
            </a:fld>
            <a:endParaRPr lang="en-US"/>
          </a:p>
        </p:txBody>
      </p:sp>
    </p:spTree>
    <p:extLst>
      <p:ext uri="{BB962C8B-B14F-4D97-AF65-F5344CB8AC3E}">
        <p14:creationId xmlns:p14="http://schemas.microsoft.com/office/powerpoint/2010/main" val="11168657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B67E8-653A-8C9D-4734-D3E190CAA21E}"/>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46CF2C9B-1E96-019E-9FAB-6DD598E2A4C0}"/>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34D3B625-6F9A-7F56-94EB-1CD3587586F4}"/>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F928EB46-FD85-9A9D-CDB6-30F17D5C9606}"/>
              </a:ext>
            </a:extLst>
          </p:cNvPr>
          <p:cNvSpPr>
            <a:spLocks noGrp="1"/>
          </p:cNvSpPr>
          <p:nvPr>
            <p:ph type="dt" sz="half" idx="10"/>
          </p:nvPr>
        </p:nvSpPr>
        <p:spPr/>
        <p:txBody>
          <a:bodyPr/>
          <a:lstStyle/>
          <a:p>
            <a:fld id="{EA32326B-8F39-4D39-B9ED-212244B16FBB}" type="datetimeFigureOut">
              <a:rPr lang="en-US" smtClean="0"/>
              <a:t>9/9/2026</a:t>
            </a:fld>
            <a:endParaRPr lang="en-US"/>
          </a:p>
        </p:txBody>
      </p:sp>
      <p:sp>
        <p:nvSpPr>
          <p:cNvPr id="6" name="Footer Placeholder 5">
            <a:extLst>
              <a:ext uri="{FF2B5EF4-FFF2-40B4-BE49-F238E27FC236}">
                <a16:creationId xmlns:a16="http://schemas.microsoft.com/office/drawing/2014/main" id="{8256E915-70EE-E3E9-838D-6474AC932B0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B70A105-7939-4CE8-E502-873E56DEF3E7}"/>
              </a:ext>
            </a:extLst>
          </p:cNvPr>
          <p:cNvSpPr>
            <a:spLocks noGrp="1"/>
          </p:cNvSpPr>
          <p:nvPr>
            <p:ph type="sldNum" sz="quarter" idx="12"/>
          </p:nvPr>
        </p:nvSpPr>
        <p:spPr/>
        <p:txBody>
          <a:bodyPr/>
          <a:lstStyle/>
          <a:p>
            <a:fld id="{031158CD-B3AD-4A6D-BC08-0480F4A17146}" type="slidenum">
              <a:rPr lang="en-US" smtClean="0"/>
              <a:t>‹#›</a:t>
            </a:fld>
            <a:endParaRPr lang="en-US"/>
          </a:p>
        </p:txBody>
      </p:sp>
    </p:spTree>
    <p:extLst>
      <p:ext uri="{BB962C8B-B14F-4D97-AF65-F5344CB8AC3E}">
        <p14:creationId xmlns:p14="http://schemas.microsoft.com/office/powerpoint/2010/main" val="40768455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EDFA7-BE35-677C-6C65-C6BF7CCC451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A664A82-EAED-3576-7324-31E903CFB67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FE5252-EEDF-9B61-B88F-2FCFBE1D4A2F}"/>
              </a:ext>
            </a:extLst>
          </p:cNvPr>
          <p:cNvSpPr>
            <a:spLocks noGrp="1"/>
          </p:cNvSpPr>
          <p:nvPr>
            <p:ph type="dt" sz="half" idx="10"/>
          </p:nvPr>
        </p:nvSpPr>
        <p:spPr/>
        <p:txBody>
          <a:bodyPr/>
          <a:lstStyle/>
          <a:p>
            <a:fld id="{EA32326B-8F39-4D39-B9ED-212244B16FBB}" type="datetimeFigureOut">
              <a:rPr lang="en-US" smtClean="0"/>
              <a:t>9/9/2026</a:t>
            </a:fld>
            <a:endParaRPr lang="en-US"/>
          </a:p>
        </p:txBody>
      </p:sp>
      <p:sp>
        <p:nvSpPr>
          <p:cNvPr id="5" name="Footer Placeholder 4">
            <a:extLst>
              <a:ext uri="{FF2B5EF4-FFF2-40B4-BE49-F238E27FC236}">
                <a16:creationId xmlns:a16="http://schemas.microsoft.com/office/drawing/2014/main" id="{02EB951D-6469-9B96-AC66-70A4153C8B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DFF806-9FF6-632C-30EA-966F055A0A91}"/>
              </a:ext>
            </a:extLst>
          </p:cNvPr>
          <p:cNvSpPr>
            <a:spLocks noGrp="1"/>
          </p:cNvSpPr>
          <p:nvPr>
            <p:ph type="sldNum" sz="quarter" idx="12"/>
          </p:nvPr>
        </p:nvSpPr>
        <p:spPr/>
        <p:txBody>
          <a:bodyPr/>
          <a:lstStyle/>
          <a:p>
            <a:fld id="{031158CD-B3AD-4A6D-BC08-0480F4A17146}" type="slidenum">
              <a:rPr lang="en-US" smtClean="0"/>
              <a:t>‹#›</a:t>
            </a:fld>
            <a:endParaRPr lang="en-US"/>
          </a:p>
        </p:txBody>
      </p:sp>
    </p:spTree>
    <p:extLst>
      <p:ext uri="{BB962C8B-B14F-4D97-AF65-F5344CB8AC3E}">
        <p14:creationId xmlns:p14="http://schemas.microsoft.com/office/powerpoint/2010/main" val="40639009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6A55F8B-AB5E-C89B-A9AB-9E56AD39CF97}"/>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20BE45B-DC86-6A77-C434-80850DFA9F7B}"/>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187BC4-3657-CD0A-271F-98D609DDB48C}"/>
              </a:ext>
            </a:extLst>
          </p:cNvPr>
          <p:cNvSpPr>
            <a:spLocks noGrp="1"/>
          </p:cNvSpPr>
          <p:nvPr>
            <p:ph type="dt" sz="half" idx="10"/>
          </p:nvPr>
        </p:nvSpPr>
        <p:spPr/>
        <p:txBody>
          <a:bodyPr/>
          <a:lstStyle/>
          <a:p>
            <a:fld id="{EA32326B-8F39-4D39-B9ED-212244B16FBB}" type="datetimeFigureOut">
              <a:rPr lang="en-US" smtClean="0"/>
              <a:t>9/9/2026</a:t>
            </a:fld>
            <a:endParaRPr lang="en-US"/>
          </a:p>
        </p:txBody>
      </p:sp>
      <p:sp>
        <p:nvSpPr>
          <p:cNvPr id="5" name="Footer Placeholder 4">
            <a:extLst>
              <a:ext uri="{FF2B5EF4-FFF2-40B4-BE49-F238E27FC236}">
                <a16:creationId xmlns:a16="http://schemas.microsoft.com/office/drawing/2014/main" id="{61BC118E-C64A-637F-9E47-12D382EC7E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40E662-3BFE-9888-5444-FBFDD2F65BB9}"/>
              </a:ext>
            </a:extLst>
          </p:cNvPr>
          <p:cNvSpPr>
            <a:spLocks noGrp="1"/>
          </p:cNvSpPr>
          <p:nvPr>
            <p:ph type="sldNum" sz="quarter" idx="12"/>
          </p:nvPr>
        </p:nvSpPr>
        <p:spPr/>
        <p:txBody>
          <a:bodyPr/>
          <a:lstStyle/>
          <a:p>
            <a:fld id="{031158CD-B3AD-4A6D-BC08-0480F4A17146}" type="slidenum">
              <a:rPr lang="en-US" smtClean="0"/>
              <a:t>‹#›</a:t>
            </a:fld>
            <a:endParaRPr lang="en-US"/>
          </a:p>
        </p:txBody>
      </p:sp>
    </p:spTree>
    <p:extLst>
      <p:ext uri="{BB962C8B-B14F-4D97-AF65-F5344CB8AC3E}">
        <p14:creationId xmlns:p14="http://schemas.microsoft.com/office/powerpoint/2010/main" val="40028071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F4D9ADB-AFBC-79DD-E4E7-F14C6F1FE2CB}"/>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4302192-E73D-F009-EB16-3177FE7B04F2}"/>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8EBC29-30E3-B7B5-5214-9072C957D767}"/>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82000"/>
                  </a:schemeClr>
                </a:solidFill>
              </a:defRPr>
            </a:lvl1pPr>
          </a:lstStyle>
          <a:p>
            <a:fld id="{EA32326B-8F39-4D39-B9ED-212244B16FBB}" type="datetimeFigureOut">
              <a:rPr lang="en-US" smtClean="0"/>
              <a:t>9/9/2026</a:t>
            </a:fld>
            <a:endParaRPr lang="en-US"/>
          </a:p>
        </p:txBody>
      </p:sp>
      <p:sp>
        <p:nvSpPr>
          <p:cNvPr id="5" name="Footer Placeholder 4">
            <a:extLst>
              <a:ext uri="{FF2B5EF4-FFF2-40B4-BE49-F238E27FC236}">
                <a16:creationId xmlns:a16="http://schemas.microsoft.com/office/drawing/2014/main" id="{1CBAA055-913E-D6B0-AB2A-C9E9A9D7C7E7}"/>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D55CA62-9095-1CFB-0062-921CA2C5390F}"/>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82000"/>
                  </a:schemeClr>
                </a:solidFill>
              </a:defRPr>
            </a:lvl1pPr>
          </a:lstStyle>
          <a:p>
            <a:fld id="{031158CD-B3AD-4A6D-BC08-0480F4A17146}" type="slidenum">
              <a:rPr lang="en-US" smtClean="0"/>
              <a:t>‹#›</a:t>
            </a:fld>
            <a:endParaRPr lang="en-US"/>
          </a:p>
        </p:txBody>
      </p:sp>
    </p:spTree>
    <p:extLst>
      <p:ext uri="{BB962C8B-B14F-4D97-AF65-F5344CB8AC3E}">
        <p14:creationId xmlns:p14="http://schemas.microsoft.com/office/powerpoint/2010/main" val="36168896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github.com/jabbamodel/JABBA/issues"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BE0E9-35CC-4970-678C-2EE4ED886E55}"/>
              </a:ext>
            </a:extLst>
          </p:cNvPr>
          <p:cNvSpPr>
            <a:spLocks noGrp="1"/>
          </p:cNvSpPr>
          <p:nvPr>
            <p:ph type="ctrTitle"/>
          </p:nvPr>
        </p:nvSpPr>
        <p:spPr/>
        <p:txBody>
          <a:bodyPr>
            <a:normAutofit/>
          </a:bodyPr>
          <a:lstStyle/>
          <a:p>
            <a:r>
              <a:rPr lang="en-US" sz="3200" dirty="0"/>
              <a:t>Bayesian production models applied to North Atlantic Mako Sharks using JABBA and JABBA-Select, updated in 2026</a:t>
            </a:r>
            <a:br>
              <a:rPr lang="en-US" sz="3200" dirty="0"/>
            </a:br>
            <a:endParaRPr lang="en-US" sz="3200" dirty="0"/>
          </a:p>
        </p:txBody>
      </p:sp>
      <p:sp>
        <p:nvSpPr>
          <p:cNvPr id="3" name="Subtitle 2">
            <a:extLst>
              <a:ext uri="{FF2B5EF4-FFF2-40B4-BE49-F238E27FC236}">
                <a16:creationId xmlns:a16="http://schemas.microsoft.com/office/drawing/2014/main" id="{A6B4D083-36FC-4090-95B6-981E639ADBCD}"/>
              </a:ext>
            </a:extLst>
          </p:cNvPr>
          <p:cNvSpPr>
            <a:spLocks noGrp="1"/>
          </p:cNvSpPr>
          <p:nvPr>
            <p:ph type="subTitle" idx="1"/>
          </p:nvPr>
        </p:nvSpPr>
        <p:spPr/>
        <p:txBody>
          <a:bodyPr/>
          <a:lstStyle/>
          <a:p>
            <a:r>
              <a:rPr lang="en-US" dirty="0"/>
              <a:t>Elizabeth A Babcock </a:t>
            </a:r>
          </a:p>
          <a:p>
            <a:r>
              <a:rPr lang="en-US" dirty="0"/>
              <a:t>SCRS/2026/149</a:t>
            </a:r>
          </a:p>
          <a:p>
            <a:endParaRPr lang="en-US" dirty="0"/>
          </a:p>
        </p:txBody>
      </p:sp>
      <p:pic>
        <p:nvPicPr>
          <p:cNvPr id="4" name="Picture 3">
            <a:extLst>
              <a:ext uri="{FF2B5EF4-FFF2-40B4-BE49-F238E27FC236}">
                <a16:creationId xmlns:a16="http://schemas.microsoft.com/office/drawing/2014/main" id="{F34D7606-F125-5754-5C0C-31322AE8B2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5105400"/>
            <a:ext cx="2726465" cy="1571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a:extLst>
              <a:ext uri="{FF2B5EF4-FFF2-40B4-BE49-F238E27FC236}">
                <a16:creationId xmlns:a16="http://schemas.microsoft.com/office/drawing/2014/main" id="{5C401DF4-D1AC-F5A4-4E61-CFD047A8EE87}"/>
              </a:ext>
            </a:extLst>
          </p:cNvPr>
          <p:cNvSpPr txBox="1"/>
          <p:nvPr/>
        </p:nvSpPr>
        <p:spPr>
          <a:xfrm>
            <a:off x="2971800" y="5340145"/>
            <a:ext cx="5867400" cy="646331"/>
          </a:xfrm>
          <a:prstGeom prst="rect">
            <a:avLst/>
          </a:prstGeom>
          <a:noFill/>
        </p:spPr>
        <p:txBody>
          <a:bodyPr wrap="square">
            <a:spAutoFit/>
          </a:bodyPr>
          <a:lstStyle/>
          <a:p>
            <a:r>
              <a:rPr lang="en-US" dirty="0">
                <a:solidFill>
                  <a:schemeClr val="tx1"/>
                </a:solidFill>
              </a:rPr>
              <a:t>Marine Biology and Ecology, Rosenstiel School of Marine, Atmospheric and Earth Science</a:t>
            </a:r>
          </a:p>
        </p:txBody>
      </p:sp>
    </p:spTree>
    <p:extLst>
      <p:ext uri="{BB962C8B-B14F-4D97-AF65-F5344CB8AC3E}">
        <p14:creationId xmlns:p14="http://schemas.microsoft.com/office/powerpoint/2010/main" val="38789662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3BB28-D804-B47F-B4DF-9DC18D6A3BAA}"/>
              </a:ext>
            </a:extLst>
          </p:cNvPr>
          <p:cNvSpPr>
            <a:spLocks noGrp="1"/>
          </p:cNvSpPr>
          <p:nvPr>
            <p:ph type="title"/>
          </p:nvPr>
        </p:nvSpPr>
        <p:spPr/>
        <p:txBody>
          <a:bodyPr/>
          <a:lstStyle/>
          <a:p>
            <a:r>
              <a:rPr lang="en-US" dirty="0"/>
              <a:t>Revisions Wednesday</a:t>
            </a:r>
          </a:p>
        </p:txBody>
      </p:sp>
      <p:sp>
        <p:nvSpPr>
          <p:cNvPr id="3" name="Content Placeholder 2">
            <a:extLst>
              <a:ext uri="{FF2B5EF4-FFF2-40B4-BE49-F238E27FC236}">
                <a16:creationId xmlns:a16="http://schemas.microsoft.com/office/drawing/2014/main" id="{623F389E-FD41-AB29-57DA-DA15B0D0D30E}"/>
              </a:ext>
            </a:extLst>
          </p:cNvPr>
          <p:cNvSpPr>
            <a:spLocks noGrp="1"/>
          </p:cNvSpPr>
          <p:nvPr>
            <p:ph idx="1"/>
          </p:nvPr>
        </p:nvSpPr>
        <p:spPr/>
        <p:txBody>
          <a:bodyPr/>
          <a:lstStyle/>
          <a:p>
            <a:r>
              <a:rPr lang="en-US" dirty="0"/>
              <a:t>JABBA-Select. Correcting typo in male </a:t>
            </a:r>
            <a:r>
              <a:rPr lang="en-US" dirty="0" err="1"/>
              <a:t>Linf</a:t>
            </a:r>
            <a:r>
              <a:rPr lang="en-US" dirty="0"/>
              <a:t> for scenario 2 made no visible differences</a:t>
            </a:r>
          </a:p>
          <a:p>
            <a:r>
              <a:rPr lang="en-US" dirty="0"/>
              <a:t>Identified a problem with the scaling in the current version of JABBA</a:t>
            </a:r>
          </a:p>
          <a:p>
            <a:r>
              <a:rPr lang="en-US" dirty="0">
                <a:hlinkClick r:id="rId2"/>
              </a:rPr>
              <a:t>https://github.com/jabbamodel/JABBA/issues</a:t>
            </a:r>
            <a:endParaRPr lang="en-US" dirty="0"/>
          </a:p>
          <a:p>
            <a:r>
              <a:rPr lang="en-US" dirty="0"/>
              <a:t>Reinstalled JABBA from 2025 and re-ran everything. Scale is much more reasonable. </a:t>
            </a:r>
          </a:p>
          <a:p>
            <a:endParaRPr lang="en-US" dirty="0"/>
          </a:p>
          <a:p>
            <a:endParaRPr lang="en-US" dirty="0"/>
          </a:p>
        </p:txBody>
      </p:sp>
    </p:spTree>
    <p:extLst>
      <p:ext uri="{BB962C8B-B14F-4D97-AF65-F5344CB8AC3E}">
        <p14:creationId xmlns:p14="http://schemas.microsoft.com/office/powerpoint/2010/main" val="2329804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9ABAF-43A0-149F-ABA4-04A473BB4C06}"/>
              </a:ext>
            </a:extLst>
          </p:cNvPr>
          <p:cNvSpPr>
            <a:spLocks noGrp="1"/>
          </p:cNvSpPr>
          <p:nvPr>
            <p:ph type="title"/>
          </p:nvPr>
        </p:nvSpPr>
        <p:spPr/>
        <p:txBody>
          <a:bodyPr/>
          <a:lstStyle/>
          <a:p>
            <a:r>
              <a:rPr lang="en-US" dirty="0"/>
              <a:t>Results corrected</a:t>
            </a:r>
          </a:p>
        </p:txBody>
      </p:sp>
      <p:graphicFrame>
        <p:nvGraphicFramePr>
          <p:cNvPr id="7" name="Table 6">
            <a:extLst>
              <a:ext uri="{FF2B5EF4-FFF2-40B4-BE49-F238E27FC236}">
                <a16:creationId xmlns:a16="http://schemas.microsoft.com/office/drawing/2014/main" id="{56960245-F695-8A69-A613-C06FFB869474}"/>
              </a:ext>
            </a:extLst>
          </p:cNvPr>
          <p:cNvGraphicFramePr>
            <a:graphicFrameLocks noGrp="1"/>
          </p:cNvGraphicFramePr>
          <p:nvPr>
            <p:extLst>
              <p:ext uri="{D42A27DB-BD31-4B8C-83A1-F6EECF244321}">
                <p14:modId xmlns:p14="http://schemas.microsoft.com/office/powerpoint/2010/main" val="749780148"/>
              </p:ext>
            </p:extLst>
          </p:nvPr>
        </p:nvGraphicFramePr>
        <p:xfrm>
          <a:off x="6104853" y="681038"/>
          <a:ext cx="2546941" cy="1524000"/>
        </p:xfrm>
        <a:graphic>
          <a:graphicData uri="http://schemas.openxmlformats.org/drawingml/2006/table">
            <a:tbl>
              <a:tblPr firstRow="1" firstCol="1" bandRow="1">
                <a:tableStyleId>{5C22544A-7EE6-4342-B048-85BDC9FD1C3A}</a:tableStyleId>
              </a:tblPr>
              <a:tblGrid>
                <a:gridCol w="636735">
                  <a:extLst>
                    <a:ext uri="{9D8B030D-6E8A-4147-A177-3AD203B41FA5}">
                      <a16:colId xmlns:a16="http://schemas.microsoft.com/office/drawing/2014/main" val="127105482"/>
                    </a:ext>
                  </a:extLst>
                </a:gridCol>
                <a:gridCol w="438167">
                  <a:extLst>
                    <a:ext uri="{9D8B030D-6E8A-4147-A177-3AD203B41FA5}">
                      <a16:colId xmlns:a16="http://schemas.microsoft.com/office/drawing/2014/main" val="836073232"/>
                    </a:ext>
                  </a:extLst>
                </a:gridCol>
                <a:gridCol w="692318">
                  <a:extLst>
                    <a:ext uri="{9D8B030D-6E8A-4147-A177-3AD203B41FA5}">
                      <a16:colId xmlns:a16="http://schemas.microsoft.com/office/drawing/2014/main" val="82473533"/>
                    </a:ext>
                  </a:extLst>
                </a:gridCol>
                <a:gridCol w="779721">
                  <a:extLst>
                    <a:ext uri="{9D8B030D-6E8A-4147-A177-3AD203B41FA5}">
                      <a16:colId xmlns:a16="http://schemas.microsoft.com/office/drawing/2014/main" val="938042641"/>
                    </a:ext>
                  </a:extLst>
                </a:gridCol>
              </a:tblGrid>
              <a:tr h="182880">
                <a:tc>
                  <a:txBody>
                    <a:bodyPr/>
                    <a:lstStyle/>
                    <a:p>
                      <a:pPr marL="0" marR="0">
                        <a:buNone/>
                      </a:pPr>
                      <a:r>
                        <a:rPr lang="en-US" sz="1000" dirty="0">
                          <a:effectLst/>
                        </a:rPr>
                        <a:t>Case</a:t>
                      </a:r>
                      <a:endParaRPr lang="en-US" sz="12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buNone/>
                      </a:pPr>
                      <a:r>
                        <a:rPr lang="en-US" sz="1000">
                          <a:effectLst/>
                        </a:rPr>
                        <a:t>Scenario</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buNone/>
                      </a:pPr>
                      <a:r>
                        <a:rPr lang="en-US" sz="1000" dirty="0">
                          <a:effectLst/>
                        </a:rPr>
                        <a:t>r</a:t>
                      </a:r>
                      <a:endParaRPr lang="en-US" sz="12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buNone/>
                      </a:pPr>
                      <a:r>
                        <a:rPr lang="en-US" sz="1000" dirty="0" err="1">
                          <a:effectLst/>
                        </a:rPr>
                        <a:t>Bmsy</a:t>
                      </a:r>
                      <a:r>
                        <a:rPr lang="en-US" sz="1000" dirty="0">
                          <a:effectLst/>
                        </a:rPr>
                        <a:t>/K</a:t>
                      </a:r>
                      <a:endParaRPr lang="en-US" sz="1200"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3811799792"/>
                  </a:ext>
                </a:extLst>
              </a:tr>
              <a:tr h="182880">
                <a:tc>
                  <a:txBody>
                    <a:bodyPr/>
                    <a:lstStyle/>
                    <a:p>
                      <a:pPr marL="0" marR="0">
                        <a:buNone/>
                      </a:pPr>
                      <a:r>
                        <a:rPr lang="en-US" sz="1000">
                          <a:effectLst/>
                        </a:rPr>
                        <a:t>Base</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r">
                        <a:buNone/>
                      </a:pPr>
                      <a:r>
                        <a:rPr lang="en-US" sz="1000" dirty="0">
                          <a:effectLst/>
                        </a:rPr>
                        <a:t>1</a:t>
                      </a:r>
                      <a:endParaRPr lang="en-US" sz="12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r">
                        <a:buNone/>
                      </a:pPr>
                      <a:r>
                        <a:rPr lang="en-US" sz="1000">
                          <a:effectLst/>
                        </a:rPr>
                        <a:t>0.051</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r">
                        <a:buNone/>
                      </a:pPr>
                      <a:r>
                        <a:rPr lang="en-US" sz="1000">
                          <a:effectLst/>
                        </a:rPr>
                        <a:t>0.670</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618715992"/>
                  </a:ext>
                </a:extLst>
              </a:tr>
              <a:tr h="182880">
                <a:tc>
                  <a:txBody>
                    <a:bodyPr/>
                    <a:lstStyle/>
                    <a:p>
                      <a:pPr marL="0" marR="0" algn="r">
                        <a:buNone/>
                      </a:pPr>
                      <a:r>
                        <a:rPr lang="en-US" sz="1000">
                          <a:effectLst/>
                        </a:rPr>
                        <a:t> </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r">
                        <a:buNone/>
                      </a:pPr>
                      <a:r>
                        <a:rPr lang="en-US" sz="1000">
                          <a:effectLst/>
                        </a:rPr>
                        <a:t>2</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r">
                        <a:buNone/>
                      </a:pPr>
                      <a:r>
                        <a:rPr lang="en-US" sz="1000" dirty="0">
                          <a:effectLst/>
                        </a:rPr>
                        <a:t>0.020</a:t>
                      </a:r>
                      <a:endParaRPr lang="en-US" sz="12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r">
                        <a:buNone/>
                      </a:pPr>
                      <a:r>
                        <a:rPr lang="en-US" sz="1000" b="1" dirty="0">
                          <a:effectLst/>
                        </a:rPr>
                        <a:t>0.846</a:t>
                      </a:r>
                      <a:endParaRPr lang="en-US" sz="1200" b="1"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36374101"/>
                  </a:ext>
                </a:extLst>
              </a:tr>
              <a:tr h="182880">
                <a:tc>
                  <a:txBody>
                    <a:bodyPr/>
                    <a:lstStyle/>
                    <a:p>
                      <a:pPr marL="0" marR="0" algn="r">
                        <a:buNone/>
                      </a:pPr>
                      <a:r>
                        <a:rPr lang="en-US" sz="1000">
                          <a:effectLst/>
                        </a:rPr>
                        <a:t> </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r">
                        <a:buNone/>
                      </a:pPr>
                      <a:r>
                        <a:rPr lang="en-US" sz="1000">
                          <a:effectLst/>
                        </a:rPr>
                        <a:t>3</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r">
                        <a:buNone/>
                      </a:pPr>
                      <a:r>
                        <a:rPr lang="en-US" sz="1000">
                          <a:effectLst/>
                        </a:rPr>
                        <a:t>0.019</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r">
                        <a:buNone/>
                      </a:pPr>
                      <a:r>
                        <a:rPr lang="en-US" sz="1000" b="1" dirty="0">
                          <a:effectLst/>
                        </a:rPr>
                        <a:t>0.745</a:t>
                      </a:r>
                      <a:endParaRPr lang="en-US" sz="1200" b="1"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3789207447"/>
                  </a:ext>
                </a:extLst>
              </a:tr>
              <a:tr h="182880">
                <a:tc>
                  <a:txBody>
                    <a:bodyPr/>
                    <a:lstStyle/>
                    <a:p>
                      <a:pPr marL="0" marR="0">
                        <a:buNone/>
                      </a:pPr>
                      <a:r>
                        <a:rPr lang="en-US" sz="1000">
                          <a:effectLst/>
                        </a:rPr>
                        <a:t>Sensitivity</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r">
                        <a:buNone/>
                      </a:pPr>
                      <a:r>
                        <a:rPr lang="en-US" sz="1000">
                          <a:effectLst/>
                        </a:rPr>
                        <a:t>1</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r">
                        <a:buNone/>
                      </a:pPr>
                      <a:r>
                        <a:rPr lang="en-US" sz="1000" dirty="0">
                          <a:effectLst/>
                        </a:rPr>
                        <a:t>0.102</a:t>
                      </a:r>
                      <a:endParaRPr lang="en-US" sz="12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r">
                        <a:buNone/>
                      </a:pPr>
                      <a:r>
                        <a:rPr lang="en-US" sz="1000" dirty="0">
                          <a:effectLst/>
                        </a:rPr>
                        <a:t>0.541</a:t>
                      </a:r>
                      <a:endParaRPr lang="en-US" sz="1200"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3364435720"/>
                  </a:ext>
                </a:extLst>
              </a:tr>
              <a:tr h="182880">
                <a:tc>
                  <a:txBody>
                    <a:bodyPr/>
                    <a:lstStyle/>
                    <a:p>
                      <a:pPr marL="0" marR="0" algn="r">
                        <a:buNone/>
                      </a:pPr>
                      <a:r>
                        <a:rPr lang="en-US" sz="1000">
                          <a:effectLst/>
                        </a:rPr>
                        <a:t> </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r">
                        <a:buNone/>
                      </a:pPr>
                      <a:r>
                        <a:rPr lang="en-US" sz="1000">
                          <a:effectLst/>
                        </a:rPr>
                        <a:t>2</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r">
                        <a:buNone/>
                      </a:pPr>
                      <a:r>
                        <a:rPr lang="en-US" sz="1000" dirty="0">
                          <a:effectLst/>
                        </a:rPr>
                        <a:t>0.094</a:t>
                      </a:r>
                      <a:endParaRPr lang="en-US" sz="12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r">
                        <a:buNone/>
                      </a:pPr>
                      <a:r>
                        <a:rPr lang="en-US" sz="1000" dirty="0">
                          <a:effectLst/>
                        </a:rPr>
                        <a:t>0.557</a:t>
                      </a:r>
                      <a:endParaRPr lang="en-US" sz="1200"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95056403"/>
                  </a:ext>
                </a:extLst>
              </a:tr>
              <a:tr h="182880">
                <a:tc>
                  <a:txBody>
                    <a:bodyPr/>
                    <a:lstStyle/>
                    <a:p>
                      <a:pPr marL="0" marR="0" algn="r">
                        <a:buNone/>
                      </a:pPr>
                      <a:r>
                        <a:rPr lang="en-US" sz="1000">
                          <a:effectLst/>
                        </a:rPr>
                        <a:t> </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r">
                        <a:buNone/>
                      </a:pPr>
                      <a:r>
                        <a:rPr lang="en-US" sz="1000">
                          <a:effectLst/>
                        </a:rPr>
                        <a:t>3</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r">
                        <a:buNone/>
                      </a:pPr>
                      <a:r>
                        <a:rPr lang="en-US" sz="1000">
                          <a:effectLst/>
                        </a:rPr>
                        <a:t>0.015</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r">
                        <a:buNone/>
                      </a:pPr>
                      <a:r>
                        <a:rPr lang="en-US" sz="1000" b="1" dirty="0">
                          <a:effectLst/>
                        </a:rPr>
                        <a:t>0.793</a:t>
                      </a:r>
                      <a:endParaRPr lang="en-US" sz="1200" b="1"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1061316046"/>
                  </a:ext>
                </a:extLst>
              </a:tr>
            </a:tbl>
          </a:graphicData>
        </a:graphic>
      </p:graphicFrame>
      <p:sp>
        <p:nvSpPr>
          <p:cNvPr id="9" name="TextBox 8">
            <a:extLst>
              <a:ext uri="{FF2B5EF4-FFF2-40B4-BE49-F238E27FC236}">
                <a16:creationId xmlns:a16="http://schemas.microsoft.com/office/drawing/2014/main" id="{568CFADA-ED84-9774-A83E-AD717BE372A6}"/>
              </a:ext>
            </a:extLst>
          </p:cNvPr>
          <p:cNvSpPr txBox="1"/>
          <p:nvPr/>
        </p:nvSpPr>
        <p:spPr>
          <a:xfrm>
            <a:off x="8066567" y="92148"/>
            <a:ext cx="1389321" cy="382773"/>
          </a:xfrm>
          <a:prstGeom prst="rect">
            <a:avLst/>
          </a:prstGeom>
          <a:noFill/>
        </p:spPr>
        <p:txBody>
          <a:bodyPr wrap="square" rtlCol="0">
            <a:spAutoFit/>
          </a:bodyPr>
          <a:lstStyle/>
          <a:p>
            <a:r>
              <a:rPr lang="en-US" dirty="0">
                <a:solidFill>
                  <a:schemeClr val="tx2">
                    <a:lumMod val="75000"/>
                    <a:lumOff val="25000"/>
                  </a:schemeClr>
                </a:solidFill>
              </a:rPr>
              <a:t>JABBA</a:t>
            </a:r>
          </a:p>
        </p:txBody>
      </p:sp>
      <p:pic>
        <p:nvPicPr>
          <p:cNvPr id="11" name="Content Placeholder 10">
            <a:extLst>
              <a:ext uri="{FF2B5EF4-FFF2-40B4-BE49-F238E27FC236}">
                <a16:creationId xmlns:a16="http://schemas.microsoft.com/office/drawing/2014/main" id="{41270CD2-2079-674B-4A1A-21540F287AA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4839" y="774936"/>
            <a:ext cx="5229696" cy="5976796"/>
          </a:xfrm>
          <a:prstGeom prst="rect">
            <a:avLst/>
          </a:prstGeom>
        </p:spPr>
      </p:pic>
      <p:sp>
        <p:nvSpPr>
          <p:cNvPr id="12" name="TextBox 11">
            <a:extLst>
              <a:ext uri="{FF2B5EF4-FFF2-40B4-BE49-F238E27FC236}">
                <a16:creationId xmlns:a16="http://schemas.microsoft.com/office/drawing/2014/main" id="{E0BD6992-D93E-A6AA-4DC3-0AFE7FACFAA1}"/>
              </a:ext>
            </a:extLst>
          </p:cNvPr>
          <p:cNvSpPr txBox="1"/>
          <p:nvPr/>
        </p:nvSpPr>
        <p:spPr>
          <a:xfrm>
            <a:off x="6189785" y="3429000"/>
            <a:ext cx="2546941" cy="2585323"/>
          </a:xfrm>
          <a:prstGeom prst="rect">
            <a:avLst/>
          </a:prstGeom>
          <a:noFill/>
        </p:spPr>
        <p:txBody>
          <a:bodyPr wrap="square" rtlCol="0">
            <a:spAutoFit/>
          </a:bodyPr>
          <a:lstStyle/>
          <a:p>
            <a:pPr marL="285750" indent="-285750">
              <a:buFont typeface="Arial" panose="020B0604020202020204" pitchFamily="34" charset="0"/>
              <a:buChar char="•"/>
            </a:pPr>
            <a:r>
              <a:rPr lang="en-US" dirty="0"/>
              <a:t>Still have lower productivity with higher </a:t>
            </a:r>
            <a:r>
              <a:rPr lang="en-US" dirty="0" err="1"/>
              <a:t>Bmsy</a:t>
            </a:r>
            <a:r>
              <a:rPr lang="en-US" dirty="0"/>
              <a:t>/K,</a:t>
            </a:r>
          </a:p>
          <a:p>
            <a:pPr marL="285750" indent="-285750">
              <a:buFont typeface="Arial" panose="020B0604020202020204" pitchFamily="34" charset="0"/>
              <a:buChar char="•"/>
            </a:pPr>
            <a:r>
              <a:rPr lang="en-US" dirty="0"/>
              <a:t>Overall scale is much more reasonable (previously had SP of 50000)</a:t>
            </a:r>
          </a:p>
          <a:p>
            <a:endParaRPr lang="en-US" dirty="0"/>
          </a:p>
        </p:txBody>
      </p:sp>
    </p:spTree>
    <p:extLst>
      <p:ext uri="{BB962C8B-B14F-4D97-AF65-F5344CB8AC3E}">
        <p14:creationId xmlns:p14="http://schemas.microsoft.com/office/powerpoint/2010/main" val="25615906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6B475-46AE-5D8E-22DD-FD22BA94E1F4}"/>
              </a:ext>
            </a:extLst>
          </p:cNvPr>
          <p:cNvSpPr>
            <a:spLocks noGrp="1"/>
          </p:cNvSpPr>
          <p:nvPr>
            <p:ph type="title"/>
          </p:nvPr>
        </p:nvSpPr>
        <p:spPr/>
        <p:txBody>
          <a:bodyPr/>
          <a:lstStyle/>
          <a:p>
            <a:r>
              <a:rPr lang="en-US" dirty="0"/>
              <a:t>Fits similar for all, unchanged</a:t>
            </a:r>
          </a:p>
        </p:txBody>
      </p:sp>
      <p:sp>
        <p:nvSpPr>
          <p:cNvPr id="6" name="TextBox 5">
            <a:extLst>
              <a:ext uri="{FF2B5EF4-FFF2-40B4-BE49-F238E27FC236}">
                <a16:creationId xmlns:a16="http://schemas.microsoft.com/office/drawing/2014/main" id="{DFF059D4-8159-006B-BC5D-6244869F679C}"/>
              </a:ext>
            </a:extLst>
          </p:cNvPr>
          <p:cNvSpPr txBox="1"/>
          <p:nvPr/>
        </p:nvSpPr>
        <p:spPr>
          <a:xfrm>
            <a:off x="8066567" y="92148"/>
            <a:ext cx="1389321" cy="382773"/>
          </a:xfrm>
          <a:prstGeom prst="rect">
            <a:avLst/>
          </a:prstGeom>
          <a:noFill/>
        </p:spPr>
        <p:txBody>
          <a:bodyPr wrap="square" rtlCol="0">
            <a:spAutoFit/>
          </a:bodyPr>
          <a:lstStyle/>
          <a:p>
            <a:r>
              <a:rPr lang="en-US" dirty="0">
                <a:solidFill>
                  <a:schemeClr val="tx2">
                    <a:lumMod val="75000"/>
                    <a:lumOff val="25000"/>
                  </a:schemeClr>
                </a:solidFill>
              </a:rPr>
              <a:t>JABBA</a:t>
            </a:r>
          </a:p>
        </p:txBody>
      </p:sp>
      <p:pic>
        <p:nvPicPr>
          <p:cNvPr id="8" name="Content Placeholder 7" descr="This diagram illustrates the estimated population growth (in millions) for Japan and Morocco from 1960 to 2020, depicted as two separate line graphs with different trends.&#10;&#10;AI-generated content may be incorrect.">
            <a:extLst>
              <a:ext uri="{FF2B5EF4-FFF2-40B4-BE49-F238E27FC236}">
                <a16:creationId xmlns:a16="http://schemas.microsoft.com/office/drawing/2014/main" id="{B65EEFB9-0E07-1B3A-DCBE-BB167ACF58D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67217" y="914400"/>
            <a:ext cx="5409565" cy="5795963"/>
          </a:xfrm>
          <a:prstGeom prst="rect">
            <a:avLst/>
          </a:prstGeom>
        </p:spPr>
      </p:pic>
    </p:spTree>
    <p:extLst>
      <p:ext uri="{BB962C8B-B14F-4D97-AF65-F5344CB8AC3E}">
        <p14:creationId xmlns:p14="http://schemas.microsoft.com/office/powerpoint/2010/main" val="26637539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7C5A1E-2C08-0FEC-081B-0A6790E9325C}"/>
              </a:ext>
            </a:extLst>
          </p:cNvPr>
          <p:cNvSpPr>
            <a:spLocks noGrp="1"/>
          </p:cNvSpPr>
          <p:nvPr>
            <p:ph type="title"/>
          </p:nvPr>
        </p:nvSpPr>
        <p:spPr/>
        <p:txBody>
          <a:bodyPr/>
          <a:lstStyle/>
          <a:p>
            <a:r>
              <a:rPr lang="en-US" dirty="0"/>
              <a:t>Fits</a:t>
            </a:r>
          </a:p>
        </p:txBody>
      </p:sp>
      <p:pic>
        <p:nvPicPr>
          <p:cNvPr id="7" name="Content Placeholder 6" descr="The image appears to be a graphical representation of RMSE (Root Mean Square Error) values plotted against time for different data sets, possibly comparing different models or variables such as SPN, JPN, and MOR, with log residuals and loess smoothing.&#10;&#10;AI-generated content may be incorrect.">
            <a:extLst>
              <a:ext uri="{FF2B5EF4-FFF2-40B4-BE49-F238E27FC236}">
                <a16:creationId xmlns:a16="http://schemas.microsoft.com/office/drawing/2014/main" id="{21038F94-C9F0-011B-94C2-B8C5FF99B0D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11191" y="914400"/>
            <a:ext cx="5521618" cy="5795963"/>
          </a:xfrm>
          <a:prstGeom prst="rect">
            <a:avLst/>
          </a:prstGeom>
        </p:spPr>
      </p:pic>
    </p:spTree>
    <p:extLst>
      <p:ext uri="{BB962C8B-B14F-4D97-AF65-F5344CB8AC3E}">
        <p14:creationId xmlns:p14="http://schemas.microsoft.com/office/powerpoint/2010/main" val="9931073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07A45-2E35-0D6E-D2A9-D7A82352AE04}"/>
              </a:ext>
            </a:extLst>
          </p:cNvPr>
          <p:cNvSpPr>
            <a:spLocks noGrp="1"/>
          </p:cNvSpPr>
          <p:nvPr>
            <p:ph type="title"/>
          </p:nvPr>
        </p:nvSpPr>
        <p:spPr/>
        <p:txBody>
          <a:bodyPr/>
          <a:lstStyle/>
          <a:p>
            <a:r>
              <a:rPr lang="en-US" dirty="0"/>
              <a:t>Trends in residuals</a:t>
            </a:r>
          </a:p>
        </p:txBody>
      </p:sp>
      <p:sp>
        <p:nvSpPr>
          <p:cNvPr id="6" name="TextBox 5">
            <a:extLst>
              <a:ext uri="{FF2B5EF4-FFF2-40B4-BE49-F238E27FC236}">
                <a16:creationId xmlns:a16="http://schemas.microsoft.com/office/drawing/2014/main" id="{1FD218DC-7D84-2701-FB04-F40ABCFDD6C6}"/>
              </a:ext>
            </a:extLst>
          </p:cNvPr>
          <p:cNvSpPr txBox="1"/>
          <p:nvPr/>
        </p:nvSpPr>
        <p:spPr>
          <a:xfrm>
            <a:off x="4895812" y="882197"/>
            <a:ext cx="1694120" cy="1477328"/>
          </a:xfrm>
          <a:prstGeom prst="rect">
            <a:avLst/>
          </a:prstGeom>
          <a:noFill/>
        </p:spPr>
        <p:txBody>
          <a:bodyPr wrap="square" rtlCol="0">
            <a:spAutoFit/>
          </a:bodyPr>
          <a:lstStyle/>
          <a:p>
            <a:r>
              <a:rPr lang="en-US" dirty="0"/>
              <a:t>JLL 1</a:t>
            </a:r>
          </a:p>
          <a:p>
            <a:endParaRPr lang="en-US" dirty="0"/>
          </a:p>
          <a:p>
            <a:r>
              <a:rPr lang="en-US" dirty="0"/>
              <a:t>MOR 1</a:t>
            </a:r>
          </a:p>
          <a:p>
            <a:endParaRPr lang="en-US" dirty="0"/>
          </a:p>
          <a:p>
            <a:r>
              <a:rPr lang="en-US" dirty="0"/>
              <a:t>Combined</a:t>
            </a:r>
          </a:p>
        </p:txBody>
      </p:sp>
      <p:sp>
        <p:nvSpPr>
          <p:cNvPr id="7" name="TextBox 6">
            <a:extLst>
              <a:ext uri="{FF2B5EF4-FFF2-40B4-BE49-F238E27FC236}">
                <a16:creationId xmlns:a16="http://schemas.microsoft.com/office/drawing/2014/main" id="{E3BAD95D-8831-6B19-51FA-1247EECBBDD8}"/>
              </a:ext>
            </a:extLst>
          </p:cNvPr>
          <p:cNvSpPr txBox="1"/>
          <p:nvPr/>
        </p:nvSpPr>
        <p:spPr>
          <a:xfrm>
            <a:off x="382771" y="822251"/>
            <a:ext cx="1311349" cy="1477328"/>
          </a:xfrm>
          <a:prstGeom prst="rect">
            <a:avLst/>
          </a:prstGeom>
          <a:noFill/>
        </p:spPr>
        <p:txBody>
          <a:bodyPr wrap="square" rtlCol="0">
            <a:spAutoFit/>
          </a:bodyPr>
          <a:lstStyle/>
          <a:p>
            <a:r>
              <a:rPr lang="en-US" dirty="0"/>
              <a:t>SPN 1</a:t>
            </a:r>
          </a:p>
          <a:p>
            <a:endParaRPr lang="en-US" dirty="0"/>
          </a:p>
          <a:p>
            <a:r>
              <a:rPr lang="en-US" dirty="0"/>
              <a:t>JLL2</a:t>
            </a:r>
          </a:p>
          <a:p>
            <a:endParaRPr lang="en-US" dirty="0"/>
          </a:p>
          <a:p>
            <a:r>
              <a:rPr lang="en-US" dirty="0"/>
              <a:t>MOR2</a:t>
            </a:r>
          </a:p>
        </p:txBody>
      </p:sp>
      <p:sp>
        <p:nvSpPr>
          <p:cNvPr id="8" name="TextBox 7">
            <a:extLst>
              <a:ext uri="{FF2B5EF4-FFF2-40B4-BE49-F238E27FC236}">
                <a16:creationId xmlns:a16="http://schemas.microsoft.com/office/drawing/2014/main" id="{62BAA7E2-8683-96D9-A44C-2FF24CD7CCC7}"/>
              </a:ext>
            </a:extLst>
          </p:cNvPr>
          <p:cNvSpPr txBox="1"/>
          <p:nvPr/>
        </p:nvSpPr>
        <p:spPr>
          <a:xfrm>
            <a:off x="8066567" y="92148"/>
            <a:ext cx="1389321" cy="382773"/>
          </a:xfrm>
          <a:prstGeom prst="rect">
            <a:avLst/>
          </a:prstGeom>
          <a:noFill/>
        </p:spPr>
        <p:txBody>
          <a:bodyPr wrap="square" rtlCol="0">
            <a:spAutoFit/>
          </a:bodyPr>
          <a:lstStyle/>
          <a:p>
            <a:r>
              <a:rPr lang="en-US" dirty="0">
                <a:solidFill>
                  <a:schemeClr val="tx2">
                    <a:lumMod val="75000"/>
                    <a:lumOff val="25000"/>
                  </a:schemeClr>
                </a:solidFill>
              </a:rPr>
              <a:t>JABBA</a:t>
            </a:r>
          </a:p>
        </p:txBody>
      </p:sp>
      <p:pic>
        <p:nvPicPr>
          <p:cNvPr id="10" name="Content Placeholder 9" descr="This image appears to be a line graph with multiple series, depicting values over time, potentially showing trends or residuals in data, with years on the x-axis and values on the y-axis.&#10;&#10;AI-generated content may be incorrect.">
            <a:extLst>
              <a:ext uri="{FF2B5EF4-FFF2-40B4-BE49-F238E27FC236}">
                <a16:creationId xmlns:a16="http://schemas.microsoft.com/office/drawing/2014/main" id="{306CA0A1-B004-5678-1284-9051E16B4AB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89397" y="681038"/>
            <a:ext cx="3606415" cy="5795963"/>
          </a:xfrm>
          <a:prstGeom prst="rect">
            <a:avLst/>
          </a:prstGeom>
        </p:spPr>
      </p:pic>
    </p:spTree>
    <p:extLst>
      <p:ext uri="{BB962C8B-B14F-4D97-AF65-F5344CB8AC3E}">
        <p14:creationId xmlns:p14="http://schemas.microsoft.com/office/powerpoint/2010/main" val="1595033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E02B72-342B-3D5F-8FE3-E50FC099FBB2}"/>
              </a:ext>
            </a:extLst>
          </p:cNvPr>
          <p:cNvSpPr>
            <a:spLocks noGrp="1"/>
          </p:cNvSpPr>
          <p:nvPr>
            <p:ph type="title"/>
          </p:nvPr>
        </p:nvSpPr>
        <p:spPr/>
        <p:txBody>
          <a:bodyPr/>
          <a:lstStyle/>
          <a:p>
            <a:r>
              <a:rPr lang="en-US" dirty="0"/>
              <a:t>Prior (dark) and posterior (light) Base 1</a:t>
            </a:r>
          </a:p>
        </p:txBody>
      </p:sp>
      <p:sp>
        <p:nvSpPr>
          <p:cNvPr id="10" name="TextBox 9">
            <a:extLst>
              <a:ext uri="{FF2B5EF4-FFF2-40B4-BE49-F238E27FC236}">
                <a16:creationId xmlns:a16="http://schemas.microsoft.com/office/drawing/2014/main" id="{07720829-29FD-5BC5-9038-B0CA4A554CE7}"/>
              </a:ext>
            </a:extLst>
          </p:cNvPr>
          <p:cNvSpPr txBox="1"/>
          <p:nvPr/>
        </p:nvSpPr>
        <p:spPr>
          <a:xfrm>
            <a:off x="8066567" y="92148"/>
            <a:ext cx="1389321" cy="382773"/>
          </a:xfrm>
          <a:prstGeom prst="rect">
            <a:avLst/>
          </a:prstGeom>
          <a:noFill/>
        </p:spPr>
        <p:txBody>
          <a:bodyPr wrap="square" rtlCol="0">
            <a:spAutoFit/>
          </a:bodyPr>
          <a:lstStyle/>
          <a:p>
            <a:r>
              <a:rPr lang="en-US" dirty="0">
                <a:solidFill>
                  <a:schemeClr val="tx2">
                    <a:lumMod val="75000"/>
                    <a:lumOff val="25000"/>
                  </a:schemeClr>
                </a:solidFill>
              </a:rPr>
              <a:t>JABBA</a:t>
            </a:r>
          </a:p>
        </p:txBody>
      </p:sp>
      <p:pic>
        <p:nvPicPr>
          <p:cNvPr id="7" name="Content Placeholder 6" descr="This diagram illustrates a range of prior probabilities (PPMR) and their corresponding posterior probabilities (PPVR), depicting the distribution and density of values for a given parameter.&#10;&#10;AI-generated content may be incorrect.">
            <a:extLst>
              <a:ext uri="{FF2B5EF4-FFF2-40B4-BE49-F238E27FC236}">
                <a16:creationId xmlns:a16="http://schemas.microsoft.com/office/drawing/2014/main" id="{C1576D95-2851-2637-8C1A-0395A2EAF7D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7533" y="950734"/>
            <a:ext cx="4244950" cy="5306188"/>
          </a:xfrm>
          <a:prstGeom prst="rect">
            <a:avLst/>
          </a:prstGeom>
        </p:spPr>
      </p:pic>
    </p:spTree>
    <p:extLst>
      <p:ext uri="{BB962C8B-B14F-4D97-AF65-F5344CB8AC3E}">
        <p14:creationId xmlns:p14="http://schemas.microsoft.com/office/powerpoint/2010/main" val="22970265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F49C4E-6729-3CCF-1BF8-4D2AB46E61F0}"/>
              </a:ext>
            </a:extLst>
          </p:cNvPr>
          <p:cNvSpPr>
            <a:spLocks noGrp="1"/>
          </p:cNvSpPr>
          <p:nvPr>
            <p:ph type="title"/>
          </p:nvPr>
        </p:nvSpPr>
        <p:spPr/>
        <p:txBody>
          <a:bodyPr/>
          <a:lstStyle/>
          <a:p>
            <a:r>
              <a:rPr lang="en-US" dirty="0"/>
              <a:t>Catch only models  (post model pre-data)</a:t>
            </a:r>
          </a:p>
        </p:txBody>
      </p:sp>
      <p:sp>
        <p:nvSpPr>
          <p:cNvPr id="5" name="TextBox 4">
            <a:extLst>
              <a:ext uri="{FF2B5EF4-FFF2-40B4-BE49-F238E27FC236}">
                <a16:creationId xmlns:a16="http://schemas.microsoft.com/office/drawing/2014/main" id="{4A0B085A-224B-3F58-316C-EC605BEE837D}"/>
              </a:ext>
            </a:extLst>
          </p:cNvPr>
          <p:cNvSpPr txBox="1"/>
          <p:nvPr/>
        </p:nvSpPr>
        <p:spPr>
          <a:xfrm>
            <a:off x="6173972" y="2899144"/>
            <a:ext cx="2611426" cy="923330"/>
          </a:xfrm>
          <a:prstGeom prst="rect">
            <a:avLst/>
          </a:prstGeom>
          <a:noFill/>
        </p:spPr>
        <p:txBody>
          <a:bodyPr wrap="square" rtlCol="0">
            <a:spAutoFit/>
          </a:bodyPr>
          <a:lstStyle/>
          <a:p>
            <a:r>
              <a:rPr lang="en-US" dirty="0"/>
              <a:t>Difference in productivity is driven by r priors and </a:t>
            </a:r>
            <a:r>
              <a:rPr lang="en-US" dirty="0" err="1"/>
              <a:t>Bmsy</a:t>
            </a:r>
            <a:r>
              <a:rPr lang="en-US" dirty="0"/>
              <a:t>/K</a:t>
            </a:r>
          </a:p>
        </p:txBody>
      </p:sp>
      <p:sp>
        <p:nvSpPr>
          <p:cNvPr id="6" name="TextBox 5">
            <a:extLst>
              <a:ext uri="{FF2B5EF4-FFF2-40B4-BE49-F238E27FC236}">
                <a16:creationId xmlns:a16="http://schemas.microsoft.com/office/drawing/2014/main" id="{240272EC-4798-B48B-5662-1F7DA17CB335}"/>
              </a:ext>
            </a:extLst>
          </p:cNvPr>
          <p:cNvSpPr txBox="1"/>
          <p:nvPr/>
        </p:nvSpPr>
        <p:spPr>
          <a:xfrm>
            <a:off x="8066567" y="92148"/>
            <a:ext cx="1389321" cy="382773"/>
          </a:xfrm>
          <a:prstGeom prst="rect">
            <a:avLst/>
          </a:prstGeom>
          <a:noFill/>
        </p:spPr>
        <p:txBody>
          <a:bodyPr wrap="square" rtlCol="0">
            <a:spAutoFit/>
          </a:bodyPr>
          <a:lstStyle/>
          <a:p>
            <a:r>
              <a:rPr lang="en-US" dirty="0">
                <a:solidFill>
                  <a:schemeClr val="tx2">
                    <a:lumMod val="75000"/>
                    <a:lumOff val="25000"/>
                  </a:schemeClr>
                </a:solidFill>
              </a:rPr>
              <a:t>JABBA</a:t>
            </a:r>
          </a:p>
        </p:txBody>
      </p:sp>
      <p:pic>
        <p:nvPicPr>
          <p:cNvPr id="9" name="Content Placeholder 8" descr="The diagram shows a timeline from 1960 to 2020, depicting changes in biomass (B) and surplus production (H) in tons, with key points at 0, 50, 100, 150, 200, and 250 tons, and intervals at 0, 500, 1000, 1500, 2000, and 2500 tons.&#10;&#10;AI-generated content may be incorrect.">
            <a:extLst>
              <a:ext uri="{FF2B5EF4-FFF2-40B4-BE49-F238E27FC236}">
                <a16:creationId xmlns:a16="http://schemas.microsoft.com/office/drawing/2014/main" id="{CB7D6475-102C-0A48-FE2D-50CD098BAB6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65800" y="922946"/>
            <a:ext cx="5151967" cy="5795963"/>
          </a:xfrm>
          <a:prstGeom prst="rect">
            <a:avLst/>
          </a:prstGeom>
        </p:spPr>
      </p:pic>
    </p:spTree>
    <p:extLst>
      <p:ext uri="{BB962C8B-B14F-4D97-AF65-F5344CB8AC3E}">
        <p14:creationId xmlns:p14="http://schemas.microsoft.com/office/powerpoint/2010/main" val="40198258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39BB0-B25F-F3B7-3DEE-633020777013}"/>
              </a:ext>
            </a:extLst>
          </p:cNvPr>
          <p:cNvSpPr>
            <a:spLocks noGrp="1"/>
          </p:cNvSpPr>
          <p:nvPr>
            <p:ph type="title"/>
          </p:nvPr>
        </p:nvSpPr>
        <p:spPr/>
        <p:txBody>
          <a:bodyPr/>
          <a:lstStyle/>
          <a:p>
            <a:r>
              <a:rPr lang="en-US" dirty="0"/>
              <a:t>Runs leaving out one index</a:t>
            </a:r>
          </a:p>
        </p:txBody>
      </p:sp>
      <p:sp>
        <p:nvSpPr>
          <p:cNvPr id="5" name="TextBox 4">
            <a:extLst>
              <a:ext uri="{FF2B5EF4-FFF2-40B4-BE49-F238E27FC236}">
                <a16:creationId xmlns:a16="http://schemas.microsoft.com/office/drawing/2014/main" id="{86F48EC9-2C4A-F33C-FE69-B334C857017C}"/>
              </a:ext>
            </a:extLst>
          </p:cNvPr>
          <p:cNvSpPr txBox="1"/>
          <p:nvPr/>
        </p:nvSpPr>
        <p:spPr>
          <a:xfrm>
            <a:off x="6060558" y="1545265"/>
            <a:ext cx="2516372" cy="2308324"/>
          </a:xfrm>
          <a:prstGeom prst="rect">
            <a:avLst/>
          </a:prstGeom>
          <a:noFill/>
        </p:spPr>
        <p:txBody>
          <a:bodyPr wrap="square" rtlCol="0">
            <a:spAutoFit/>
          </a:bodyPr>
          <a:lstStyle/>
          <a:p>
            <a:pPr marL="285750" indent="-285750">
              <a:buFont typeface="Arial" panose="020B0604020202020204" pitchFamily="34" charset="0"/>
              <a:buChar char="•"/>
            </a:pPr>
            <a:r>
              <a:rPr lang="en-US" dirty="0"/>
              <a:t>Without combined (red), it is more optimistic in recent years</a:t>
            </a:r>
          </a:p>
          <a:p>
            <a:pPr marL="285750" indent="-285750">
              <a:buFont typeface="Arial" panose="020B0604020202020204" pitchFamily="34" charset="0"/>
              <a:buChar char="•"/>
            </a:pPr>
            <a:r>
              <a:rPr lang="en-US" dirty="0"/>
              <a:t>Without Spain (blue), trend is more flat</a:t>
            </a:r>
          </a:p>
          <a:p>
            <a:pPr marL="285750" indent="-285750">
              <a:buFont typeface="Arial" panose="020B0604020202020204" pitchFamily="34" charset="0"/>
              <a:buChar char="•"/>
            </a:pPr>
            <a:endParaRPr lang="en-US" dirty="0"/>
          </a:p>
        </p:txBody>
      </p:sp>
      <p:pic>
        <p:nvPicPr>
          <p:cNvPr id="8" name="Content Placeholder 7" descr="The image displays a set of bar graphs comparing different species' populations over time, from 1960 to 2020, showing trends in population levels for species like SPN, JPN, MOR, and their combinations.&#10;&#10;AI-generated content may be incorrect.">
            <a:extLst>
              <a:ext uri="{FF2B5EF4-FFF2-40B4-BE49-F238E27FC236}">
                <a16:creationId xmlns:a16="http://schemas.microsoft.com/office/drawing/2014/main" id="{A0810169-3939-6393-CD4F-967EA011E0E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32641" y="797169"/>
            <a:ext cx="4880810" cy="5795963"/>
          </a:xfrm>
          <a:prstGeom prst="rect">
            <a:avLst/>
          </a:prstGeom>
        </p:spPr>
      </p:pic>
    </p:spTree>
    <p:extLst>
      <p:ext uri="{BB962C8B-B14F-4D97-AF65-F5344CB8AC3E}">
        <p14:creationId xmlns:p14="http://schemas.microsoft.com/office/powerpoint/2010/main" val="29250785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F9C22-BCCD-0D08-78C9-0D9649D09891}"/>
              </a:ext>
            </a:extLst>
          </p:cNvPr>
          <p:cNvSpPr>
            <a:spLocks noGrp="1"/>
          </p:cNvSpPr>
          <p:nvPr>
            <p:ph type="title"/>
          </p:nvPr>
        </p:nvSpPr>
        <p:spPr/>
        <p:txBody>
          <a:bodyPr/>
          <a:lstStyle/>
          <a:p>
            <a:r>
              <a:rPr lang="en-US" dirty="0"/>
              <a:t>Series one at a time</a:t>
            </a:r>
          </a:p>
        </p:txBody>
      </p:sp>
      <p:sp>
        <p:nvSpPr>
          <p:cNvPr id="7" name="TextBox 6">
            <a:extLst>
              <a:ext uri="{FF2B5EF4-FFF2-40B4-BE49-F238E27FC236}">
                <a16:creationId xmlns:a16="http://schemas.microsoft.com/office/drawing/2014/main" id="{316C1954-5B0E-C592-C0DF-906682C0ACC2}"/>
              </a:ext>
            </a:extLst>
          </p:cNvPr>
          <p:cNvSpPr txBox="1"/>
          <p:nvPr/>
        </p:nvSpPr>
        <p:spPr>
          <a:xfrm>
            <a:off x="6439876" y="1938215"/>
            <a:ext cx="2276284" cy="2031325"/>
          </a:xfrm>
          <a:prstGeom prst="rect">
            <a:avLst/>
          </a:prstGeom>
          <a:noFill/>
        </p:spPr>
        <p:txBody>
          <a:bodyPr wrap="square">
            <a:spAutoFit/>
          </a:bodyPr>
          <a:lstStyle/>
          <a:p>
            <a:pPr marL="285750" indent="-285750">
              <a:buFont typeface="Arial" panose="020B0604020202020204" pitchFamily="34" charset="0"/>
              <a:buChar char="•"/>
            </a:pPr>
            <a:r>
              <a:rPr lang="en-US" dirty="0"/>
              <a:t>Without combined (red), it is more optimistic in recent years</a:t>
            </a:r>
          </a:p>
          <a:p>
            <a:pPr marL="285750" indent="-285750">
              <a:buFont typeface="Arial" panose="020B0604020202020204" pitchFamily="34" charset="0"/>
              <a:buChar char="•"/>
            </a:pPr>
            <a:r>
              <a:rPr lang="en-US" dirty="0"/>
              <a:t>Without Spain (blue), trend is more flat</a:t>
            </a:r>
          </a:p>
        </p:txBody>
      </p:sp>
      <p:pic>
        <p:nvPicPr>
          <p:cNvPr id="3" name="Content Placeholder 7" descr="The image displays a set of bar graphs comparing different species' populations over time, from 1960 to 2020, showing trends in population levels for species like SPN, JPN, MOR, and their combinations.&#10;&#10;AI-generated content may be incorrect.">
            <a:extLst>
              <a:ext uri="{FF2B5EF4-FFF2-40B4-BE49-F238E27FC236}">
                <a16:creationId xmlns:a16="http://schemas.microsoft.com/office/drawing/2014/main" id="{ACD2446E-A074-E743-D60B-53C49C055AD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62074" y="808264"/>
            <a:ext cx="4880810" cy="5795963"/>
          </a:xfrm>
          <a:prstGeom prst="rect">
            <a:avLst/>
          </a:prstGeom>
        </p:spPr>
      </p:pic>
    </p:spTree>
    <p:extLst>
      <p:ext uri="{BB962C8B-B14F-4D97-AF65-F5344CB8AC3E}">
        <p14:creationId xmlns:p14="http://schemas.microsoft.com/office/powerpoint/2010/main" val="10631866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A94DB-05D9-8681-6D41-BC79B324DFC8}"/>
              </a:ext>
            </a:extLst>
          </p:cNvPr>
          <p:cNvSpPr>
            <a:spLocks noGrp="1"/>
          </p:cNvSpPr>
          <p:nvPr>
            <p:ph type="title"/>
          </p:nvPr>
        </p:nvSpPr>
        <p:spPr/>
        <p:txBody>
          <a:bodyPr/>
          <a:lstStyle/>
          <a:p>
            <a:r>
              <a:rPr lang="en-US" dirty="0"/>
              <a:t>Retrospective bias </a:t>
            </a:r>
          </a:p>
        </p:txBody>
      </p:sp>
      <p:sp>
        <p:nvSpPr>
          <p:cNvPr id="6" name="TextBox 5">
            <a:extLst>
              <a:ext uri="{FF2B5EF4-FFF2-40B4-BE49-F238E27FC236}">
                <a16:creationId xmlns:a16="http://schemas.microsoft.com/office/drawing/2014/main" id="{E245FAE5-18AD-D72C-AE67-66B336EC4A8C}"/>
              </a:ext>
            </a:extLst>
          </p:cNvPr>
          <p:cNvSpPr txBox="1"/>
          <p:nvPr/>
        </p:nvSpPr>
        <p:spPr>
          <a:xfrm>
            <a:off x="155945" y="5436636"/>
            <a:ext cx="3700130" cy="369332"/>
          </a:xfrm>
          <a:prstGeom prst="rect">
            <a:avLst/>
          </a:prstGeom>
          <a:noFill/>
        </p:spPr>
        <p:txBody>
          <a:bodyPr wrap="square" rtlCol="0">
            <a:spAutoFit/>
          </a:bodyPr>
          <a:lstStyle/>
          <a:p>
            <a:r>
              <a:rPr lang="en-US" dirty="0"/>
              <a:t>Same trend but some shift in scale</a:t>
            </a:r>
          </a:p>
        </p:txBody>
      </p:sp>
      <p:sp>
        <p:nvSpPr>
          <p:cNvPr id="10" name="Rectangle 2">
            <a:extLst>
              <a:ext uri="{FF2B5EF4-FFF2-40B4-BE49-F238E27FC236}">
                <a16:creationId xmlns:a16="http://schemas.microsoft.com/office/drawing/2014/main" id="{539702E4-A497-09D4-2D6E-D4E8B2503907}"/>
              </a:ext>
            </a:extLst>
          </p:cNvPr>
          <p:cNvSpPr>
            <a:spLocks noChangeArrowheads="1"/>
          </p:cNvSpPr>
          <p:nvPr/>
        </p:nvSpPr>
        <p:spPr bwMode="auto">
          <a:xfrm>
            <a:off x="4132225" y="3906543"/>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TextBox 10">
            <a:extLst>
              <a:ext uri="{FF2B5EF4-FFF2-40B4-BE49-F238E27FC236}">
                <a16:creationId xmlns:a16="http://schemas.microsoft.com/office/drawing/2014/main" id="{0DB2B05A-DE67-2C08-84D7-60A54A97A7CC}"/>
              </a:ext>
            </a:extLst>
          </p:cNvPr>
          <p:cNvSpPr txBox="1"/>
          <p:nvPr/>
        </p:nvSpPr>
        <p:spPr>
          <a:xfrm>
            <a:off x="8066567" y="92148"/>
            <a:ext cx="1389321" cy="382773"/>
          </a:xfrm>
          <a:prstGeom prst="rect">
            <a:avLst/>
          </a:prstGeom>
          <a:noFill/>
        </p:spPr>
        <p:txBody>
          <a:bodyPr wrap="square" rtlCol="0">
            <a:spAutoFit/>
          </a:bodyPr>
          <a:lstStyle/>
          <a:p>
            <a:r>
              <a:rPr lang="en-US" dirty="0">
                <a:solidFill>
                  <a:schemeClr val="tx2">
                    <a:lumMod val="75000"/>
                    <a:lumOff val="25000"/>
                  </a:schemeClr>
                </a:solidFill>
              </a:rPr>
              <a:t>JABBA</a:t>
            </a:r>
          </a:p>
        </p:txBody>
      </p:sp>
      <p:sp>
        <p:nvSpPr>
          <p:cNvPr id="3" name="TextBox 2">
            <a:extLst>
              <a:ext uri="{FF2B5EF4-FFF2-40B4-BE49-F238E27FC236}">
                <a16:creationId xmlns:a16="http://schemas.microsoft.com/office/drawing/2014/main" id="{11D5FE76-B18E-D5E1-9593-D2CBDF32871C}"/>
              </a:ext>
            </a:extLst>
          </p:cNvPr>
          <p:cNvSpPr txBox="1"/>
          <p:nvPr/>
        </p:nvSpPr>
        <p:spPr>
          <a:xfrm>
            <a:off x="4250531" y="3906543"/>
            <a:ext cx="1357313" cy="369332"/>
          </a:xfrm>
          <a:prstGeom prst="rect">
            <a:avLst/>
          </a:prstGeom>
          <a:noFill/>
        </p:spPr>
        <p:txBody>
          <a:bodyPr wrap="square" rtlCol="0">
            <a:spAutoFit/>
          </a:bodyPr>
          <a:lstStyle/>
          <a:p>
            <a:r>
              <a:rPr lang="en-US" dirty="0"/>
              <a:t>Mohn’s Rho</a:t>
            </a:r>
          </a:p>
        </p:txBody>
      </p:sp>
      <p:pic>
        <p:nvPicPr>
          <p:cNvPr id="13" name="Picture 12">
            <a:extLst>
              <a:ext uri="{FF2B5EF4-FFF2-40B4-BE49-F238E27FC236}">
                <a16:creationId xmlns:a16="http://schemas.microsoft.com/office/drawing/2014/main" id="{F1E7FE5E-F91D-FC86-5D4D-5DC8A4D42FC3}"/>
              </a:ext>
            </a:extLst>
          </p:cNvPr>
          <p:cNvPicPr>
            <a:picLocks noChangeAspect="1"/>
          </p:cNvPicPr>
          <p:nvPr/>
        </p:nvPicPr>
        <p:blipFill>
          <a:blip r:embed="rId2">
            <a:extLst>
              <a:ext uri="{28A0092B-C50C-407E-A947-70E740481C1C}">
                <a14:useLocalDpi xmlns:a14="http://schemas.microsoft.com/office/drawing/2010/main" val="0"/>
              </a:ext>
            </a:extLst>
          </a:blip>
          <a:srcRect r="388" b="34359"/>
          <a:stretch>
            <a:fillRect/>
          </a:stretch>
        </p:blipFill>
        <p:spPr>
          <a:xfrm>
            <a:off x="356294" y="681038"/>
            <a:ext cx="3963415" cy="4821979"/>
          </a:xfrm>
          <a:prstGeom prst="rect">
            <a:avLst/>
          </a:prstGeom>
        </p:spPr>
      </p:pic>
      <p:pic>
        <p:nvPicPr>
          <p:cNvPr id="15" name="Picture 14" descr="The image appears to be a graph or chart with multiple lines or bars, showing different data points for biomass (B) and surplus production (F) over a range of years from 1960 to 2024. The data includes specific values for different years and categories, such as B/BMSY and F/FMSY, which may indicate biomass relative to a sustainable yield baseline, and surplus production levels.&#10;&#10;AI-generated content may be incorrect.">
            <a:extLst>
              <a:ext uri="{FF2B5EF4-FFF2-40B4-BE49-F238E27FC236}">
                <a16:creationId xmlns:a16="http://schemas.microsoft.com/office/drawing/2014/main" id="{2633410C-815D-846E-BA8C-D2BD22DF259C}"/>
              </a:ext>
            </a:extLst>
          </p:cNvPr>
          <p:cNvPicPr>
            <a:picLocks noChangeAspect="1"/>
          </p:cNvPicPr>
          <p:nvPr/>
        </p:nvPicPr>
        <p:blipFill>
          <a:blip r:embed="rId3">
            <a:extLst>
              <a:ext uri="{28A0092B-C50C-407E-A947-70E740481C1C}">
                <a14:useLocalDpi xmlns:a14="http://schemas.microsoft.com/office/drawing/2010/main" val="0"/>
              </a:ext>
            </a:extLst>
          </a:blip>
          <a:srcRect t="66667" r="388"/>
          <a:stretch>
            <a:fillRect/>
          </a:stretch>
        </p:blipFill>
        <p:spPr>
          <a:xfrm>
            <a:off x="4929186" y="789353"/>
            <a:ext cx="4085957" cy="2524370"/>
          </a:xfrm>
          <a:prstGeom prst="rect">
            <a:avLst/>
          </a:prstGeom>
        </p:spPr>
      </p:pic>
      <p:graphicFrame>
        <p:nvGraphicFramePr>
          <p:cNvPr id="17" name="Table 16">
            <a:extLst>
              <a:ext uri="{FF2B5EF4-FFF2-40B4-BE49-F238E27FC236}">
                <a16:creationId xmlns:a16="http://schemas.microsoft.com/office/drawing/2014/main" id="{C5496AC4-8787-916E-E9FB-099D261DE53D}"/>
              </a:ext>
            </a:extLst>
          </p:cNvPr>
          <p:cNvGraphicFramePr>
            <a:graphicFrameLocks noGrp="1"/>
          </p:cNvGraphicFramePr>
          <p:nvPr/>
        </p:nvGraphicFramePr>
        <p:xfrm>
          <a:off x="4572000" y="4553208"/>
          <a:ext cx="4267200" cy="2077469"/>
        </p:xfrm>
        <a:graphic>
          <a:graphicData uri="http://schemas.openxmlformats.org/drawingml/2006/table">
            <a:tbl>
              <a:tblPr firstRow="1" firstCol="1" bandRow="1">
                <a:tableStyleId>{5C22544A-7EE6-4342-B048-85BDC9FD1C3A}</a:tableStyleId>
              </a:tblPr>
              <a:tblGrid>
                <a:gridCol w="609600">
                  <a:extLst>
                    <a:ext uri="{9D8B030D-6E8A-4147-A177-3AD203B41FA5}">
                      <a16:colId xmlns:a16="http://schemas.microsoft.com/office/drawing/2014/main" val="583809394"/>
                    </a:ext>
                  </a:extLst>
                </a:gridCol>
                <a:gridCol w="609600">
                  <a:extLst>
                    <a:ext uri="{9D8B030D-6E8A-4147-A177-3AD203B41FA5}">
                      <a16:colId xmlns:a16="http://schemas.microsoft.com/office/drawing/2014/main" val="4032547602"/>
                    </a:ext>
                  </a:extLst>
                </a:gridCol>
                <a:gridCol w="609600">
                  <a:extLst>
                    <a:ext uri="{9D8B030D-6E8A-4147-A177-3AD203B41FA5}">
                      <a16:colId xmlns:a16="http://schemas.microsoft.com/office/drawing/2014/main" val="2159297430"/>
                    </a:ext>
                  </a:extLst>
                </a:gridCol>
                <a:gridCol w="609600">
                  <a:extLst>
                    <a:ext uri="{9D8B030D-6E8A-4147-A177-3AD203B41FA5}">
                      <a16:colId xmlns:a16="http://schemas.microsoft.com/office/drawing/2014/main" val="477751360"/>
                    </a:ext>
                  </a:extLst>
                </a:gridCol>
                <a:gridCol w="609600">
                  <a:extLst>
                    <a:ext uri="{9D8B030D-6E8A-4147-A177-3AD203B41FA5}">
                      <a16:colId xmlns:a16="http://schemas.microsoft.com/office/drawing/2014/main" val="1899886079"/>
                    </a:ext>
                  </a:extLst>
                </a:gridCol>
                <a:gridCol w="609600">
                  <a:extLst>
                    <a:ext uri="{9D8B030D-6E8A-4147-A177-3AD203B41FA5}">
                      <a16:colId xmlns:a16="http://schemas.microsoft.com/office/drawing/2014/main" val="1988168356"/>
                    </a:ext>
                  </a:extLst>
                </a:gridCol>
                <a:gridCol w="609600">
                  <a:extLst>
                    <a:ext uri="{9D8B030D-6E8A-4147-A177-3AD203B41FA5}">
                      <a16:colId xmlns:a16="http://schemas.microsoft.com/office/drawing/2014/main" val="2828737432"/>
                    </a:ext>
                  </a:extLst>
                </a:gridCol>
              </a:tblGrid>
              <a:tr h="182880">
                <a:tc>
                  <a:txBody>
                    <a:bodyPr/>
                    <a:lstStyle/>
                    <a:p>
                      <a:pPr marL="0" marR="0">
                        <a:lnSpc>
                          <a:spcPct val="115000"/>
                        </a:lnSpc>
                        <a:spcAft>
                          <a:spcPts val="800"/>
                        </a:spcAft>
                        <a:buNone/>
                      </a:pPr>
                      <a:r>
                        <a:rPr lang="en-US" sz="1100" kern="0" dirty="0" err="1">
                          <a:effectLst/>
                        </a:rPr>
                        <a:t>Scen</a:t>
                      </a:r>
                      <a:endParaRPr lang="en-US" sz="1100" kern="0" dirty="0">
                        <a:effectLst/>
                      </a:endParaRPr>
                    </a:p>
                    <a:p>
                      <a:pPr marL="0" marR="0">
                        <a:lnSpc>
                          <a:spcPct val="115000"/>
                        </a:lnSpc>
                        <a:spcAft>
                          <a:spcPts val="800"/>
                        </a:spcAft>
                        <a:buNone/>
                      </a:pPr>
                      <a:r>
                        <a:rPr lang="en-US" sz="1100" kern="0" dirty="0" err="1">
                          <a:effectLst/>
                        </a:rPr>
                        <a:t>ario</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b"/>
                </a:tc>
                <a:tc>
                  <a:txBody>
                    <a:bodyPr/>
                    <a:lstStyle/>
                    <a:p>
                      <a:pPr marL="0" marR="0">
                        <a:lnSpc>
                          <a:spcPct val="115000"/>
                        </a:lnSpc>
                        <a:spcAft>
                          <a:spcPts val="800"/>
                        </a:spcAft>
                        <a:buNone/>
                      </a:pPr>
                      <a:r>
                        <a:rPr lang="en-US" sz="1100" kern="0">
                          <a:effectLst/>
                        </a:rPr>
                        <a:t>B</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b"/>
                </a:tc>
                <a:tc>
                  <a:txBody>
                    <a:bodyPr/>
                    <a:lstStyle/>
                    <a:p>
                      <a:pPr marL="0" marR="0">
                        <a:lnSpc>
                          <a:spcPct val="115000"/>
                        </a:lnSpc>
                        <a:spcAft>
                          <a:spcPts val="800"/>
                        </a:spcAft>
                        <a:buNone/>
                      </a:pPr>
                      <a:r>
                        <a:rPr lang="en-US" sz="1100" kern="0">
                          <a:effectLst/>
                        </a:rPr>
                        <a:t>F</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b"/>
                </a:tc>
                <a:tc>
                  <a:txBody>
                    <a:bodyPr/>
                    <a:lstStyle/>
                    <a:p>
                      <a:pPr marL="0" marR="0">
                        <a:lnSpc>
                          <a:spcPct val="115000"/>
                        </a:lnSpc>
                        <a:spcAft>
                          <a:spcPts val="800"/>
                        </a:spcAft>
                        <a:buNone/>
                      </a:pPr>
                      <a:r>
                        <a:rPr lang="en-US" sz="1100" kern="0">
                          <a:effectLst/>
                        </a:rPr>
                        <a:t>Bmsy</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b"/>
                </a:tc>
                <a:tc>
                  <a:txBody>
                    <a:bodyPr/>
                    <a:lstStyle/>
                    <a:p>
                      <a:pPr marL="0" marR="0">
                        <a:lnSpc>
                          <a:spcPct val="115000"/>
                        </a:lnSpc>
                        <a:spcAft>
                          <a:spcPts val="800"/>
                        </a:spcAft>
                        <a:buNone/>
                      </a:pPr>
                      <a:r>
                        <a:rPr lang="en-US" sz="1100" kern="0">
                          <a:effectLst/>
                        </a:rPr>
                        <a:t>Fmsy</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b"/>
                </a:tc>
                <a:tc>
                  <a:txBody>
                    <a:bodyPr/>
                    <a:lstStyle/>
                    <a:p>
                      <a:pPr marL="0" marR="0">
                        <a:lnSpc>
                          <a:spcPct val="115000"/>
                        </a:lnSpc>
                        <a:spcAft>
                          <a:spcPts val="800"/>
                        </a:spcAft>
                        <a:buNone/>
                      </a:pPr>
                      <a:r>
                        <a:rPr lang="en-US" sz="1100" kern="0">
                          <a:effectLst/>
                        </a:rPr>
                        <a:t>procB</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b"/>
                </a:tc>
                <a:tc>
                  <a:txBody>
                    <a:bodyPr/>
                    <a:lstStyle/>
                    <a:p>
                      <a:pPr marL="0" marR="0">
                        <a:lnSpc>
                          <a:spcPct val="115000"/>
                        </a:lnSpc>
                        <a:spcAft>
                          <a:spcPts val="800"/>
                        </a:spcAft>
                        <a:buNone/>
                      </a:pPr>
                      <a:r>
                        <a:rPr lang="en-US" sz="1100" kern="0">
                          <a:effectLst/>
                        </a:rPr>
                        <a:t>MSY</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1290633496"/>
                  </a:ext>
                </a:extLst>
              </a:tr>
              <a:tr h="182880">
                <a:tc>
                  <a:txBody>
                    <a:bodyPr/>
                    <a:lstStyle/>
                    <a:p>
                      <a:pPr marL="0" marR="0">
                        <a:lnSpc>
                          <a:spcPct val="115000"/>
                        </a:lnSpc>
                        <a:spcAft>
                          <a:spcPts val="800"/>
                        </a:spcAft>
                        <a:buNone/>
                      </a:pPr>
                      <a:r>
                        <a:rPr lang="en-US" sz="1600" kern="0" dirty="0">
                          <a:effectLst/>
                        </a:rPr>
                        <a:t>B1</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b"/>
                </a:tc>
                <a:tc>
                  <a:txBody>
                    <a:bodyPr/>
                    <a:lstStyle/>
                    <a:p>
                      <a:pPr marL="0" marR="0" algn="r">
                        <a:lnSpc>
                          <a:spcPct val="115000"/>
                        </a:lnSpc>
                        <a:spcAft>
                          <a:spcPts val="800"/>
                        </a:spcAft>
                        <a:buNone/>
                      </a:pPr>
                      <a:r>
                        <a:rPr lang="en-US" sz="1600" kern="0" dirty="0">
                          <a:effectLst/>
                        </a:rPr>
                        <a:t>0.21</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b"/>
                </a:tc>
                <a:tc>
                  <a:txBody>
                    <a:bodyPr/>
                    <a:lstStyle/>
                    <a:p>
                      <a:pPr marL="0" marR="0" algn="r">
                        <a:lnSpc>
                          <a:spcPct val="115000"/>
                        </a:lnSpc>
                        <a:spcAft>
                          <a:spcPts val="800"/>
                        </a:spcAft>
                        <a:buNone/>
                      </a:pPr>
                      <a:r>
                        <a:rPr lang="en-US" sz="1600" kern="0">
                          <a:effectLst/>
                        </a:rPr>
                        <a:t>-0.17</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b"/>
                </a:tc>
                <a:tc>
                  <a:txBody>
                    <a:bodyPr/>
                    <a:lstStyle/>
                    <a:p>
                      <a:pPr marL="0" marR="0" algn="r">
                        <a:lnSpc>
                          <a:spcPct val="115000"/>
                        </a:lnSpc>
                        <a:spcAft>
                          <a:spcPts val="800"/>
                        </a:spcAft>
                        <a:buNone/>
                      </a:pPr>
                      <a:r>
                        <a:rPr lang="en-US" sz="1600" kern="0">
                          <a:effectLst/>
                        </a:rPr>
                        <a:t>0.16</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b"/>
                </a:tc>
                <a:tc>
                  <a:txBody>
                    <a:bodyPr/>
                    <a:lstStyle/>
                    <a:p>
                      <a:pPr marL="0" marR="0" algn="r">
                        <a:lnSpc>
                          <a:spcPct val="115000"/>
                        </a:lnSpc>
                        <a:spcAft>
                          <a:spcPts val="800"/>
                        </a:spcAft>
                        <a:buNone/>
                      </a:pPr>
                      <a:r>
                        <a:rPr lang="en-US" sz="1600" kern="0">
                          <a:effectLst/>
                        </a:rPr>
                        <a:t>-0.21</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b"/>
                </a:tc>
                <a:tc>
                  <a:txBody>
                    <a:bodyPr/>
                    <a:lstStyle/>
                    <a:p>
                      <a:pPr marL="0" marR="0" algn="r">
                        <a:lnSpc>
                          <a:spcPct val="115000"/>
                        </a:lnSpc>
                        <a:spcAft>
                          <a:spcPts val="800"/>
                        </a:spcAft>
                        <a:buNone/>
                      </a:pPr>
                      <a:r>
                        <a:rPr lang="en-US" sz="1600" kern="0">
                          <a:effectLst/>
                        </a:rPr>
                        <a:t>0.03</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b"/>
                </a:tc>
                <a:tc>
                  <a:txBody>
                    <a:bodyPr/>
                    <a:lstStyle/>
                    <a:p>
                      <a:pPr marL="0" marR="0" algn="r">
                        <a:lnSpc>
                          <a:spcPct val="115000"/>
                        </a:lnSpc>
                        <a:spcAft>
                          <a:spcPts val="800"/>
                        </a:spcAft>
                        <a:buNone/>
                      </a:pPr>
                      <a:r>
                        <a:rPr lang="en-US" sz="1600" kern="0">
                          <a:effectLst/>
                        </a:rPr>
                        <a:t>0.09</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514898243"/>
                  </a:ext>
                </a:extLst>
              </a:tr>
              <a:tr h="182880">
                <a:tc>
                  <a:txBody>
                    <a:bodyPr/>
                    <a:lstStyle/>
                    <a:p>
                      <a:pPr marL="0" marR="0">
                        <a:lnSpc>
                          <a:spcPct val="115000"/>
                        </a:lnSpc>
                        <a:spcAft>
                          <a:spcPts val="800"/>
                        </a:spcAft>
                        <a:buNone/>
                      </a:pPr>
                      <a:r>
                        <a:rPr lang="en-US" sz="1600" kern="0">
                          <a:effectLst/>
                        </a:rPr>
                        <a:t>B2</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b"/>
                </a:tc>
                <a:tc>
                  <a:txBody>
                    <a:bodyPr/>
                    <a:lstStyle/>
                    <a:p>
                      <a:pPr marL="0" marR="0" algn="r">
                        <a:lnSpc>
                          <a:spcPct val="115000"/>
                        </a:lnSpc>
                        <a:spcAft>
                          <a:spcPts val="800"/>
                        </a:spcAft>
                        <a:buNone/>
                      </a:pPr>
                      <a:r>
                        <a:rPr lang="en-US" sz="1600" kern="0" dirty="0">
                          <a:effectLst/>
                        </a:rPr>
                        <a:t>0.20</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b"/>
                </a:tc>
                <a:tc>
                  <a:txBody>
                    <a:bodyPr/>
                    <a:lstStyle/>
                    <a:p>
                      <a:pPr marL="0" marR="0" algn="r">
                        <a:lnSpc>
                          <a:spcPct val="115000"/>
                        </a:lnSpc>
                        <a:spcAft>
                          <a:spcPts val="800"/>
                        </a:spcAft>
                        <a:buNone/>
                      </a:pPr>
                      <a:r>
                        <a:rPr lang="en-US" sz="1600" kern="0" dirty="0">
                          <a:effectLst/>
                        </a:rPr>
                        <a:t>-0.15</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b"/>
                </a:tc>
                <a:tc>
                  <a:txBody>
                    <a:bodyPr/>
                    <a:lstStyle/>
                    <a:p>
                      <a:pPr marL="0" marR="0" algn="r">
                        <a:lnSpc>
                          <a:spcPct val="115000"/>
                        </a:lnSpc>
                        <a:spcAft>
                          <a:spcPts val="800"/>
                        </a:spcAft>
                        <a:buNone/>
                      </a:pPr>
                      <a:r>
                        <a:rPr lang="en-US" sz="1600" kern="0" dirty="0">
                          <a:effectLst/>
                        </a:rPr>
                        <a:t>0.18</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b"/>
                </a:tc>
                <a:tc>
                  <a:txBody>
                    <a:bodyPr/>
                    <a:lstStyle/>
                    <a:p>
                      <a:pPr marL="0" marR="0" algn="r">
                        <a:lnSpc>
                          <a:spcPct val="115000"/>
                        </a:lnSpc>
                        <a:spcAft>
                          <a:spcPts val="800"/>
                        </a:spcAft>
                        <a:buNone/>
                      </a:pPr>
                      <a:r>
                        <a:rPr lang="en-US" sz="1600" kern="0">
                          <a:effectLst/>
                        </a:rPr>
                        <a:t>-0.16</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b"/>
                </a:tc>
                <a:tc>
                  <a:txBody>
                    <a:bodyPr/>
                    <a:lstStyle/>
                    <a:p>
                      <a:pPr marL="0" marR="0" algn="r">
                        <a:lnSpc>
                          <a:spcPct val="115000"/>
                        </a:lnSpc>
                        <a:spcAft>
                          <a:spcPts val="800"/>
                        </a:spcAft>
                        <a:buNone/>
                      </a:pPr>
                      <a:r>
                        <a:rPr lang="en-US" sz="1600" kern="0">
                          <a:effectLst/>
                        </a:rPr>
                        <a:t>0.02</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b"/>
                </a:tc>
                <a:tc>
                  <a:txBody>
                    <a:bodyPr/>
                    <a:lstStyle/>
                    <a:p>
                      <a:pPr marL="0" marR="0" algn="r">
                        <a:lnSpc>
                          <a:spcPct val="115000"/>
                        </a:lnSpc>
                        <a:spcAft>
                          <a:spcPts val="800"/>
                        </a:spcAft>
                        <a:buNone/>
                      </a:pPr>
                      <a:r>
                        <a:rPr lang="en-US" sz="1600" kern="0">
                          <a:effectLst/>
                        </a:rPr>
                        <a:t>0.02</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235511279"/>
                  </a:ext>
                </a:extLst>
              </a:tr>
              <a:tr h="182880">
                <a:tc>
                  <a:txBody>
                    <a:bodyPr/>
                    <a:lstStyle/>
                    <a:p>
                      <a:pPr marL="0" marR="0">
                        <a:lnSpc>
                          <a:spcPct val="115000"/>
                        </a:lnSpc>
                        <a:spcAft>
                          <a:spcPts val="800"/>
                        </a:spcAft>
                        <a:buNone/>
                      </a:pPr>
                      <a:r>
                        <a:rPr lang="en-US" sz="1600" kern="0">
                          <a:effectLst/>
                        </a:rPr>
                        <a:t>B3</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b"/>
                </a:tc>
                <a:tc>
                  <a:txBody>
                    <a:bodyPr/>
                    <a:lstStyle/>
                    <a:p>
                      <a:pPr marL="0" marR="0" algn="r">
                        <a:lnSpc>
                          <a:spcPct val="115000"/>
                        </a:lnSpc>
                        <a:spcAft>
                          <a:spcPts val="800"/>
                        </a:spcAft>
                        <a:buNone/>
                      </a:pPr>
                      <a:r>
                        <a:rPr lang="en-US" sz="1600" kern="0">
                          <a:effectLst/>
                        </a:rPr>
                        <a:t>0.23</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b"/>
                </a:tc>
                <a:tc>
                  <a:txBody>
                    <a:bodyPr/>
                    <a:lstStyle/>
                    <a:p>
                      <a:pPr marL="0" marR="0" algn="r">
                        <a:lnSpc>
                          <a:spcPct val="115000"/>
                        </a:lnSpc>
                        <a:spcAft>
                          <a:spcPts val="800"/>
                        </a:spcAft>
                        <a:buNone/>
                      </a:pPr>
                      <a:r>
                        <a:rPr lang="en-US" sz="1600" kern="0">
                          <a:effectLst/>
                        </a:rPr>
                        <a:t>-0.18</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b"/>
                </a:tc>
                <a:tc>
                  <a:txBody>
                    <a:bodyPr/>
                    <a:lstStyle/>
                    <a:p>
                      <a:pPr marL="0" marR="0" algn="r">
                        <a:lnSpc>
                          <a:spcPct val="115000"/>
                        </a:lnSpc>
                        <a:spcAft>
                          <a:spcPts val="800"/>
                        </a:spcAft>
                        <a:buNone/>
                      </a:pPr>
                      <a:r>
                        <a:rPr lang="en-US" sz="1600" kern="0" dirty="0">
                          <a:effectLst/>
                        </a:rPr>
                        <a:t>0.13</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b"/>
                </a:tc>
                <a:tc>
                  <a:txBody>
                    <a:bodyPr/>
                    <a:lstStyle/>
                    <a:p>
                      <a:pPr marL="0" marR="0" algn="r">
                        <a:lnSpc>
                          <a:spcPct val="115000"/>
                        </a:lnSpc>
                        <a:spcAft>
                          <a:spcPts val="800"/>
                        </a:spcAft>
                        <a:buNone/>
                      </a:pPr>
                      <a:r>
                        <a:rPr lang="en-US" sz="1600" kern="0" dirty="0">
                          <a:effectLst/>
                        </a:rPr>
                        <a:t>-0.20</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b"/>
                </a:tc>
                <a:tc>
                  <a:txBody>
                    <a:bodyPr/>
                    <a:lstStyle/>
                    <a:p>
                      <a:pPr marL="0" marR="0" algn="r">
                        <a:lnSpc>
                          <a:spcPct val="115000"/>
                        </a:lnSpc>
                        <a:spcAft>
                          <a:spcPts val="800"/>
                        </a:spcAft>
                        <a:buNone/>
                      </a:pPr>
                      <a:r>
                        <a:rPr lang="en-US" sz="1600" kern="0">
                          <a:effectLst/>
                        </a:rPr>
                        <a:t>0.02</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b"/>
                </a:tc>
                <a:tc>
                  <a:txBody>
                    <a:bodyPr/>
                    <a:lstStyle/>
                    <a:p>
                      <a:pPr marL="0" marR="0" algn="r">
                        <a:lnSpc>
                          <a:spcPct val="115000"/>
                        </a:lnSpc>
                        <a:spcAft>
                          <a:spcPts val="800"/>
                        </a:spcAft>
                        <a:buNone/>
                      </a:pPr>
                      <a:r>
                        <a:rPr lang="en-US" sz="1600" kern="0">
                          <a:effectLst/>
                        </a:rPr>
                        <a:t>0.12</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2639378185"/>
                  </a:ext>
                </a:extLst>
              </a:tr>
              <a:tr h="182880">
                <a:tc>
                  <a:txBody>
                    <a:bodyPr/>
                    <a:lstStyle/>
                    <a:p>
                      <a:pPr marL="0" marR="0">
                        <a:lnSpc>
                          <a:spcPct val="115000"/>
                        </a:lnSpc>
                        <a:spcAft>
                          <a:spcPts val="800"/>
                        </a:spcAft>
                        <a:buNone/>
                      </a:pPr>
                      <a:r>
                        <a:rPr lang="en-US" sz="1600" kern="0">
                          <a:effectLst/>
                        </a:rPr>
                        <a:t>S1</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b"/>
                </a:tc>
                <a:tc>
                  <a:txBody>
                    <a:bodyPr/>
                    <a:lstStyle/>
                    <a:p>
                      <a:pPr marL="0" marR="0" algn="r">
                        <a:lnSpc>
                          <a:spcPct val="115000"/>
                        </a:lnSpc>
                        <a:spcAft>
                          <a:spcPts val="800"/>
                        </a:spcAft>
                        <a:buNone/>
                      </a:pPr>
                      <a:r>
                        <a:rPr lang="en-US" sz="1600" kern="0">
                          <a:effectLst/>
                        </a:rPr>
                        <a:t>0.22</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b"/>
                </a:tc>
                <a:tc>
                  <a:txBody>
                    <a:bodyPr/>
                    <a:lstStyle/>
                    <a:p>
                      <a:pPr marL="0" marR="0" algn="r">
                        <a:lnSpc>
                          <a:spcPct val="115000"/>
                        </a:lnSpc>
                        <a:spcAft>
                          <a:spcPts val="800"/>
                        </a:spcAft>
                        <a:buNone/>
                      </a:pPr>
                      <a:r>
                        <a:rPr lang="en-US" sz="1600" kern="0">
                          <a:effectLst/>
                        </a:rPr>
                        <a:t>-0.17</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b"/>
                </a:tc>
                <a:tc>
                  <a:txBody>
                    <a:bodyPr/>
                    <a:lstStyle/>
                    <a:p>
                      <a:pPr marL="0" marR="0" algn="r">
                        <a:lnSpc>
                          <a:spcPct val="115000"/>
                        </a:lnSpc>
                        <a:spcAft>
                          <a:spcPts val="800"/>
                        </a:spcAft>
                        <a:buNone/>
                      </a:pPr>
                      <a:r>
                        <a:rPr lang="en-US" sz="1600" kern="0">
                          <a:effectLst/>
                        </a:rPr>
                        <a:t>0.18</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b"/>
                </a:tc>
                <a:tc>
                  <a:txBody>
                    <a:bodyPr/>
                    <a:lstStyle/>
                    <a:p>
                      <a:pPr marL="0" marR="0" algn="r">
                        <a:lnSpc>
                          <a:spcPct val="115000"/>
                        </a:lnSpc>
                        <a:spcAft>
                          <a:spcPts val="800"/>
                        </a:spcAft>
                        <a:buNone/>
                      </a:pPr>
                      <a:r>
                        <a:rPr lang="en-US" sz="1600" kern="0">
                          <a:effectLst/>
                        </a:rPr>
                        <a:t>-0.28</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b"/>
                </a:tc>
                <a:tc>
                  <a:txBody>
                    <a:bodyPr/>
                    <a:lstStyle/>
                    <a:p>
                      <a:pPr marL="0" marR="0" algn="r">
                        <a:lnSpc>
                          <a:spcPct val="115000"/>
                        </a:lnSpc>
                        <a:spcAft>
                          <a:spcPts val="800"/>
                        </a:spcAft>
                        <a:buNone/>
                      </a:pPr>
                      <a:r>
                        <a:rPr lang="en-US" sz="1600" kern="0" dirty="0">
                          <a:effectLst/>
                        </a:rPr>
                        <a:t>0.03</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b"/>
                </a:tc>
                <a:tc>
                  <a:txBody>
                    <a:bodyPr/>
                    <a:lstStyle/>
                    <a:p>
                      <a:pPr marL="0" marR="0" algn="r">
                        <a:lnSpc>
                          <a:spcPct val="115000"/>
                        </a:lnSpc>
                        <a:spcAft>
                          <a:spcPts val="800"/>
                        </a:spcAft>
                        <a:buNone/>
                      </a:pPr>
                      <a:r>
                        <a:rPr lang="en-US" sz="1600" kern="0">
                          <a:effectLst/>
                        </a:rPr>
                        <a:t>0.19</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1404493157"/>
                  </a:ext>
                </a:extLst>
              </a:tr>
              <a:tr h="182880">
                <a:tc>
                  <a:txBody>
                    <a:bodyPr/>
                    <a:lstStyle/>
                    <a:p>
                      <a:pPr marL="0" marR="0">
                        <a:lnSpc>
                          <a:spcPct val="115000"/>
                        </a:lnSpc>
                        <a:spcAft>
                          <a:spcPts val="800"/>
                        </a:spcAft>
                        <a:buNone/>
                      </a:pPr>
                      <a:r>
                        <a:rPr lang="en-US" sz="1600" kern="0">
                          <a:effectLst/>
                        </a:rPr>
                        <a:t>S2</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b"/>
                </a:tc>
                <a:tc>
                  <a:txBody>
                    <a:bodyPr/>
                    <a:lstStyle/>
                    <a:p>
                      <a:pPr marL="0" marR="0" algn="r">
                        <a:lnSpc>
                          <a:spcPct val="115000"/>
                        </a:lnSpc>
                        <a:spcAft>
                          <a:spcPts val="800"/>
                        </a:spcAft>
                        <a:buNone/>
                      </a:pPr>
                      <a:r>
                        <a:rPr lang="en-US" sz="1600" kern="0">
                          <a:effectLst/>
                        </a:rPr>
                        <a:t>0.15</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b"/>
                </a:tc>
                <a:tc>
                  <a:txBody>
                    <a:bodyPr/>
                    <a:lstStyle/>
                    <a:p>
                      <a:pPr marL="0" marR="0" algn="r">
                        <a:lnSpc>
                          <a:spcPct val="115000"/>
                        </a:lnSpc>
                        <a:spcAft>
                          <a:spcPts val="800"/>
                        </a:spcAft>
                        <a:buNone/>
                      </a:pPr>
                      <a:r>
                        <a:rPr lang="en-US" sz="1600" kern="0">
                          <a:effectLst/>
                        </a:rPr>
                        <a:t>-0.10</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b"/>
                </a:tc>
                <a:tc>
                  <a:txBody>
                    <a:bodyPr/>
                    <a:lstStyle/>
                    <a:p>
                      <a:pPr marL="0" marR="0" algn="r">
                        <a:lnSpc>
                          <a:spcPct val="115000"/>
                        </a:lnSpc>
                        <a:spcAft>
                          <a:spcPts val="800"/>
                        </a:spcAft>
                        <a:buNone/>
                      </a:pPr>
                      <a:r>
                        <a:rPr lang="en-US" sz="1600" kern="0">
                          <a:effectLst/>
                        </a:rPr>
                        <a:t>0.15</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b"/>
                </a:tc>
                <a:tc>
                  <a:txBody>
                    <a:bodyPr/>
                    <a:lstStyle/>
                    <a:p>
                      <a:pPr marL="0" marR="0" algn="r">
                        <a:lnSpc>
                          <a:spcPct val="115000"/>
                        </a:lnSpc>
                        <a:spcAft>
                          <a:spcPts val="800"/>
                        </a:spcAft>
                        <a:buNone/>
                      </a:pPr>
                      <a:r>
                        <a:rPr lang="en-US" sz="1600" kern="0">
                          <a:effectLst/>
                        </a:rPr>
                        <a:t>-0.20</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b"/>
                </a:tc>
                <a:tc>
                  <a:txBody>
                    <a:bodyPr/>
                    <a:lstStyle/>
                    <a:p>
                      <a:pPr marL="0" marR="0" algn="r">
                        <a:lnSpc>
                          <a:spcPct val="115000"/>
                        </a:lnSpc>
                        <a:spcAft>
                          <a:spcPts val="800"/>
                        </a:spcAft>
                        <a:buNone/>
                      </a:pPr>
                      <a:r>
                        <a:rPr lang="en-US" sz="1600" kern="0" dirty="0">
                          <a:effectLst/>
                        </a:rPr>
                        <a:t>0.03</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b"/>
                </a:tc>
                <a:tc>
                  <a:txBody>
                    <a:bodyPr/>
                    <a:lstStyle/>
                    <a:p>
                      <a:pPr marL="0" marR="0" algn="r">
                        <a:lnSpc>
                          <a:spcPct val="115000"/>
                        </a:lnSpc>
                        <a:spcAft>
                          <a:spcPts val="800"/>
                        </a:spcAft>
                        <a:buNone/>
                      </a:pPr>
                      <a:r>
                        <a:rPr lang="en-US" sz="1600" kern="0">
                          <a:effectLst/>
                        </a:rPr>
                        <a:t>0.07</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294019497"/>
                  </a:ext>
                </a:extLst>
              </a:tr>
              <a:tr h="182880">
                <a:tc>
                  <a:txBody>
                    <a:bodyPr/>
                    <a:lstStyle/>
                    <a:p>
                      <a:pPr marL="0" marR="0">
                        <a:lnSpc>
                          <a:spcPct val="115000"/>
                        </a:lnSpc>
                        <a:spcAft>
                          <a:spcPts val="800"/>
                        </a:spcAft>
                        <a:buNone/>
                      </a:pPr>
                      <a:r>
                        <a:rPr lang="en-US" sz="1600" kern="0">
                          <a:effectLst/>
                        </a:rPr>
                        <a:t>S3</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b"/>
                </a:tc>
                <a:tc>
                  <a:txBody>
                    <a:bodyPr/>
                    <a:lstStyle/>
                    <a:p>
                      <a:pPr marL="0" marR="0" algn="r">
                        <a:lnSpc>
                          <a:spcPct val="115000"/>
                        </a:lnSpc>
                        <a:spcAft>
                          <a:spcPts val="800"/>
                        </a:spcAft>
                        <a:buNone/>
                      </a:pPr>
                      <a:r>
                        <a:rPr lang="en-US" sz="1600" kern="0">
                          <a:effectLst/>
                        </a:rPr>
                        <a:t>0.23</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b"/>
                </a:tc>
                <a:tc>
                  <a:txBody>
                    <a:bodyPr/>
                    <a:lstStyle/>
                    <a:p>
                      <a:pPr marL="0" marR="0" algn="r">
                        <a:lnSpc>
                          <a:spcPct val="115000"/>
                        </a:lnSpc>
                        <a:spcAft>
                          <a:spcPts val="800"/>
                        </a:spcAft>
                        <a:buNone/>
                      </a:pPr>
                      <a:r>
                        <a:rPr lang="en-US" sz="1600" kern="0">
                          <a:effectLst/>
                        </a:rPr>
                        <a:t>-0.17</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b"/>
                </a:tc>
                <a:tc>
                  <a:txBody>
                    <a:bodyPr/>
                    <a:lstStyle/>
                    <a:p>
                      <a:pPr marL="0" marR="0" algn="r">
                        <a:lnSpc>
                          <a:spcPct val="115000"/>
                        </a:lnSpc>
                        <a:spcAft>
                          <a:spcPts val="800"/>
                        </a:spcAft>
                        <a:buNone/>
                      </a:pPr>
                      <a:r>
                        <a:rPr lang="en-US" sz="1600" kern="0">
                          <a:effectLst/>
                        </a:rPr>
                        <a:t>0.15</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b"/>
                </a:tc>
                <a:tc>
                  <a:txBody>
                    <a:bodyPr/>
                    <a:lstStyle/>
                    <a:p>
                      <a:pPr marL="0" marR="0" algn="r">
                        <a:lnSpc>
                          <a:spcPct val="115000"/>
                        </a:lnSpc>
                        <a:spcAft>
                          <a:spcPts val="800"/>
                        </a:spcAft>
                        <a:buNone/>
                      </a:pPr>
                      <a:r>
                        <a:rPr lang="en-US" sz="1600" kern="0">
                          <a:effectLst/>
                        </a:rPr>
                        <a:t>-0.17</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b"/>
                </a:tc>
                <a:tc>
                  <a:txBody>
                    <a:bodyPr/>
                    <a:lstStyle/>
                    <a:p>
                      <a:pPr marL="0" marR="0" algn="r">
                        <a:lnSpc>
                          <a:spcPct val="115000"/>
                        </a:lnSpc>
                        <a:spcAft>
                          <a:spcPts val="800"/>
                        </a:spcAft>
                        <a:buNone/>
                      </a:pPr>
                      <a:r>
                        <a:rPr lang="en-US" sz="1600" kern="0">
                          <a:effectLst/>
                        </a:rPr>
                        <a:t>0.02</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b"/>
                </a:tc>
                <a:tc>
                  <a:txBody>
                    <a:bodyPr/>
                    <a:lstStyle/>
                    <a:p>
                      <a:pPr marL="0" marR="0" algn="r">
                        <a:lnSpc>
                          <a:spcPct val="115000"/>
                        </a:lnSpc>
                        <a:spcAft>
                          <a:spcPts val="800"/>
                        </a:spcAft>
                        <a:buNone/>
                      </a:pPr>
                      <a:r>
                        <a:rPr lang="en-US" sz="1600" kern="0" dirty="0">
                          <a:effectLst/>
                        </a:rPr>
                        <a:t>0.03</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1015416087"/>
                  </a:ext>
                </a:extLst>
              </a:tr>
            </a:tbl>
          </a:graphicData>
        </a:graphic>
      </p:graphicFrame>
    </p:spTree>
    <p:extLst>
      <p:ext uri="{BB962C8B-B14F-4D97-AF65-F5344CB8AC3E}">
        <p14:creationId xmlns:p14="http://schemas.microsoft.com/office/powerpoint/2010/main" val="3760340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1CF80-2296-D3AE-0736-14842398AC4B}"/>
              </a:ext>
            </a:extLst>
          </p:cNvPr>
          <p:cNvSpPr>
            <a:spLocks noGrp="1"/>
          </p:cNvSpPr>
          <p:nvPr>
            <p:ph type="title"/>
          </p:nvPr>
        </p:nvSpPr>
        <p:spPr/>
        <p:txBody>
          <a:bodyPr/>
          <a:lstStyle/>
          <a:p>
            <a:r>
              <a:rPr lang="en-US" dirty="0"/>
              <a:t>Hindcasts scenario base 1 and selectivity 1</a:t>
            </a:r>
          </a:p>
        </p:txBody>
      </p:sp>
      <p:sp>
        <p:nvSpPr>
          <p:cNvPr id="5" name="TextBox 4">
            <a:extLst>
              <a:ext uri="{FF2B5EF4-FFF2-40B4-BE49-F238E27FC236}">
                <a16:creationId xmlns:a16="http://schemas.microsoft.com/office/drawing/2014/main" id="{203748BD-DF04-2CB6-0AB3-B9D5575796D9}"/>
              </a:ext>
            </a:extLst>
          </p:cNvPr>
          <p:cNvSpPr txBox="1"/>
          <p:nvPr/>
        </p:nvSpPr>
        <p:spPr>
          <a:xfrm>
            <a:off x="8066567" y="99236"/>
            <a:ext cx="1389321" cy="382773"/>
          </a:xfrm>
          <a:prstGeom prst="rect">
            <a:avLst/>
          </a:prstGeom>
          <a:noFill/>
        </p:spPr>
        <p:txBody>
          <a:bodyPr wrap="square" rtlCol="0">
            <a:spAutoFit/>
          </a:bodyPr>
          <a:lstStyle/>
          <a:p>
            <a:r>
              <a:rPr lang="en-US" dirty="0">
                <a:solidFill>
                  <a:schemeClr val="tx2">
                    <a:lumMod val="75000"/>
                    <a:lumOff val="25000"/>
                  </a:schemeClr>
                </a:solidFill>
              </a:rPr>
              <a:t>JABBA</a:t>
            </a:r>
          </a:p>
        </p:txBody>
      </p:sp>
      <p:pic>
        <p:nvPicPr>
          <p:cNvPr id="8" name="Content Placeholder 7" descr="The image depicts a line chart with time on the horizontal axis and various MASE (Movement Cross-correlation Function) values on the vertical axis. Each line represents different data series, such as JPN.LL.2, MOR.LL.1, and Combined, with their respective MASE values. The chart shows data points for years ranging from 1995 to 2025, with intervals of -2024, 2024, and 2022, and MASE values increasing in increments of 0.5 from 0.0 to 1.5.&#10;&#10;AI-generated content may be incorrect.">
            <a:extLst>
              <a:ext uri="{FF2B5EF4-FFF2-40B4-BE49-F238E27FC236}">
                <a16:creationId xmlns:a16="http://schemas.microsoft.com/office/drawing/2014/main" id="{8E438712-D6D8-261D-1334-B2C9D5A21300}"/>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r="-1157" b="65615"/>
          <a:stretch>
            <a:fillRect/>
          </a:stretch>
        </p:blipFill>
        <p:spPr>
          <a:xfrm>
            <a:off x="572059" y="836246"/>
            <a:ext cx="8219725" cy="3868616"/>
          </a:xfrm>
          <a:prstGeom prst="rect">
            <a:avLst/>
          </a:prstGeom>
        </p:spPr>
      </p:pic>
    </p:spTree>
    <p:extLst>
      <p:ext uri="{BB962C8B-B14F-4D97-AF65-F5344CB8AC3E}">
        <p14:creationId xmlns:p14="http://schemas.microsoft.com/office/powerpoint/2010/main" val="4421129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277461-312D-821B-0CA6-6726D03E1A49}"/>
              </a:ext>
            </a:extLst>
          </p:cNvPr>
          <p:cNvSpPr>
            <a:spLocks noGrp="1"/>
          </p:cNvSpPr>
          <p:nvPr>
            <p:ph type="title"/>
          </p:nvPr>
        </p:nvSpPr>
        <p:spPr/>
        <p:txBody>
          <a:bodyPr/>
          <a:lstStyle/>
          <a:p>
            <a:r>
              <a:rPr lang="en-US" dirty="0"/>
              <a:t>Comparison to 2025</a:t>
            </a:r>
          </a:p>
        </p:txBody>
      </p:sp>
      <p:graphicFrame>
        <p:nvGraphicFramePr>
          <p:cNvPr id="7" name="Table 6">
            <a:extLst>
              <a:ext uri="{FF2B5EF4-FFF2-40B4-BE49-F238E27FC236}">
                <a16:creationId xmlns:a16="http://schemas.microsoft.com/office/drawing/2014/main" id="{D5DF671E-469E-8F8D-EFF7-CF96D7486CFD}"/>
              </a:ext>
            </a:extLst>
          </p:cNvPr>
          <p:cNvGraphicFramePr>
            <a:graphicFrameLocks noGrp="1"/>
          </p:cNvGraphicFramePr>
          <p:nvPr/>
        </p:nvGraphicFramePr>
        <p:xfrm>
          <a:off x="5463828" y="146906"/>
          <a:ext cx="2546941" cy="1524000"/>
        </p:xfrm>
        <a:graphic>
          <a:graphicData uri="http://schemas.openxmlformats.org/drawingml/2006/table">
            <a:tbl>
              <a:tblPr firstRow="1" firstCol="1" bandRow="1">
                <a:tableStyleId>{5C22544A-7EE6-4342-B048-85BDC9FD1C3A}</a:tableStyleId>
              </a:tblPr>
              <a:tblGrid>
                <a:gridCol w="636735">
                  <a:extLst>
                    <a:ext uri="{9D8B030D-6E8A-4147-A177-3AD203B41FA5}">
                      <a16:colId xmlns:a16="http://schemas.microsoft.com/office/drawing/2014/main" val="3090467860"/>
                    </a:ext>
                  </a:extLst>
                </a:gridCol>
                <a:gridCol w="438167">
                  <a:extLst>
                    <a:ext uri="{9D8B030D-6E8A-4147-A177-3AD203B41FA5}">
                      <a16:colId xmlns:a16="http://schemas.microsoft.com/office/drawing/2014/main" val="1123999357"/>
                    </a:ext>
                  </a:extLst>
                </a:gridCol>
                <a:gridCol w="692318">
                  <a:extLst>
                    <a:ext uri="{9D8B030D-6E8A-4147-A177-3AD203B41FA5}">
                      <a16:colId xmlns:a16="http://schemas.microsoft.com/office/drawing/2014/main" val="522057711"/>
                    </a:ext>
                  </a:extLst>
                </a:gridCol>
                <a:gridCol w="779721">
                  <a:extLst>
                    <a:ext uri="{9D8B030D-6E8A-4147-A177-3AD203B41FA5}">
                      <a16:colId xmlns:a16="http://schemas.microsoft.com/office/drawing/2014/main" val="686118979"/>
                    </a:ext>
                  </a:extLst>
                </a:gridCol>
              </a:tblGrid>
              <a:tr h="182880">
                <a:tc>
                  <a:txBody>
                    <a:bodyPr/>
                    <a:lstStyle/>
                    <a:p>
                      <a:pPr marL="0" marR="0">
                        <a:buNone/>
                      </a:pPr>
                      <a:r>
                        <a:rPr lang="en-US" sz="1000" dirty="0">
                          <a:effectLst/>
                        </a:rPr>
                        <a:t>Case</a:t>
                      </a:r>
                      <a:endParaRPr lang="en-US" sz="12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buNone/>
                      </a:pPr>
                      <a:r>
                        <a:rPr lang="en-US" sz="1000">
                          <a:effectLst/>
                        </a:rPr>
                        <a:t>Scenario</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buNone/>
                      </a:pPr>
                      <a:r>
                        <a:rPr lang="en-US" sz="1000" dirty="0">
                          <a:effectLst/>
                        </a:rPr>
                        <a:t>r</a:t>
                      </a:r>
                      <a:endParaRPr lang="en-US" sz="12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buNone/>
                      </a:pPr>
                      <a:r>
                        <a:rPr lang="en-US" sz="1000" dirty="0" err="1">
                          <a:effectLst/>
                        </a:rPr>
                        <a:t>Bmsy</a:t>
                      </a:r>
                      <a:r>
                        <a:rPr lang="en-US" sz="1000" dirty="0">
                          <a:effectLst/>
                        </a:rPr>
                        <a:t>/K</a:t>
                      </a:r>
                      <a:endParaRPr lang="en-US" sz="1200"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2548151981"/>
                  </a:ext>
                </a:extLst>
              </a:tr>
              <a:tr h="182880">
                <a:tc>
                  <a:txBody>
                    <a:bodyPr/>
                    <a:lstStyle/>
                    <a:p>
                      <a:pPr marL="0" marR="0">
                        <a:buNone/>
                      </a:pPr>
                      <a:r>
                        <a:rPr lang="en-US" sz="1000">
                          <a:effectLst/>
                        </a:rPr>
                        <a:t>Base</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r">
                        <a:buNone/>
                      </a:pPr>
                      <a:r>
                        <a:rPr lang="en-US" sz="1000" dirty="0">
                          <a:effectLst/>
                        </a:rPr>
                        <a:t>1</a:t>
                      </a:r>
                      <a:endParaRPr lang="en-US" sz="12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r">
                        <a:buNone/>
                      </a:pPr>
                      <a:r>
                        <a:rPr lang="en-US" sz="1000">
                          <a:effectLst/>
                        </a:rPr>
                        <a:t>0.051</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r">
                        <a:buNone/>
                      </a:pPr>
                      <a:r>
                        <a:rPr lang="en-US" sz="1000">
                          <a:effectLst/>
                        </a:rPr>
                        <a:t>0.670</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1776479732"/>
                  </a:ext>
                </a:extLst>
              </a:tr>
              <a:tr h="182880">
                <a:tc>
                  <a:txBody>
                    <a:bodyPr/>
                    <a:lstStyle/>
                    <a:p>
                      <a:pPr marL="0" marR="0" algn="r">
                        <a:buNone/>
                      </a:pPr>
                      <a:r>
                        <a:rPr lang="en-US" sz="1000">
                          <a:effectLst/>
                        </a:rPr>
                        <a:t> </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r">
                        <a:buNone/>
                      </a:pPr>
                      <a:r>
                        <a:rPr lang="en-US" sz="1000">
                          <a:effectLst/>
                        </a:rPr>
                        <a:t>2</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r">
                        <a:buNone/>
                      </a:pPr>
                      <a:r>
                        <a:rPr lang="en-US" sz="1000" dirty="0">
                          <a:effectLst/>
                        </a:rPr>
                        <a:t>0.020</a:t>
                      </a:r>
                      <a:endParaRPr lang="en-US" sz="12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r">
                        <a:buNone/>
                      </a:pPr>
                      <a:r>
                        <a:rPr lang="en-US" sz="1000" b="1" dirty="0">
                          <a:effectLst/>
                        </a:rPr>
                        <a:t>0.846</a:t>
                      </a:r>
                      <a:endParaRPr lang="en-US" sz="1200" b="1"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3607620186"/>
                  </a:ext>
                </a:extLst>
              </a:tr>
              <a:tr h="182880">
                <a:tc>
                  <a:txBody>
                    <a:bodyPr/>
                    <a:lstStyle/>
                    <a:p>
                      <a:pPr marL="0" marR="0" algn="r">
                        <a:buNone/>
                      </a:pPr>
                      <a:r>
                        <a:rPr lang="en-US" sz="1000">
                          <a:effectLst/>
                        </a:rPr>
                        <a:t> </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r">
                        <a:buNone/>
                      </a:pPr>
                      <a:r>
                        <a:rPr lang="en-US" sz="1000">
                          <a:effectLst/>
                        </a:rPr>
                        <a:t>3</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r">
                        <a:buNone/>
                      </a:pPr>
                      <a:r>
                        <a:rPr lang="en-US" sz="1000">
                          <a:effectLst/>
                        </a:rPr>
                        <a:t>0.019</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r">
                        <a:buNone/>
                      </a:pPr>
                      <a:r>
                        <a:rPr lang="en-US" sz="1000" b="1" dirty="0">
                          <a:effectLst/>
                        </a:rPr>
                        <a:t>0.745</a:t>
                      </a:r>
                      <a:endParaRPr lang="en-US" sz="1200" b="1"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1471180816"/>
                  </a:ext>
                </a:extLst>
              </a:tr>
              <a:tr h="182880">
                <a:tc>
                  <a:txBody>
                    <a:bodyPr/>
                    <a:lstStyle/>
                    <a:p>
                      <a:pPr marL="0" marR="0">
                        <a:buNone/>
                      </a:pPr>
                      <a:r>
                        <a:rPr lang="en-US" sz="1000">
                          <a:effectLst/>
                        </a:rPr>
                        <a:t>Sensitivity</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r">
                        <a:buNone/>
                      </a:pPr>
                      <a:r>
                        <a:rPr lang="en-US" sz="1000">
                          <a:effectLst/>
                        </a:rPr>
                        <a:t>1</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r">
                        <a:buNone/>
                      </a:pPr>
                      <a:r>
                        <a:rPr lang="en-US" sz="1000" dirty="0">
                          <a:effectLst/>
                        </a:rPr>
                        <a:t>0.102</a:t>
                      </a:r>
                      <a:endParaRPr lang="en-US" sz="12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r">
                        <a:buNone/>
                      </a:pPr>
                      <a:r>
                        <a:rPr lang="en-US" sz="1000" dirty="0">
                          <a:effectLst/>
                        </a:rPr>
                        <a:t>0.541</a:t>
                      </a:r>
                      <a:endParaRPr lang="en-US" sz="1200"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2171459233"/>
                  </a:ext>
                </a:extLst>
              </a:tr>
              <a:tr h="182880">
                <a:tc>
                  <a:txBody>
                    <a:bodyPr/>
                    <a:lstStyle/>
                    <a:p>
                      <a:pPr marL="0" marR="0" algn="r">
                        <a:buNone/>
                      </a:pPr>
                      <a:r>
                        <a:rPr lang="en-US" sz="1000">
                          <a:effectLst/>
                        </a:rPr>
                        <a:t> </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r">
                        <a:buNone/>
                      </a:pPr>
                      <a:r>
                        <a:rPr lang="en-US" sz="1000">
                          <a:effectLst/>
                        </a:rPr>
                        <a:t>2</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r">
                        <a:buNone/>
                      </a:pPr>
                      <a:r>
                        <a:rPr lang="en-US" sz="1000" dirty="0">
                          <a:effectLst/>
                        </a:rPr>
                        <a:t>0.094</a:t>
                      </a:r>
                      <a:endParaRPr lang="en-US" sz="12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r">
                        <a:buNone/>
                      </a:pPr>
                      <a:r>
                        <a:rPr lang="en-US" sz="1000" dirty="0">
                          <a:effectLst/>
                        </a:rPr>
                        <a:t>0.557</a:t>
                      </a:r>
                      <a:endParaRPr lang="en-US" sz="1200"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441864274"/>
                  </a:ext>
                </a:extLst>
              </a:tr>
              <a:tr h="182880">
                <a:tc>
                  <a:txBody>
                    <a:bodyPr/>
                    <a:lstStyle/>
                    <a:p>
                      <a:pPr marL="0" marR="0" algn="r">
                        <a:buNone/>
                      </a:pPr>
                      <a:r>
                        <a:rPr lang="en-US" sz="1000">
                          <a:effectLst/>
                        </a:rPr>
                        <a:t> </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r">
                        <a:buNone/>
                      </a:pPr>
                      <a:r>
                        <a:rPr lang="en-US" sz="1000">
                          <a:effectLst/>
                        </a:rPr>
                        <a:t>3</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r">
                        <a:buNone/>
                      </a:pPr>
                      <a:r>
                        <a:rPr lang="en-US" sz="1000">
                          <a:effectLst/>
                        </a:rPr>
                        <a:t>0.015</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r">
                        <a:buNone/>
                      </a:pPr>
                      <a:r>
                        <a:rPr lang="en-US" sz="1000" b="1" dirty="0">
                          <a:effectLst/>
                        </a:rPr>
                        <a:t>0.793</a:t>
                      </a:r>
                      <a:endParaRPr lang="en-US" sz="1200" b="1"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2799605921"/>
                  </a:ext>
                </a:extLst>
              </a:tr>
            </a:tbl>
          </a:graphicData>
        </a:graphic>
      </p:graphicFrame>
      <p:sp>
        <p:nvSpPr>
          <p:cNvPr id="8" name="TextBox 7">
            <a:extLst>
              <a:ext uri="{FF2B5EF4-FFF2-40B4-BE49-F238E27FC236}">
                <a16:creationId xmlns:a16="http://schemas.microsoft.com/office/drawing/2014/main" id="{680871D7-29D1-1699-1F72-BB61CB034F09}"/>
              </a:ext>
            </a:extLst>
          </p:cNvPr>
          <p:cNvSpPr txBox="1"/>
          <p:nvPr/>
        </p:nvSpPr>
        <p:spPr>
          <a:xfrm>
            <a:off x="8066567" y="92148"/>
            <a:ext cx="1389321" cy="382773"/>
          </a:xfrm>
          <a:prstGeom prst="rect">
            <a:avLst/>
          </a:prstGeom>
          <a:noFill/>
        </p:spPr>
        <p:txBody>
          <a:bodyPr wrap="square" rtlCol="0">
            <a:spAutoFit/>
          </a:bodyPr>
          <a:lstStyle/>
          <a:p>
            <a:r>
              <a:rPr lang="en-US" dirty="0">
                <a:solidFill>
                  <a:schemeClr val="tx2">
                    <a:lumMod val="75000"/>
                    <a:lumOff val="25000"/>
                  </a:schemeClr>
                </a:solidFill>
              </a:rPr>
              <a:t>JABBA</a:t>
            </a:r>
          </a:p>
        </p:txBody>
      </p:sp>
      <p:pic>
        <p:nvPicPr>
          <p:cNvPr id="4" name="Picture 3" descr="The image displays a scatter plot or series of data points, possibly representing a distribution or relationship between variables, with annotations indicating various data points, break points, and a reference to a specific date (2019).&#10;&#10;AI-generated content may be incorrect.">
            <a:extLst>
              <a:ext uri="{FF2B5EF4-FFF2-40B4-BE49-F238E27FC236}">
                <a16:creationId xmlns:a16="http://schemas.microsoft.com/office/drawing/2014/main" id="{DAFD7DF5-73F8-6F81-FEBF-533ADFB557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0423" y="1998781"/>
            <a:ext cx="8225701" cy="4112850"/>
          </a:xfrm>
          <a:prstGeom prst="rect">
            <a:avLst/>
          </a:prstGeom>
        </p:spPr>
      </p:pic>
    </p:spTree>
    <p:extLst>
      <p:ext uri="{BB962C8B-B14F-4D97-AF65-F5344CB8AC3E}">
        <p14:creationId xmlns:p14="http://schemas.microsoft.com/office/powerpoint/2010/main" val="26954915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379C2D-FB58-B61C-31D8-C184312B855D}"/>
              </a:ext>
            </a:extLst>
          </p:cNvPr>
          <p:cNvSpPr>
            <a:spLocks noGrp="1"/>
          </p:cNvSpPr>
          <p:nvPr>
            <p:ph type="title"/>
          </p:nvPr>
        </p:nvSpPr>
        <p:spPr/>
        <p:txBody>
          <a:bodyPr/>
          <a:lstStyle/>
          <a:p>
            <a:r>
              <a:rPr lang="en-US" dirty="0"/>
              <a:t>K and r posteriors across runs</a:t>
            </a:r>
          </a:p>
        </p:txBody>
      </p:sp>
      <p:pic>
        <p:nvPicPr>
          <p:cNvPr id="9" name="Content Placeholder 8" descr="The diagram appears to be a line chart or graph with years on the x-axis (200000, 2019, 2025, 2026) and some values (2026 data, 2025 prior, 70000) plotted on the y-axis, possibly indicating some form of annual data or trend, with annotations for specific years and a break in 2020.&#10;&#10;AI-generated content may be incorrect.">
            <a:extLst>
              <a:ext uri="{FF2B5EF4-FFF2-40B4-BE49-F238E27FC236}">
                <a16:creationId xmlns:a16="http://schemas.microsoft.com/office/drawing/2014/main" id="{58355895-FD6C-28F8-2A41-055136FB2BA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45662" y="911312"/>
            <a:ext cx="6721229" cy="5376983"/>
          </a:xfrm>
          <a:prstGeom prst="rect">
            <a:avLst/>
          </a:prstGeom>
        </p:spPr>
      </p:pic>
      <p:sp>
        <p:nvSpPr>
          <p:cNvPr id="10" name="TextBox 9">
            <a:extLst>
              <a:ext uri="{FF2B5EF4-FFF2-40B4-BE49-F238E27FC236}">
                <a16:creationId xmlns:a16="http://schemas.microsoft.com/office/drawing/2014/main" id="{594B77E7-DB0B-8789-9682-8984C0E33D73}"/>
              </a:ext>
            </a:extLst>
          </p:cNvPr>
          <p:cNvSpPr txBox="1"/>
          <p:nvPr/>
        </p:nvSpPr>
        <p:spPr>
          <a:xfrm>
            <a:off x="8066567" y="92148"/>
            <a:ext cx="1389321" cy="382773"/>
          </a:xfrm>
          <a:prstGeom prst="rect">
            <a:avLst/>
          </a:prstGeom>
          <a:noFill/>
        </p:spPr>
        <p:txBody>
          <a:bodyPr wrap="square" rtlCol="0">
            <a:spAutoFit/>
          </a:bodyPr>
          <a:lstStyle/>
          <a:p>
            <a:r>
              <a:rPr lang="en-US" dirty="0">
                <a:solidFill>
                  <a:schemeClr val="tx2">
                    <a:lumMod val="75000"/>
                    <a:lumOff val="25000"/>
                  </a:schemeClr>
                </a:solidFill>
              </a:rPr>
              <a:t>JABBA</a:t>
            </a:r>
          </a:p>
        </p:txBody>
      </p:sp>
    </p:spTree>
    <p:extLst>
      <p:ext uri="{BB962C8B-B14F-4D97-AF65-F5344CB8AC3E}">
        <p14:creationId xmlns:p14="http://schemas.microsoft.com/office/powerpoint/2010/main" val="20383912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CB2C25-FC92-89F2-8166-ED343A40261D}"/>
              </a:ext>
            </a:extLst>
          </p:cNvPr>
          <p:cNvSpPr>
            <a:spLocks noGrp="1"/>
          </p:cNvSpPr>
          <p:nvPr>
            <p:ph type="title"/>
          </p:nvPr>
        </p:nvSpPr>
        <p:spPr/>
        <p:txBody>
          <a:bodyPr/>
          <a:lstStyle/>
          <a:p>
            <a:r>
              <a:rPr lang="en-US" dirty="0"/>
              <a:t>With 2025 priors</a:t>
            </a:r>
          </a:p>
        </p:txBody>
      </p:sp>
      <p:pic>
        <p:nvPicPr>
          <p:cNvPr id="5" name="Content Placeholder 4" descr="The image appears to be a graph or chart depicting biomass and surplus production over time, specifically from the years 1960 to 2020, with data points for biomass in tonnes and surplus production in tonnes for selected years.&#10;&#10;AI-generated content may be incorrect.">
            <a:extLst>
              <a:ext uri="{FF2B5EF4-FFF2-40B4-BE49-F238E27FC236}">
                <a16:creationId xmlns:a16="http://schemas.microsoft.com/office/drawing/2014/main" id="{000604FB-4367-93CE-D469-9046B64A5F7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44324" y="915131"/>
            <a:ext cx="5151967" cy="5795963"/>
          </a:xfrm>
          <a:prstGeom prst="rect">
            <a:avLst/>
          </a:prstGeom>
        </p:spPr>
      </p:pic>
    </p:spTree>
    <p:extLst>
      <p:ext uri="{BB962C8B-B14F-4D97-AF65-F5344CB8AC3E}">
        <p14:creationId xmlns:p14="http://schemas.microsoft.com/office/powerpoint/2010/main" val="19525220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56800-3555-E5CE-6908-36FDAA6C95DB}"/>
              </a:ext>
            </a:extLst>
          </p:cNvPr>
          <p:cNvSpPr>
            <a:spLocks noGrp="1"/>
          </p:cNvSpPr>
          <p:nvPr>
            <p:ph type="title"/>
          </p:nvPr>
        </p:nvSpPr>
        <p:spPr/>
        <p:txBody>
          <a:bodyPr/>
          <a:lstStyle/>
          <a:p>
            <a:r>
              <a:rPr lang="en-US" dirty="0"/>
              <a:t>With break 2020-2021</a:t>
            </a:r>
          </a:p>
        </p:txBody>
      </p:sp>
      <p:pic>
        <p:nvPicPr>
          <p:cNvPr id="5" name="Content Placeholder 4" descr="The diagram depicts a timeline from 1960 to 2020, showing the biomass in tonnes and surplus production in tonnes, with specific values marked for years 1960, 1980, and 2000.&#10;&#10;AI-generated content may be incorrect.">
            <a:extLst>
              <a:ext uri="{FF2B5EF4-FFF2-40B4-BE49-F238E27FC236}">
                <a16:creationId xmlns:a16="http://schemas.microsoft.com/office/drawing/2014/main" id="{E6C32B11-64A6-A074-EB15-59C6925907E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96016" y="914400"/>
            <a:ext cx="5151967" cy="5795963"/>
          </a:xfrm>
          <a:prstGeom prst="rect">
            <a:avLst/>
          </a:prstGeom>
        </p:spPr>
      </p:pic>
    </p:spTree>
    <p:extLst>
      <p:ext uri="{BB962C8B-B14F-4D97-AF65-F5344CB8AC3E}">
        <p14:creationId xmlns:p14="http://schemas.microsoft.com/office/powerpoint/2010/main" val="19766623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B16F72-35FB-80B2-270A-6907E471C174}"/>
              </a:ext>
            </a:extLst>
          </p:cNvPr>
          <p:cNvSpPr>
            <a:spLocks noGrp="1"/>
          </p:cNvSpPr>
          <p:nvPr>
            <p:ph type="title"/>
          </p:nvPr>
        </p:nvSpPr>
        <p:spPr/>
        <p:txBody>
          <a:bodyPr/>
          <a:lstStyle/>
          <a:p>
            <a:r>
              <a:rPr lang="en-US" dirty="0"/>
              <a:t>Conclusions for JABBA and JABBA select</a:t>
            </a:r>
          </a:p>
        </p:txBody>
      </p:sp>
      <p:sp>
        <p:nvSpPr>
          <p:cNvPr id="3" name="Content Placeholder 2">
            <a:extLst>
              <a:ext uri="{FF2B5EF4-FFF2-40B4-BE49-F238E27FC236}">
                <a16:creationId xmlns:a16="http://schemas.microsoft.com/office/drawing/2014/main" id="{AA7118A9-F842-2217-C8F4-8607058B8843}"/>
              </a:ext>
            </a:extLst>
          </p:cNvPr>
          <p:cNvSpPr>
            <a:spLocks noGrp="1"/>
          </p:cNvSpPr>
          <p:nvPr>
            <p:ph idx="1"/>
          </p:nvPr>
        </p:nvSpPr>
        <p:spPr/>
        <p:txBody>
          <a:bodyPr/>
          <a:lstStyle/>
          <a:p>
            <a:r>
              <a:rPr lang="en-US" dirty="0"/>
              <a:t>The models consistently fit the down-up-down trend in the indices.</a:t>
            </a:r>
          </a:p>
          <a:p>
            <a:r>
              <a:rPr lang="en-US" dirty="0"/>
              <a:t>JABBA is very sensitive to assumed </a:t>
            </a:r>
            <a:r>
              <a:rPr lang="en-US" dirty="0" err="1"/>
              <a:t>Bmsy</a:t>
            </a:r>
            <a:r>
              <a:rPr lang="en-US" dirty="0"/>
              <a:t>/K</a:t>
            </a:r>
          </a:p>
          <a:p>
            <a:r>
              <a:rPr lang="en-US" dirty="0"/>
              <a:t>The scale of the population is uncertain and dependent on life history assumptions, especially in JABBA.</a:t>
            </a:r>
          </a:p>
          <a:p>
            <a:r>
              <a:rPr lang="en-US" dirty="0"/>
              <a:t>Scale is reasonable when run with a stable version of JABBA</a:t>
            </a:r>
          </a:p>
          <a:p>
            <a:endParaRPr lang="en-US" dirty="0"/>
          </a:p>
          <a:p>
            <a:endParaRPr lang="en-US" dirty="0"/>
          </a:p>
        </p:txBody>
      </p:sp>
    </p:spTree>
    <p:extLst>
      <p:ext uri="{BB962C8B-B14F-4D97-AF65-F5344CB8AC3E}">
        <p14:creationId xmlns:p14="http://schemas.microsoft.com/office/powerpoint/2010/main" val="41027165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8761</TotalTime>
  <Words>437</Words>
  <Application>Microsoft Office PowerPoint</Application>
  <PresentationFormat>On-screen Show (4:3)</PresentationFormat>
  <Paragraphs>162</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Aptos</vt:lpstr>
      <vt:lpstr>Aptos Display</vt:lpstr>
      <vt:lpstr>Arial</vt:lpstr>
      <vt:lpstr>Times New Roman</vt:lpstr>
      <vt:lpstr>Office Theme</vt:lpstr>
      <vt:lpstr>Bayesian production models applied to North Atlantic Mako Sharks using JABBA and JABBA-Select, updated in 2026 </vt:lpstr>
      <vt:lpstr>Revisions Wednesday</vt:lpstr>
      <vt:lpstr>Results corrected</vt:lpstr>
      <vt:lpstr>Fits similar for all, unchanged</vt:lpstr>
      <vt:lpstr>Fits</vt:lpstr>
      <vt:lpstr>Trends in residuals</vt:lpstr>
      <vt:lpstr>Prior (dark) and posterior (light) Base 1</vt:lpstr>
      <vt:lpstr>Catch only models  (post model pre-data)</vt:lpstr>
      <vt:lpstr>Runs leaving out one index</vt:lpstr>
      <vt:lpstr>Series one at a time</vt:lpstr>
      <vt:lpstr>Retrospective bias </vt:lpstr>
      <vt:lpstr>Hindcasts scenario base 1 and selectivity 1</vt:lpstr>
      <vt:lpstr>Comparison to 2025</vt:lpstr>
      <vt:lpstr>K and r posteriors across runs</vt:lpstr>
      <vt:lpstr>With 2025 priors</vt:lpstr>
      <vt:lpstr>With break 2020-2021</vt:lpstr>
      <vt:lpstr>Conclusions for JABBA and JABBA select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Babcock, Elizabeth A</dc:creator>
  <cp:lastModifiedBy>Babcock, Elizabeth A</cp:lastModifiedBy>
  <cp:revision>95</cp:revision>
  <dcterms:created xsi:type="dcterms:W3CDTF">2025-06-05T13:59:56Z</dcterms:created>
  <dcterms:modified xsi:type="dcterms:W3CDTF">2026-09-09T21:18:42Z</dcterms:modified>
</cp:coreProperties>
</file>