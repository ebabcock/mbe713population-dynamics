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627" r:id="rId3"/>
    <p:sldId id="628" r:id="rId4"/>
    <p:sldId id="629" r:id="rId5"/>
    <p:sldId id="630" r:id="rId6"/>
    <p:sldId id="631" r:id="rId7"/>
    <p:sldId id="632" r:id="rId8"/>
    <p:sldId id="346" r:id="rId9"/>
    <p:sldId id="574" r:id="rId10"/>
    <p:sldId id="606" r:id="rId11"/>
    <p:sldId id="605" r:id="rId12"/>
    <p:sldId id="575" r:id="rId13"/>
    <p:sldId id="310" r:id="rId14"/>
    <p:sldId id="601" r:id="rId15"/>
    <p:sldId id="576" r:id="rId16"/>
    <p:sldId id="577" r:id="rId17"/>
    <p:sldId id="592" r:id="rId18"/>
    <p:sldId id="593" r:id="rId19"/>
    <p:sldId id="603" r:id="rId20"/>
    <p:sldId id="608" r:id="rId21"/>
    <p:sldId id="602" r:id="rId22"/>
    <p:sldId id="594" r:id="rId23"/>
    <p:sldId id="624" r:id="rId24"/>
    <p:sldId id="596" r:id="rId25"/>
    <p:sldId id="597" r:id="rId26"/>
    <p:sldId id="598" r:id="rId27"/>
    <p:sldId id="599" r:id="rId28"/>
    <p:sldId id="600" r:id="rId29"/>
    <p:sldId id="634" r:id="rId30"/>
    <p:sldId id="609" r:id="rId31"/>
    <p:sldId id="604" r:id="rId32"/>
    <p:sldId id="623" r:id="rId33"/>
    <p:sldId id="610" r:id="rId34"/>
    <p:sldId id="611" r:id="rId35"/>
    <p:sldId id="618" r:id="rId36"/>
    <p:sldId id="612" r:id="rId37"/>
    <p:sldId id="619" r:id="rId38"/>
    <p:sldId id="615" r:id="rId39"/>
    <p:sldId id="620" r:id="rId40"/>
    <p:sldId id="616" r:id="rId41"/>
    <p:sldId id="622" r:id="rId42"/>
    <p:sldId id="621" r:id="rId43"/>
    <p:sldId id="613" r:id="rId44"/>
    <p:sldId id="617" r:id="rId45"/>
    <p:sldId id="626" r:id="rId46"/>
    <p:sldId id="625" r:id="rId47"/>
    <p:sldId id="633" r:id="rId4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9900CC"/>
    <a:srgbClr val="006600"/>
    <a:srgbClr val="000066"/>
    <a:srgbClr val="FFCC00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35D3BD-08E2-41E7-BD20-57DC69EA4D85}" v="21" dt="2026-09-09T21:26:52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23" autoAdjust="0"/>
    <p:restoredTop sz="94660" autoAdjust="0"/>
  </p:normalViewPr>
  <p:slideViewPr>
    <p:cSldViewPr>
      <p:cViewPr varScale="1">
        <p:scale>
          <a:sx n="97" d="100"/>
          <a:sy n="97" d="100"/>
        </p:scale>
        <p:origin x="30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283"/>
    </p:cViewPr>
  </p:sorterViewPr>
  <p:notesViewPr>
    <p:cSldViewPr>
      <p:cViewPr varScale="1">
        <p:scale>
          <a:sx n="62" d="100"/>
          <a:sy n="62" d="100"/>
        </p:scale>
        <p:origin x="-1104" y="-84"/>
      </p:cViewPr>
      <p:guideLst>
        <p:guide orient="horz" pos="3025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cock, Elizabeth A" userId="02b9ec88-22ae-4f16-80a8-fd6316399148" providerId="ADAL" clId="{CFAE71B8-9659-41D1-BF87-D488A69E897D}"/>
    <pc:docChg chg="undo custSel addSld delSld modSld">
      <pc:chgData name="Babcock, Elizabeth A" userId="02b9ec88-22ae-4f16-80a8-fd6316399148" providerId="ADAL" clId="{CFAE71B8-9659-41D1-BF87-D488A69E897D}" dt="2026-09-09T21:30:41.166" v="2019" actId="20577"/>
      <pc:docMkLst>
        <pc:docMk/>
      </pc:docMkLst>
      <pc:sldChg chg="modSp mod">
        <pc:chgData name="Babcock, Elizabeth A" userId="02b9ec88-22ae-4f16-80a8-fd6316399148" providerId="ADAL" clId="{CFAE71B8-9659-41D1-BF87-D488A69E897D}" dt="2026-09-09T19:18:15.318" v="299" actId="20577"/>
        <pc:sldMkLst>
          <pc:docMk/>
          <pc:sldMk cId="0" sldId="256"/>
        </pc:sldMkLst>
        <pc:spChg chg="mod">
          <ac:chgData name="Babcock, Elizabeth A" userId="02b9ec88-22ae-4f16-80a8-fd6316399148" providerId="ADAL" clId="{CFAE71B8-9659-41D1-BF87-D488A69E897D}" dt="2026-09-09T19:18:15.318" v="299" actId="20577"/>
          <ac:spMkLst>
            <pc:docMk/>
            <pc:sldMk cId="0" sldId="256"/>
            <ac:spMk id="2050" creationId="{00000000-0000-0000-0000-000000000000}"/>
          </ac:spMkLst>
        </pc:spChg>
      </pc:sldChg>
      <pc:sldChg chg="del">
        <pc:chgData name="Babcock, Elizabeth A" userId="02b9ec88-22ae-4f16-80a8-fd6316399148" providerId="ADAL" clId="{CFAE71B8-9659-41D1-BF87-D488A69E897D}" dt="2026-09-09T19:38:19.514" v="1561" actId="47"/>
        <pc:sldMkLst>
          <pc:docMk/>
          <pc:sldMk cId="0" sldId="277"/>
        </pc:sldMkLst>
      </pc:sldChg>
      <pc:sldChg chg="modSp del mod">
        <pc:chgData name="Babcock, Elizabeth A" userId="02b9ec88-22ae-4f16-80a8-fd6316399148" providerId="ADAL" clId="{CFAE71B8-9659-41D1-BF87-D488A69E897D}" dt="2026-09-09T19:34:15.715" v="1304" actId="2696"/>
        <pc:sldMkLst>
          <pc:docMk/>
          <pc:sldMk cId="4205368905" sldId="346"/>
        </pc:sldMkLst>
        <pc:spChg chg="mod">
          <ac:chgData name="Babcock, Elizabeth A" userId="02b9ec88-22ae-4f16-80a8-fd6316399148" providerId="ADAL" clId="{CFAE71B8-9659-41D1-BF87-D488A69E897D}" dt="2026-09-09T19:09:05.544" v="186" actId="20577"/>
          <ac:spMkLst>
            <pc:docMk/>
            <pc:sldMk cId="4205368905" sldId="346"/>
            <ac:spMk id="3" creationId="{4D8B5902-3B41-4C28-8B6E-02C53F53316C}"/>
          </ac:spMkLst>
        </pc:spChg>
      </pc:sldChg>
      <pc:sldChg chg="add">
        <pc:chgData name="Babcock, Elizabeth A" userId="02b9ec88-22ae-4f16-80a8-fd6316399148" providerId="ADAL" clId="{CFAE71B8-9659-41D1-BF87-D488A69E897D}" dt="2026-09-09T19:34:25.357" v="1305"/>
        <pc:sldMkLst>
          <pc:docMk/>
          <pc:sldMk cId="4265761017" sldId="346"/>
        </pc:sldMkLst>
      </pc:sldChg>
      <pc:sldChg chg="addSp delSp modSp mod">
        <pc:chgData name="Babcock, Elizabeth A" userId="02b9ec88-22ae-4f16-80a8-fd6316399148" providerId="ADAL" clId="{CFAE71B8-9659-41D1-BF87-D488A69E897D}" dt="2026-09-09T19:37:47.669" v="1560" actId="1076"/>
        <pc:sldMkLst>
          <pc:docMk/>
          <pc:sldMk cId="0" sldId="574"/>
        </pc:sldMkLst>
        <pc:spChg chg="del mod">
          <ac:chgData name="Babcock, Elizabeth A" userId="02b9ec88-22ae-4f16-80a8-fd6316399148" providerId="ADAL" clId="{CFAE71B8-9659-41D1-BF87-D488A69E897D}" dt="2026-09-09T19:32:17.124" v="1056"/>
          <ac:spMkLst>
            <pc:docMk/>
            <pc:sldMk cId="0" sldId="574"/>
            <ac:spMk id="3" creationId="{00000000-0000-0000-0000-000000000000}"/>
          </ac:spMkLst>
        </pc:spChg>
        <pc:spChg chg="add mod">
          <ac:chgData name="Babcock, Elizabeth A" userId="02b9ec88-22ae-4f16-80a8-fd6316399148" providerId="ADAL" clId="{CFAE71B8-9659-41D1-BF87-D488A69E897D}" dt="2026-09-09T19:36:46.825" v="1532" actId="14100"/>
          <ac:spMkLst>
            <pc:docMk/>
            <pc:sldMk cId="0" sldId="574"/>
            <ac:spMk id="5" creationId="{0FE3A899-29FB-AF54-3A4B-294D6573F7ED}"/>
          </ac:spMkLst>
        </pc:spChg>
        <pc:spChg chg="add mod">
          <ac:chgData name="Babcock, Elizabeth A" userId="02b9ec88-22ae-4f16-80a8-fd6316399148" providerId="ADAL" clId="{CFAE71B8-9659-41D1-BF87-D488A69E897D}" dt="2026-09-09T19:36:51.881" v="1533" actId="1076"/>
          <ac:spMkLst>
            <pc:docMk/>
            <pc:sldMk cId="0" sldId="574"/>
            <ac:spMk id="6" creationId="{7EDF022F-3FA6-489E-C2E4-24774CAE091D}"/>
          </ac:spMkLst>
        </pc:spChg>
        <pc:spChg chg="add mod">
          <ac:chgData name="Babcock, Elizabeth A" userId="02b9ec88-22ae-4f16-80a8-fd6316399148" providerId="ADAL" clId="{CFAE71B8-9659-41D1-BF87-D488A69E897D}" dt="2026-09-09T19:37:47.669" v="1560" actId="1076"/>
          <ac:spMkLst>
            <pc:docMk/>
            <pc:sldMk cId="0" sldId="574"/>
            <ac:spMk id="7" creationId="{8A98943F-107E-9BD0-89C1-4F08DD179F75}"/>
          </ac:spMkLst>
        </pc:spChg>
        <pc:picChg chg="add mod">
          <ac:chgData name="Babcock, Elizabeth A" userId="02b9ec88-22ae-4f16-80a8-fd6316399148" providerId="ADAL" clId="{CFAE71B8-9659-41D1-BF87-D488A69E897D}" dt="2026-09-09T19:36:51.881" v="1533" actId="1076"/>
          <ac:picMkLst>
            <pc:docMk/>
            <pc:sldMk cId="0" sldId="574"/>
            <ac:picMk id="4" creationId="{C996CB76-AD65-C456-00D4-F07A32B84AF4}"/>
          </ac:picMkLst>
        </pc:picChg>
      </pc:sldChg>
      <pc:sldChg chg="modSp mod">
        <pc:chgData name="Babcock, Elizabeth A" userId="02b9ec88-22ae-4f16-80a8-fd6316399148" providerId="ADAL" clId="{CFAE71B8-9659-41D1-BF87-D488A69E897D}" dt="2026-09-09T19:34:03.903" v="1303" actId="20577"/>
        <pc:sldMkLst>
          <pc:docMk/>
          <pc:sldMk cId="2019641750" sldId="606"/>
        </pc:sldMkLst>
        <pc:spChg chg="mod">
          <ac:chgData name="Babcock, Elizabeth A" userId="02b9ec88-22ae-4f16-80a8-fd6316399148" providerId="ADAL" clId="{CFAE71B8-9659-41D1-BF87-D488A69E897D}" dt="2026-09-09T19:34:03.903" v="1303" actId="20577"/>
          <ac:spMkLst>
            <pc:docMk/>
            <pc:sldMk cId="2019641750" sldId="606"/>
            <ac:spMk id="2" creationId="{D4860AFA-6C67-F5CC-4281-48D54FC35ACC}"/>
          </ac:spMkLst>
        </pc:spChg>
        <pc:picChg chg="mod">
          <ac:chgData name="Babcock, Elizabeth A" userId="02b9ec88-22ae-4f16-80a8-fd6316399148" providerId="ADAL" clId="{CFAE71B8-9659-41D1-BF87-D488A69E897D}" dt="2026-09-09T19:33:49.394" v="1266" actId="1076"/>
          <ac:picMkLst>
            <pc:docMk/>
            <pc:sldMk cId="2019641750" sldId="606"/>
            <ac:picMk id="10" creationId="{D9A7B914-ADE6-19C5-3735-336593254E82}"/>
          </ac:picMkLst>
        </pc:picChg>
      </pc:sldChg>
      <pc:sldChg chg="new del">
        <pc:chgData name="Babcock, Elizabeth A" userId="02b9ec88-22ae-4f16-80a8-fd6316399148" providerId="ADAL" clId="{CFAE71B8-9659-41D1-BF87-D488A69E897D}" dt="2026-09-09T19:17:43.145" v="188" actId="47"/>
        <pc:sldMkLst>
          <pc:docMk/>
          <pc:sldMk cId="50372746" sldId="627"/>
        </pc:sldMkLst>
      </pc:sldChg>
      <pc:sldChg chg="modSp new mod">
        <pc:chgData name="Babcock, Elizabeth A" userId="02b9ec88-22ae-4f16-80a8-fd6316399148" providerId="ADAL" clId="{CFAE71B8-9659-41D1-BF87-D488A69E897D}" dt="2026-09-09T19:25:22.747" v="537" actId="20577"/>
        <pc:sldMkLst>
          <pc:docMk/>
          <pc:sldMk cId="2346790642" sldId="627"/>
        </pc:sldMkLst>
        <pc:spChg chg="mod">
          <ac:chgData name="Babcock, Elizabeth A" userId="02b9ec88-22ae-4f16-80a8-fd6316399148" providerId="ADAL" clId="{CFAE71B8-9659-41D1-BF87-D488A69E897D}" dt="2026-09-09T19:19:04.990" v="346" actId="20577"/>
          <ac:spMkLst>
            <pc:docMk/>
            <pc:sldMk cId="2346790642" sldId="627"/>
            <ac:spMk id="2" creationId="{8074FCD7-8F52-6723-F52C-8380BD184315}"/>
          </ac:spMkLst>
        </pc:spChg>
        <pc:spChg chg="mod">
          <ac:chgData name="Babcock, Elizabeth A" userId="02b9ec88-22ae-4f16-80a8-fd6316399148" providerId="ADAL" clId="{CFAE71B8-9659-41D1-BF87-D488A69E897D}" dt="2026-09-09T19:25:22.747" v="537" actId="20577"/>
          <ac:spMkLst>
            <pc:docMk/>
            <pc:sldMk cId="2346790642" sldId="627"/>
            <ac:spMk id="3" creationId="{418489F2-D539-B4CD-9C29-61B580F0547E}"/>
          </ac:spMkLst>
        </pc:spChg>
      </pc:sldChg>
      <pc:sldChg chg="addSp delSp modSp new mod">
        <pc:chgData name="Babcock, Elizabeth A" userId="02b9ec88-22ae-4f16-80a8-fd6316399148" providerId="ADAL" clId="{CFAE71B8-9659-41D1-BF87-D488A69E897D}" dt="2026-09-09T19:20:45.306" v="420" actId="1076"/>
        <pc:sldMkLst>
          <pc:docMk/>
          <pc:sldMk cId="1030841350" sldId="628"/>
        </pc:sldMkLst>
        <pc:spChg chg="mod">
          <ac:chgData name="Babcock, Elizabeth A" userId="02b9ec88-22ae-4f16-80a8-fd6316399148" providerId="ADAL" clId="{CFAE71B8-9659-41D1-BF87-D488A69E897D}" dt="2026-09-09T19:20:40.451" v="418" actId="20577"/>
          <ac:spMkLst>
            <pc:docMk/>
            <pc:sldMk cId="1030841350" sldId="628"/>
            <ac:spMk id="2" creationId="{F0988B75-7F33-5C3F-24DD-1CB5669361DA}"/>
          </ac:spMkLst>
        </pc:spChg>
        <pc:spChg chg="del">
          <ac:chgData name="Babcock, Elizabeth A" userId="02b9ec88-22ae-4f16-80a8-fd6316399148" providerId="ADAL" clId="{CFAE71B8-9659-41D1-BF87-D488A69E897D}" dt="2026-09-09T19:20:32.444" v="391"/>
          <ac:spMkLst>
            <pc:docMk/>
            <pc:sldMk cId="1030841350" sldId="628"/>
            <ac:spMk id="3" creationId="{D6F02D07-D865-5462-968E-765B7AC9501B}"/>
          </ac:spMkLst>
        </pc:spChg>
        <pc:picChg chg="add mod">
          <ac:chgData name="Babcock, Elizabeth A" userId="02b9ec88-22ae-4f16-80a8-fd6316399148" providerId="ADAL" clId="{CFAE71B8-9659-41D1-BF87-D488A69E897D}" dt="2026-09-09T19:20:45.306" v="420" actId="1076"/>
          <ac:picMkLst>
            <pc:docMk/>
            <pc:sldMk cId="1030841350" sldId="628"/>
            <ac:picMk id="4" creationId="{710CBFB6-803D-9CC7-A210-2946AD720D01}"/>
          </ac:picMkLst>
        </pc:picChg>
      </pc:sldChg>
      <pc:sldChg chg="addSp delSp modSp new mod">
        <pc:chgData name="Babcock, Elizabeth A" userId="02b9ec88-22ae-4f16-80a8-fd6316399148" providerId="ADAL" clId="{CFAE71B8-9659-41D1-BF87-D488A69E897D}" dt="2026-09-09T19:21:56.327" v="450" actId="1076"/>
        <pc:sldMkLst>
          <pc:docMk/>
          <pc:sldMk cId="3142026522" sldId="629"/>
        </pc:sldMkLst>
        <pc:spChg chg="mod">
          <ac:chgData name="Babcock, Elizabeth A" userId="02b9ec88-22ae-4f16-80a8-fd6316399148" providerId="ADAL" clId="{CFAE71B8-9659-41D1-BF87-D488A69E897D}" dt="2026-09-09T19:21:12.974" v="441" actId="20577"/>
          <ac:spMkLst>
            <pc:docMk/>
            <pc:sldMk cId="3142026522" sldId="629"/>
            <ac:spMk id="2" creationId="{5BD43E6B-049C-C1CB-9968-486D54A132E6}"/>
          </ac:spMkLst>
        </pc:spChg>
        <pc:spChg chg="del">
          <ac:chgData name="Babcock, Elizabeth A" userId="02b9ec88-22ae-4f16-80a8-fd6316399148" providerId="ADAL" clId="{CFAE71B8-9659-41D1-BF87-D488A69E897D}" dt="2026-09-09T19:21:23.455" v="442"/>
          <ac:spMkLst>
            <pc:docMk/>
            <pc:sldMk cId="3142026522" sldId="629"/>
            <ac:spMk id="3" creationId="{325336C3-1756-0642-DC4F-3531740FB391}"/>
          </ac:spMkLst>
        </pc:spChg>
        <pc:picChg chg="add mod">
          <ac:chgData name="Babcock, Elizabeth A" userId="02b9ec88-22ae-4f16-80a8-fd6316399148" providerId="ADAL" clId="{CFAE71B8-9659-41D1-BF87-D488A69E897D}" dt="2026-09-09T19:21:56.327" v="450" actId="1076"/>
          <ac:picMkLst>
            <pc:docMk/>
            <pc:sldMk cId="3142026522" sldId="629"/>
            <ac:picMk id="4" creationId="{B84524FB-9436-AF65-87A4-F9D342A8DBDF}"/>
          </ac:picMkLst>
        </pc:picChg>
        <pc:picChg chg="add mod ord">
          <ac:chgData name="Babcock, Elizabeth A" userId="02b9ec88-22ae-4f16-80a8-fd6316399148" providerId="ADAL" clId="{CFAE71B8-9659-41D1-BF87-D488A69E897D}" dt="2026-09-09T19:21:53.734" v="449" actId="167"/>
          <ac:picMkLst>
            <pc:docMk/>
            <pc:sldMk cId="3142026522" sldId="629"/>
            <ac:picMk id="5" creationId="{B81D7CB1-2E44-C2CA-BBA9-0EB554B28DB5}"/>
          </ac:picMkLst>
        </pc:picChg>
      </pc:sldChg>
      <pc:sldChg chg="addSp delSp modSp new mod">
        <pc:chgData name="Babcock, Elizabeth A" userId="02b9ec88-22ae-4f16-80a8-fd6316399148" providerId="ADAL" clId="{CFAE71B8-9659-41D1-BF87-D488A69E897D}" dt="2026-09-09T19:29:18.603" v="593" actId="1076"/>
        <pc:sldMkLst>
          <pc:docMk/>
          <pc:sldMk cId="3169375856" sldId="630"/>
        </pc:sldMkLst>
        <pc:spChg chg="mod">
          <ac:chgData name="Babcock, Elizabeth A" userId="02b9ec88-22ae-4f16-80a8-fd6316399148" providerId="ADAL" clId="{CFAE71B8-9659-41D1-BF87-D488A69E897D}" dt="2026-09-09T19:22:26.109" v="488" actId="20577"/>
          <ac:spMkLst>
            <pc:docMk/>
            <pc:sldMk cId="3169375856" sldId="630"/>
            <ac:spMk id="2" creationId="{7E1324EA-7A80-0132-6EA4-E80FE3E6B6AF}"/>
          </ac:spMkLst>
        </pc:spChg>
        <pc:spChg chg="del">
          <ac:chgData name="Babcock, Elizabeth A" userId="02b9ec88-22ae-4f16-80a8-fd6316399148" providerId="ADAL" clId="{CFAE71B8-9659-41D1-BF87-D488A69E897D}" dt="2026-09-09T19:22:27.655" v="489"/>
          <ac:spMkLst>
            <pc:docMk/>
            <pc:sldMk cId="3169375856" sldId="630"/>
            <ac:spMk id="3" creationId="{7E59BCA3-4933-BF58-F1C1-5E15CCFBF445}"/>
          </ac:spMkLst>
        </pc:spChg>
        <pc:spChg chg="add mod">
          <ac:chgData name="Babcock, Elizabeth A" userId="02b9ec88-22ae-4f16-80a8-fd6316399148" providerId="ADAL" clId="{CFAE71B8-9659-41D1-BF87-D488A69E897D}" dt="2026-09-09T19:29:03.414" v="592" actId="1076"/>
          <ac:spMkLst>
            <pc:docMk/>
            <pc:sldMk cId="3169375856" sldId="630"/>
            <ac:spMk id="6" creationId="{08806463-1C80-A2D7-C640-D2DCD6895BB5}"/>
          </ac:spMkLst>
        </pc:spChg>
        <pc:picChg chg="add mod">
          <ac:chgData name="Babcock, Elizabeth A" userId="02b9ec88-22ae-4f16-80a8-fd6316399148" providerId="ADAL" clId="{CFAE71B8-9659-41D1-BF87-D488A69E897D}" dt="2026-09-09T19:29:18.603" v="593" actId="1076"/>
          <ac:picMkLst>
            <pc:docMk/>
            <pc:sldMk cId="3169375856" sldId="630"/>
            <ac:picMk id="4" creationId="{338FDC5E-5A72-A991-7F69-B3036BD380B4}"/>
          </ac:picMkLst>
        </pc:picChg>
      </pc:sldChg>
      <pc:sldChg chg="modSp new mod">
        <pc:chgData name="Babcock, Elizabeth A" userId="02b9ec88-22ae-4f16-80a8-fd6316399148" providerId="ADAL" clId="{CFAE71B8-9659-41D1-BF87-D488A69E897D}" dt="2026-09-09T19:31:54.128" v="1054" actId="20577"/>
        <pc:sldMkLst>
          <pc:docMk/>
          <pc:sldMk cId="962824901" sldId="631"/>
        </pc:sldMkLst>
        <pc:spChg chg="mod">
          <ac:chgData name="Babcock, Elizabeth A" userId="02b9ec88-22ae-4f16-80a8-fd6316399148" providerId="ADAL" clId="{CFAE71B8-9659-41D1-BF87-D488A69E897D}" dt="2026-09-09T19:29:33.081" v="637" actId="20577"/>
          <ac:spMkLst>
            <pc:docMk/>
            <pc:sldMk cId="962824901" sldId="631"/>
            <ac:spMk id="2" creationId="{1165B02E-DACB-D7C4-3940-F9CFD790BD28}"/>
          </ac:spMkLst>
        </pc:spChg>
        <pc:spChg chg="mod">
          <ac:chgData name="Babcock, Elizabeth A" userId="02b9ec88-22ae-4f16-80a8-fd6316399148" providerId="ADAL" clId="{CFAE71B8-9659-41D1-BF87-D488A69E897D}" dt="2026-09-09T19:31:54.128" v="1054" actId="20577"/>
          <ac:spMkLst>
            <pc:docMk/>
            <pc:sldMk cId="962824901" sldId="631"/>
            <ac:spMk id="3" creationId="{156688C6-3D7D-C92E-B72F-88536F37152D}"/>
          </ac:spMkLst>
        </pc:spChg>
      </pc:sldChg>
      <pc:sldChg chg="modSp new mod">
        <pc:chgData name="Babcock, Elizabeth A" userId="02b9ec88-22ae-4f16-80a8-fd6316399148" providerId="ADAL" clId="{CFAE71B8-9659-41D1-BF87-D488A69E897D}" dt="2026-09-09T19:35:18.175" v="1525" actId="20577"/>
        <pc:sldMkLst>
          <pc:docMk/>
          <pc:sldMk cId="1336655035" sldId="632"/>
        </pc:sldMkLst>
        <pc:spChg chg="mod">
          <ac:chgData name="Babcock, Elizabeth A" userId="02b9ec88-22ae-4f16-80a8-fd6316399148" providerId="ADAL" clId="{CFAE71B8-9659-41D1-BF87-D488A69E897D}" dt="2026-09-09T19:34:39.601" v="1330" actId="20577"/>
          <ac:spMkLst>
            <pc:docMk/>
            <pc:sldMk cId="1336655035" sldId="632"/>
            <ac:spMk id="2" creationId="{8D52E056-5588-2298-0077-D816F6A029CB}"/>
          </ac:spMkLst>
        </pc:spChg>
        <pc:spChg chg="mod">
          <ac:chgData name="Babcock, Elizabeth A" userId="02b9ec88-22ae-4f16-80a8-fd6316399148" providerId="ADAL" clId="{CFAE71B8-9659-41D1-BF87-D488A69E897D}" dt="2026-09-09T19:35:18.175" v="1525" actId="20577"/>
          <ac:spMkLst>
            <pc:docMk/>
            <pc:sldMk cId="1336655035" sldId="632"/>
            <ac:spMk id="3" creationId="{88845AEE-8C50-710E-01E2-4DFAF49FB2A5}"/>
          </ac:spMkLst>
        </pc:spChg>
      </pc:sldChg>
      <pc:sldChg chg="modSp new del mod">
        <pc:chgData name="Babcock, Elizabeth A" userId="02b9ec88-22ae-4f16-80a8-fd6316399148" providerId="ADAL" clId="{CFAE71B8-9659-41D1-BF87-D488A69E897D}" dt="2026-09-09T19:33:40.936" v="1264" actId="47"/>
        <pc:sldMkLst>
          <pc:docMk/>
          <pc:sldMk cId="1695554362" sldId="632"/>
        </pc:sldMkLst>
        <pc:spChg chg="mod">
          <ac:chgData name="Babcock, Elizabeth A" userId="02b9ec88-22ae-4f16-80a8-fd6316399148" providerId="ADAL" clId="{CFAE71B8-9659-41D1-BF87-D488A69E897D}" dt="2026-09-09T19:33:36.691" v="1263" actId="20577"/>
          <ac:spMkLst>
            <pc:docMk/>
            <pc:sldMk cId="1695554362" sldId="632"/>
            <ac:spMk id="2" creationId="{58F81112-45B8-5958-EA41-7346F52B1F3A}"/>
          </ac:spMkLst>
        </pc:spChg>
      </pc:sldChg>
      <pc:sldChg chg="modSp new mod">
        <pc:chgData name="Babcock, Elizabeth A" userId="02b9ec88-22ae-4f16-80a8-fd6316399148" providerId="ADAL" clId="{CFAE71B8-9659-41D1-BF87-D488A69E897D}" dt="2026-09-09T21:27:12.563" v="1617" actId="255"/>
        <pc:sldMkLst>
          <pc:docMk/>
          <pc:sldMk cId="321567894" sldId="633"/>
        </pc:sldMkLst>
        <pc:spChg chg="mod">
          <ac:chgData name="Babcock, Elizabeth A" userId="02b9ec88-22ae-4f16-80a8-fd6316399148" providerId="ADAL" clId="{CFAE71B8-9659-41D1-BF87-D488A69E897D}" dt="2026-09-09T20:17:40.021" v="1572" actId="20577"/>
          <ac:spMkLst>
            <pc:docMk/>
            <pc:sldMk cId="321567894" sldId="633"/>
            <ac:spMk id="2" creationId="{B96C6DA8-311C-9885-569D-18958DBF4925}"/>
          </ac:spMkLst>
        </pc:spChg>
        <pc:spChg chg="mod">
          <ac:chgData name="Babcock, Elizabeth A" userId="02b9ec88-22ae-4f16-80a8-fd6316399148" providerId="ADAL" clId="{CFAE71B8-9659-41D1-BF87-D488A69E897D}" dt="2026-09-09T21:27:12.563" v="1617" actId="255"/>
          <ac:spMkLst>
            <pc:docMk/>
            <pc:sldMk cId="321567894" sldId="633"/>
            <ac:spMk id="3" creationId="{290C5342-CCC0-76EE-703D-1E4385E20C71}"/>
          </ac:spMkLst>
        </pc:spChg>
      </pc:sldChg>
      <pc:sldChg chg="modSp new mod">
        <pc:chgData name="Babcock, Elizabeth A" userId="02b9ec88-22ae-4f16-80a8-fd6316399148" providerId="ADAL" clId="{CFAE71B8-9659-41D1-BF87-D488A69E897D}" dt="2026-09-09T21:30:41.166" v="2019" actId="20577"/>
        <pc:sldMkLst>
          <pc:docMk/>
          <pc:sldMk cId="4220758383" sldId="634"/>
        </pc:sldMkLst>
        <pc:spChg chg="mod">
          <ac:chgData name="Babcock, Elizabeth A" userId="02b9ec88-22ae-4f16-80a8-fd6316399148" providerId="ADAL" clId="{CFAE71B8-9659-41D1-BF87-D488A69E897D}" dt="2026-09-09T21:28:58.575" v="1642" actId="20577"/>
          <ac:spMkLst>
            <pc:docMk/>
            <pc:sldMk cId="4220758383" sldId="634"/>
            <ac:spMk id="2" creationId="{2AB0E99A-3DB1-7119-BE95-FB2BED1FCD94}"/>
          </ac:spMkLst>
        </pc:spChg>
        <pc:spChg chg="mod">
          <ac:chgData name="Babcock, Elizabeth A" userId="02b9ec88-22ae-4f16-80a8-fd6316399148" providerId="ADAL" clId="{CFAE71B8-9659-41D1-BF87-D488A69E897D}" dt="2026-09-09T21:30:41.166" v="2019" actId="20577"/>
          <ac:spMkLst>
            <pc:docMk/>
            <pc:sldMk cId="4220758383" sldId="634"/>
            <ac:spMk id="3" creationId="{4FF3143F-F3DE-48CA-CC95-0B8A7B9552A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39" tIns="48220" rIns="96439" bIns="482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6" y="1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39" tIns="48220" rIns="96439" bIns="482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120189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39" tIns="48220" rIns="96439" bIns="482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6" y="9120189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39" tIns="48220" rIns="96439" bIns="482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8F9B399-4941-4D33-B919-ADD13AA1DF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0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238" cy="479425"/>
          </a:xfrm>
          <a:prstGeom prst="rect">
            <a:avLst/>
          </a:prstGeom>
        </p:spPr>
        <p:txBody>
          <a:bodyPr vert="horz" lIns="96439" tIns="48220" rIns="96439" bIns="48220" rtlCol="0"/>
          <a:lstStyle>
            <a:lvl1pPr algn="l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6" y="1"/>
            <a:ext cx="3170238" cy="479425"/>
          </a:xfrm>
          <a:prstGeom prst="rect">
            <a:avLst/>
          </a:prstGeom>
        </p:spPr>
        <p:txBody>
          <a:bodyPr vert="horz" lIns="96439" tIns="48220" rIns="96439" bIns="48220" rtlCol="0"/>
          <a:lstStyle>
            <a:lvl1pPr algn="r">
              <a:defRPr sz="1400"/>
            </a:lvl1pPr>
          </a:lstStyle>
          <a:p>
            <a:pPr>
              <a:defRPr/>
            </a:pPr>
            <a:fld id="{005125B2-2FF6-4676-B2F4-AE337421B62E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8888" y="720725"/>
            <a:ext cx="47974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39" tIns="48220" rIns="96439" bIns="482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9" y="4560888"/>
            <a:ext cx="5851525" cy="4319587"/>
          </a:xfrm>
          <a:prstGeom prst="rect">
            <a:avLst/>
          </a:prstGeom>
        </p:spPr>
        <p:txBody>
          <a:bodyPr vert="horz" lIns="96439" tIns="48220" rIns="96439" bIns="482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120189"/>
            <a:ext cx="3170238" cy="479425"/>
          </a:xfrm>
          <a:prstGeom prst="rect">
            <a:avLst/>
          </a:prstGeom>
        </p:spPr>
        <p:txBody>
          <a:bodyPr vert="horz" lIns="96439" tIns="48220" rIns="96439" bIns="48220" rtlCol="0" anchor="b"/>
          <a:lstStyle>
            <a:lvl1pPr algn="l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6" y="9120189"/>
            <a:ext cx="3170238" cy="479425"/>
          </a:xfrm>
          <a:prstGeom prst="rect">
            <a:avLst/>
          </a:prstGeom>
        </p:spPr>
        <p:txBody>
          <a:bodyPr vert="horz" lIns="96439" tIns="48220" rIns="96439" bIns="48220" rtlCol="0" anchor="b"/>
          <a:lstStyle>
            <a:lvl1pPr algn="r">
              <a:defRPr sz="1400"/>
            </a:lvl1pPr>
          </a:lstStyle>
          <a:p>
            <a:pPr>
              <a:defRPr/>
            </a:pPr>
            <a:fld id="{C2EB341B-458B-4C5C-AC64-B33717B53E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52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9AE571D-7C4C-4F58-82E7-51D2289B8EF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0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1E0A9-D23A-4D9E-8E36-829A8A18E11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89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8DE319F-958F-43D5-B4B2-7BE43ECFA61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93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2EB341B-458B-4C5C-AC64-B33717B53EB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85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46EA79-A6AF-490C-84B6-8C052BF34C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8D43BB-2FF8-4A7A-AB08-B458B7BA54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42157-4021-4B07-B16B-233B2B84D0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668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066800"/>
            <a:ext cx="38100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154915-4267-4044-A80A-5F4D84BB8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DFE774-FF59-49D6-8C5A-DFFE10421C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F925E-9D2E-41E6-8CDC-C6253B1ABB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AE674-A53D-4823-92A6-F479F9989E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5F392-7B99-46E7-B3C5-DFB0D811C9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8FFC8-6781-46E3-AA0B-620A7861B3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0E129D-9BB2-4831-AB82-1511A614D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00" y="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18478-7067-40C5-80C3-E53731A3D3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066800"/>
            <a:ext cx="7772400" cy="49530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FB5C3C-DA6E-4916-89DF-F41397C555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0668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0668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EAF8C6-4F59-4B13-94FD-659CB7A09D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7772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066800"/>
            <a:ext cx="38100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0668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619500"/>
            <a:ext cx="38100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C3EB4-4983-46FB-8C2F-1EF555AF02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0"/>
            <a:ext cx="7772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6800"/>
            <a:ext cx="7772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0D51A8-167E-4FA4-A0F3-E73FE943E5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914400"/>
            <a:ext cx="7772400" cy="1143000"/>
          </a:xfrm>
        </p:spPr>
        <p:txBody>
          <a:bodyPr/>
          <a:lstStyle/>
          <a:p>
            <a:r>
              <a:rPr lang="en-US" sz="3200" dirty="0"/>
              <a:t>MBE 713</a:t>
            </a:r>
            <a:br>
              <a:rPr lang="en-US" sz="3200" dirty="0"/>
            </a:br>
            <a:r>
              <a:rPr lang="en-US" sz="3200" dirty="0"/>
              <a:t>Fisheries stock assessment part 1: Surplus production models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/>
          <a:p>
            <a:r>
              <a:rPr lang="en-US" dirty="0"/>
              <a:t>Elizabeth A. Babcock</a:t>
            </a:r>
          </a:p>
          <a:p>
            <a:r>
              <a:rPr lang="en-US" dirty="0"/>
              <a:t>Marine Biology </a:t>
            </a:r>
            <a:r>
              <a:rPr lang="en-US"/>
              <a:t>and Ecology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5111023"/>
            <a:ext cx="299085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FCD7-8F52-6723-F52C-8380BD184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Fisheries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489F2-D539-B4CD-9C29-61B580F05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biomass is high enough and the catch  low enough that the fishery can be sustained indefinitely.</a:t>
            </a:r>
          </a:p>
          <a:p>
            <a:pPr lvl="1"/>
            <a:r>
              <a:rPr lang="en-US" dirty="0"/>
              <a:t>This point is called the </a:t>
            </a:r>
            <a:r>
              <a:rPr lang="en-US" b="1" dirty="0"/>
              <a:t>target</a:t>
            </a:r>
            <a:r>
              <a:rPr lang="en-US" dirty="0"/>
              <a:t> biomass and fishery mortality rate.</a:t>
            </a:r>
          </a:p>
          <a:p>
            <a:r>
              <a:rPr lang="en-US" dirty="0"/>
              <a:t>Biomass relative to target </a:t>
            </a:r>
            <a:r>
              <a:rPr lang="en-US" i="1" dirty="0"/>
              <a:t>B/</a:t>
            </a:r>
            <a:r>
              <a:rPr lang="en-US" i="1" dirty="0" err="1"/>
              <a:t>B</a:t>
            </a:r>
            <a:r>
              <a:rPr lang="en-US" baseline="-25000" dirty="0" err="1"/>
              <a:t>target</a:t>
            </a:r>
            <a:r>
              <a:rPr lang="en-US" i="1" dirty="0"/>
              <a:t> </a:t>
            </a:r>
            <a:r>
              <a:rPr lang="en-US" dirty="0"/>
              <a:t>and fishing mortality rate relative to target </a:t>
            </a:r>
            <a:r>
              <a:rPr lang="en-US" i="1" dirty="0"/>
              <a:t>F/</a:t>
            </a:r>
            <a:r>
              <a:rPr lang="en-US" i="1" dirty="0" err="1"/>
              <a:t>F</a:t>
            </a:r>
            <a:r>
              <a:rPr lang="en-US" baseline="-25000" dirty="0" err="1"/>
              <a:t>target</a:t>
            </a:r>
            <a:r>
              <a:rPr lang="en-US" i="1" dirty="0"/>
              <a:t>  </a:t>
            </a:r>
            <a:r>
              <a:rPr lang="en-US" dirty="0"/>
              <a:t>are </a:t>
            </a:r>
            <a:r>
              <a:rPr lang="en-US" b="1" dirty="0"/>
              <a:t>indicators</a:t>
            </a:r>
            <a:r>
              <a:rPr lang="en-US" dirty="0"/>
              <a:t> of the </a:t>
            </a:r>
            <a:r>
              <a:rPr lang="en-US" b="1" dirty="0"/>
              <a:t>status</a:t>
            </a:r>
            <a:r>
              <a:rPr lang="en-US" dirty="0"/>
              <a:t> of the fishery. </a:t>
            </a:r>
          </a:p>
        </p:txBody>
      </p:sp>
    </p:spTree>
    <p:extLst>
      <p:ext uri="{BB962C8B-B14F-4D97-AF65-F5344CB8AC3E}">
        <p14:creationId xmlns:p14="http://schemas.microsoft.com/office/powerpoint/2010/main" val="234679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8B75-7F33-5C3F-24DD-1CB566936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Visualized in a Kobe plot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0CBFB6-803D-9CC7-A210-2946AD720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19200"/>
            <a:ext cx="6987565" cy="499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4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1D7CB1-2E44-C2CA-BBA9-0EB554B28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679028"/>
            <a:ext cx="5120663" cy="36576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D43E6B-049C-C1CB-9968-486D54A1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fishery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4524FB-9436-AF65-87A4-F9D342A8D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917" y="1679028"/>
            <a:ext cx="4213883" cy="300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26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24EA-7A80-0132-6EA4-E80FE3E6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Indicators and reference points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8FDC5E-5A72-A991-7F69-B3036BD38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100" y="1342697"/>
            <a:ext cx="4640603" cy="33147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806463-1C80-A2D7-C640-D2DCD6895BB5}"/>
              </a:ext>
            </a:extLst>
          </p:cNvPr>
          <p:cNvSpPr txBox="1"/>
          <p:nvPr/>
        </p:nvSpPr>
        <p:spPr>
          <a:xfrm>
            <a:off x="419100" y="5067316"/>
            <a:ext cx="8153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the US, we have both </a:t>
            </a:r>
            <a:r>
              <a:rPr lang="en-US" b="1" dirty="0"/>
              <a:t>target</a:t>
            </a:r>
            <a:r>
              <a:rPr lang="en-US" dirty="0"/>
              <a:t> and </a:t>
            </a:r>
            <a:r>
              <a:rPr lang="en-US" b="1" dirty="0"/>
              <a:t>limit reference points</a:t>
            </a:r>
            <a:r>
              <a:rPr lang="en-US" dirty="0"/>
              <a:t>, where targets are the goal of management but limits trigger more management action. </a:t>
            </a:r>
          </a:p>
        </p:txBody>
      </p:sp>
    </p:spTree>
    <p:extLst>
      <p:ext uri="{BB962C8B-B14F-4D97-AF65-F5344CB8AC3E}">
        <p14:creationId xmlns:p14="http://schemas.microsoft.com/office/powerpoint/2010/main" val="3169375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B02E-DACB-D7C4-3940-F9CFD790B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protected species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688C6-3D7D-C92E-B72F-88536F371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something like MSY, calculate </a:t>
            </a:r>
            <a:r>
              <a:rPr lang="en-US" b="1" dirty="0"/>
              <a:t>Potential Biological Removal</a:t>
            </a:r>
            <a:r>
              <a:rPr lang="en-US" dirty="0"/>
              <a:t> which is the number that can be killed without jeopardizing recovery (e.g. in bycatch, ship strikes).</a:t>
            </a:r>
          </a:p>
          <a:p>
            <a:r>
              <a:rPr lang="en-US" dirty="0"/>
              <a:t>BPR is a reference point, but not a target or a limit reference point, because the goal is always lower mortality and more recovery</a:t>
            </a:r>
          </a:p>
        </p:txBody>
      </p:sp>
    </p:spTree>
    <p:extLst>
      <p:ext uri="{BB962C8B-B14F-4D97-AF65-F5344CB8AC3E}">
        <p14:creationId xmlns:p14="http://schemas.microsoft.com/office/powerpoint/2010/main" val="962824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E056-5588-2298-0077-D816F6A0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assessment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45AEE-8C50-710E-01E2-4DFAF49F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data poor fisheries some ad-hoc methods based on limited data</a:t>
            </a:r>
          </a:p>
          <a:p>
            <a:r>
              <a:rPr lang="en-US" dirty="0"/>
              <a:t>If catch and an index of abundance, surplus production models</a:t>
            </a:r>
          </a:p>
          <a:p>
            <a:r>
              <a:rPr lang="en-US" dirty="0"/>
              <a:t>With more data, statistical catch at age models</a:t>
            </a:r>
          </a:p>
        </p:txBody>
      </p:sp>
    </p:spTree>
    <p:extLst>
      <p:ext uri="{BB962C8B-B14F-4D97-AF65-F5344CB8AC3E}">
        <p14:creationId xmlns:p14="http://schemas.microsoft.com/office/powerpoint/2010/main" val="1336655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D03E-78F9-424F-B8E9-AE528E910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Surplus production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5902-3B41-4C28-8B6E-02C53F533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Simplest population dynamics model used for stock assessment</a:t>
            </a:r>
          </a:p>
          <a:p>
            <a:r>
              <a:rPr lang="en-US" dirty="0"/>
              <a:t>Often used in data poor fisheries, where size or age composition data is lacking</a:t>
            </a:r>
          </a:p>
          <a:p>
            <a:r>
              <a:rPr lang="en-US" dirty="0"/>
              <a:t>Based on logistic population growth,</a:t>
            </a:r>
          </a:p>
          <a:p>
            <a:r>
              <a:rPr lang="en-US" dirty="0"/>
              <a:t>Can use demographic methods to inform population growth rate (r) parameter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61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38200" y="274638"/>
            <a:ext cx="9982200" cy="487362"/>
          </a:xfrm>
        </p:spPr>
        <p:txBody>
          <a:bodyPr/>
          <a:lstStyle/>
          <a:p>
            <a:r>
              <a:rPr lang="en-US"/>
              <a:t>Fisheries stock assessment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96CB76-AD65-C456-00D4-F07A32B84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3444" y="1295400"/>
            <a:ext cx="8257111" cy="23779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E3A899-29FB-AF54-3A4B-294D6573F7ED}"/>
              </a:ext>
            </a:extLst>
          </p:cNvPr>
          <p:cNvSpPr txBox="1"/>
          <p:nvPr/>
        </p:nvSpPr>
        <p:spPr>
          <a:xfrm>
            <a:off x="762000" y="5486400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Status determination and projections include uncertainty, so we can calculate the probability of meeting a target or avoiding limits</a:t>
            </a:r>
          </a:p>
        </p:txBody>
      </p:sp>
      <p:sp>
        <p:nvSpPr>
          <p:cNvPr id="6" name="Arrow: Curved Up 5">
            <a:extLst>
              <a:ext uri="{FF2B5EF4-FFF2-40B4-BE49-F238E27FC236}">
                <a16:creationId xmlns:a16="http://schemas.microsoft.com/office/drawing/2014/main" id="{7EDF022F-3FA6-489E-C2E4-24774CAE091D}"/>
              </a:ext>
            </a:extLst>
          </p:cNvPr>
          <p:cNvSpPr/>
          <p:nvPr/>
        </p:nvSpPr>
        <p:spPr bwMode="auto">
          <a:xfrm>
            <a:off x="2743200" y="3490773"/>
            <a:ext cx="1524000" cy="517618"/>
          </a:xfrm>
          <a:prstGeom prst="curvedUpArrow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98943F-107E-9BD0-89C1-4F08DD179F75}"/>
              </a:ext>
            </a:extLst>
          </p:cNvPr>
          <p:cNvSpPr txBox="1"/>
          <p:nvPr/>
        </p:nvSpPr>
        <p:spPr>
          <a:xfrm>
            <a:off x="2895600" y="3933559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badi" panose="020B0604020104020204" pitchFamily="34" charset="0"/>
              </a:rPr>
              <a:t>Diagnostics,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0AFA-6C67-F5CC-4281-48D54FC3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B/</a:t>
            </a:r>
            <a:r>
              <a:rPr lang="en-US" dirty="0" err="1"/>
              <a:t>Bmsy</a:t>
            </a:r>
            <a:r>
              <a:rPr lang="en-US" dirty="0"/>
              <a:t> and F/</a:t>
            </a:r>
            <a:r>
              <a:rPr lang="en-US" dirty="0" err="1"/>
              <a:t>Fmsy</a:t>
            </a:r>
            <a:r>
              <a:rPr lang="en-US" dirty="0"/>
              <a:t> for South</a:t>
            </a:r>
            <a:br>
              <a:rPr lang="en-US" dirty="0"/>
            </a:br>
            <a:r>
              <a:rPr lang="en-US" dirty="0"/>
              <a:t>Atlantic Swordfish</a:t>
            </a:r>
          </a:p>
        </p:txBody>
      </p:sp>
      <p:pic>
        <p:nvPicPr>
          <p:cNvPr id="10" name="Content Placeholder 9" descr="A graph of different stages of growth&#10;&#10;AI-generated content may be incorrect.">
            <a:extLst>
              <a:ext uri="{FF2B5EF4-FFF2-40B4-BE49-F238E27FC236}">
                <a16:creationId xmlns:a16="http://schemas.microsoft.com/office/drawing/2014/main" id="{D9A7B914-ADE6-19C5-3735-336593254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9" b="69676"/>
          <a:stretch>
            <a:fillRect/>
          </a:stretch>
        </p:blipFill>
        <p:spPr>
          <a:xfrm>
            <a:off x="-228600" y="1752600"/>
            <a:ext cx="9191291" cy="2667000"/>
          </a:xfrm>
        </p:spPr>
      </p:pic>
    </p:spTree>
    <p:extLst>
      <p:ext uri="{BB962C8B-B14F-4D97-AF65-F5344CB8AC3E}">
        <p14:creationId xmlns:p14="http://schemas.microsoft.com/office/powerpoint/2010/main" val="2019641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4174A-EDE4-D52B-CB2A-D6135477B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Kobe plot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865974-FBFE-FB4A-1CD4-FDB4D9D4AB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76" y="12572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685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ChangeArrowheads="1"/>
          </p:cNvSpPr>
          <p:nvPr/>
        </p:nvSpPr>
        <p:spPr bwMode="auto">
          <a:xfrm>
            <a:off x="1752600" y="278789"/>
            <a:ext cx="5029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/>
            <a:r>
              <a:rPr lang="en-US" sz="3200" b="1" dirty="0">
                <a:solidFill>
                  <a:schemeClr val="tx2"/>
                </a:solidFill>
              </a:rPr>
              <a:t>Surplus production model yield curve </a:t>
            </a:r>
            <a:endParaRPr lang="en-US" sz="4400" b="1" dirty="0">
              <a:solidFill>
                <a:schemeClr val="tx2"/>
              </a:solidFill>
            </a:endParaRPr>
          </a:p>
        </p:txBody>
      </p:sp>
      <p:graphicFrame>
        <p:nvGraphicFramePr>
          <p:cNvPr id="819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3944711"/>
              </p:ext>
            </p:extLst>
          </p:nvPr>
        </p:nvGraphicFramePr>
        <p:xfrm>
          <a:off x="2226850" y="2729035"/>
          <a:ext cx="6917150" cy="359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610291" imgH="1809991" progId="Excel.Sheet.8">
                  <p:embed/>
                </p:oleObj>
              </mc:Choice>
              <mc:Fallback>
                <p:oleObj name="Worksheet" r:id="rId3" imgW="3610291" imgH="1809991" progId="Excel.Sheet.8">
                  <p:embed/>
                  <p:pic>
                    <p:nvPicPr>
                      <p:cNvPr id="819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850" y="2729035"/>
                        <a:ext cx="6917150" cy="3595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D4EC994-C08F-4F7C-B914-D51824127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399935"/>
              </p:ext>
            </p:extLst>
          </p:nvPr>
        </p:nvGraphicFramePr>
        <p:xfrm>
          <a:off x="3505200" y="1828800"/>
          <a:ext cx="4548188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15840" imgH="228600" progId="Equation.3">
                  <p:embed/>
                </p:oleObj>
              </mc:Choice>
              <mc:Fallback>
                <p:oleObj name="Equation" r:id="rId5" imgW="1815840" imgH="228600" progId="Equation.3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D4EC994-C08F-4F7C-B914-D518241271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828800"/>
                        <a:ext cx="4548188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5">
            <a:extLst>
              <a:ext uri="{FF2B5EF4-FFF2-40B4-BE49-F238E27FC236}">
                <a16:creationId xmlns:a16="http://schemas.microsoft.com/office/drawing/2014/main" id="{DD936DF6-EEDC-DF07-478D-F99AA718D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981200"/>
            <a:ext cx="19050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/>
              <a:t>r</a:t>
            </a:r>
            <a:r>
              <a:rPr lang="en-US" dirty="0"/>
              <a:t> is the rate of increase at low population size</a:t>
            </a:r>
            <a:endParaRPr lang="en-US" sz="2000" dirty="0"/>
          </a:p>
          <a:p>
            <a:pPr>
              <a:spcBef>
                <a:spcPct val="50000"/>
              </a:spcBef>
            </a:pPr>
            <a:r>
              <a:rPr lang="en-US" i="1" dirty="0"/>
              <a:t>K</a:t>
            </a:r>
            <a:r>
              <a:rPr lang="en-US" dirty="0"/>
              <a:t> is the unfished population size</a:t>
            </a:r>
          </a:p>
          <a:p>
            <a:pPr>
              <a:spcBef>
                <a:spcPct val="50000"/>
              </a:spcBef>
            </a:pPr>
            <a:r>
              <a:rPr lang="en-US" dirty="0"/>
              <a:t>Biomass B calculated</a:t>
            </a:r>
          </a:p>
          <a:p>
            <a:pPr>
              <a:spcBef>
                <a:spcPct val="50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025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092" y="304800"/>
            <a:ext cx="7772400" cy="990600"/>
          </a:xfrm>
        </p:spPr>
        <p:txBody>
          <a:bodyPr/>
          <a:lstStyle/>
          <a:p>
            <a:r>
              <a:rPr lang="en-US" dirty="0"/>
              <a:t>Swordfish south Atlantic catch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6800" y="6172200"/>
            <a:ext cx="396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JABBA demo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FD09E743-064B-C676-9291-46FE746D1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7025811" cy="5018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65CD4-BBC6-0734-B0BC-FE2CB8E2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Swordfish south Atlantic CPUE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FB0E754-D663-5D91-BF14-4413F32ADE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21871"/>
            <a:ext cx="7543800" cy="5388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5808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9E98-9052-4772-9234-E2418122F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E8A7-2D5F-4396-A15E-361B01B9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variable Biomass (B) is: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Assume CPUE index (I) is proportional to B</a:t>
            </a:r>
          </a:p>
          <a:p>
            <a:endParaRPr lang="en-US" dirty="0"/>
          </a:p>
          <a:p>
            <a:r>
              <a:rPr lang="en-US" dirty="0"/>
              <a:t>Likelihood is</a:t>
            </a:r>
          </a:p>
          <a:p>
            <a:endParaRPr lang="en-US" dirty="0"/>
          </a:p>
          <a:p>
            <a:r>
              <a:rPr lang="en-US" dirty="0"/>
              <a:t>Parameters with priors: r, K, B in the first year and </a:t>
            </a:r>
            <a:r>
              <a:rPr lang="en-US" i="1" dirty="0">
                <a:sym typeface="Symbol" pitchFamily="18" charset="2"/>
              </a:rPr>
              <a:t></a:t>
            </a:r>
            <a:r>
              <a:rPr lang="en-US" i="1" baseline="-25000" dirty="0">
                <a:sym typeface="Symbol" pitchFamily="18" charset="2"/>
              </a:rPr>
              <a:t>j</a:t>
            </a:r>
            <a:r>
              <a:rPr lang="en-US" i="1" baseline="30000" dirty="0">
                <a:sym typeface="Symbol" pitchFamily="18" charset="2"/>
              </a:rPr>
              <a:t>2</a:t>
            </a:r>
            <a:r>
              <a:rPr lang="en-US" dirty="0"/>
              <a:t> and </a:t>
            </a:r>
            <a:r>
              <a:rPr lang="en-US" i="1" dirty="0" err="1"/>
              <a:t>q</a:t>
            </a:r>
            <a:r>
              <a:rPr lang="en-US" i="1" baseline="-25000" dirty="0" err="1"/>
              <a:t>j</a:t>
            </a:r>
            <a:r>
              <a:rPr lang="en-US" dirty="0"/>
              <a:t> for each series. </a:t>
            </a:r>
          </a:p>
          <a:p>
            <a:r>
              <a:rPr lang="en-US" dirty="0"/>
              <a:t>Sigma </a:t>
            </a:r>
            <a:r>
              <a:rPr lang="en-US" i="1" dirty="0">
                <a:sym typeface="Symbol" pitchFamily="18" charset="2"/>
              </a:rPr>
              <a:t> </a:t>
            </a:r>
            <a:r>
              <a:rPr lang="en-US" dirty="0">
                <a:sym typeface="Symbol" pitchFamily="18" charset="2"/>
              </a:rPr>
              <a:t>is called</a:t>
            </a:r>
            <a:r>
              <a:rPr lang="en-US" b="1" dirty="0">
                <a:sym typeface="Symbol" pitchFamily="18" charset="2"/>
              </a:rPr>
              <a:t> Observation error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955692C8-3AB6-4D0E-9497-1AEE228A5E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584251"/>
              </p:ext>
            </p:extLst>
          </p:nvPr>
        </p:nvGraphicFramePr>
        <p:xfrm>
          <a:off x="2819400" y="1573213"/>
          <a:ext cx="454818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5840" imgH="228600" progId="Equation.3">
                  <p:embed/>
                </p:oleObj>
              </mc:Choice>
              <mc:Fallback>
                <p:oleObj name="Equation" r:id="rId2" imgW="1815840" imgH="228600" progId="Equation.3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955692C8-3AB6-4D0E-9497-1AEE228A5E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573213"/>
                        <a:ext cx="4548188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BCD98351-F485-43C0-92E6-2138BC67B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604923"/>
              </p:ext>
            </p:extLst>
          </p:nvPr>
        </p:nvGraphicFramePr>
        <p:xfrm>
          <a:off x="1066800" y="2812562"/>
          <a:ext cx="15144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34680" imgH="228600" progId="Equation.3">
                  <p:embed/>
                </p:oleObj>
              </mc:Choice>
              <mc:Fallback>
                <p:oleObj name="Equation" r:id="rId4" imgW="634680" imgH="228600" progId="Equation.3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BCD98351-F485-43C0-92E6-2138BC67B0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12562"/>
                        <a:ext cx="1514475" cy="546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57C7BA25-EA11-4ED7-A6B0-77D039D517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174529"/>
              </p:ext>
            </p:extLst>
          </p:nvPr>
        </p:nvGraphicFramePr>
        <p:xfrm>
          <a:off x="4343400" y="2842724"/>
          <a:ext cx="200025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38080" imgH="431640" progId="Equation.3">
                  <p:embed/>
                </p:oleObj>
              </mc:Choice>
              <mc:Fallback>
                <p:oleObj name="Equation" r:id="rId6" imgW="838080" imgH="431640" progId="Equation.3">
                  <p:embed/>
                  <p:pic>
                    <p:nvPicPr>
                      <p:cNvPr id="6" name="Object 6">
                        <a:extLst>
                          <a:ext uri="{FF2B5EF4-FFF2-40B4-BE49-F238E27FC236}">
                            <a16:creationId xmlns:a16="http://schemas.microsoft.com/office/drawing/2014/main" id="{57C7BA25-EA11-4ED7-A6B0-77D039D517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842724"/>
                        <a:ext cx="2000250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">
            <a:extLst>
              <a:ext uri="{FF2B5EF4-FFF2-40B4-BE49-F238E27FC236}">
                <a16:creationId xmlns:a16="http://schemas.microsoft.com/office/drawing/2014/main" id="{3964E55C-3F94-445E-99C7-A520461AC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127678"/>
            <a:ext cx="426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 dirty="0" err="1"/>
              <a:t>I</a:t>
            </a:r>
            <a:r>
              <a:rPr lang="en-US" i="1" baseline="-25000" dirty="0" err="1"/>
              <a:t>j</a:t>
            </a:r>
            <a:r>
              <a:rPr lang="en-US" dirty="0"/>
              <a:t> ~lognormal(</a:t>
            </a:r>
            <a:r>
              <a:rPr lang="en-US" i="1" dirty="0" err="1"/>
              <a:t>q</a:t>
            </a:r>
            <a:r>
              <a:rPr lang="en-US" i="1" baseline="-25000" dirty="0" err="1"/>
              <a:t>j</a:t>
            </a:r>
            <a:r>
              <a:rPr lang="en-US" i="1" dirty="0" err="1"/>
              <a:t>B</a:t>
            </a:r>
            <a:r>
              <a:rPr lang="en-US" i="1" baseline="-25000" dirty="0" err="1"/>
              <a:t>t</a:t>
            </a:r>
            <a:r>
              <a:rPr lang="en-US" i="1" dirty="0"/>
              <a:t>  , </a:t>
            </a:r>
            <a:r>
              <a:rPr lang="en-US" i="1" dirty="0">
                <a:sym typeface="Symbol" pitchFamily="18" charset="2"/>
              </a:rPr>
              <a:t></a:t>
            </a:r>
            <a:r>
              <a:rPr lang="en-US" dirty="0">
                <a:sym typeface="Symbol" pitchFamily="18" charset="2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822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4592F-8162-4BC5-9F3C-73797469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process error to state variable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CD274-802E-4B01-B8EB-8BF89C5FBE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066800"/>
                <a:ext cx="8991600" cy="4953000"/>
              </a:xfrm>
            </p:spPr>
            <p:txBody>
              <a:bodyPr/>
              <a:lstStyle/>
              <a:p>
                <a:r>
                  <a:rPr lang="en-US" sz="2800" b="1" dirty="0"/>
                  <a:t>Process Error</a:t>
                </a:r>
                <a:r>
                  <a:rPr lang="en-US" sz="2800" dirty="0"/>
                  <a:t> means biomass is not exactly what the population dynamics model calculates.  </a:t>
                </a:r>
              </a:p>
              <a:p>
                <a:r>
                  <a:rPr lang="en-US" sz="2800" dirty="0"/>
                  <a:t>Biomass in each year is lognormally distributed around prediction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𝑙𝑜𝑔𝑛𝑜𝑟𝑚𝑎𝑙</m:t>
                    </m:r>
                    <m:d>
                      <m:dPr>
                        <m:ctrlPr>
                          <a:rPr lang="en-US" sz="28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den>
                            </m:f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), 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𝑝𝑟𝑜𝑐𝑐𝑒𝑠𝑠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dirty="0"/>
                  <a:t>B is a </a:t>
                </a:r>
                <a:r>
                  <a:rPr lang="en-US" sz="2800" b="1" dirty="0"/>
                  <a:t>random variable</a:t>
                </a:r>
                <a:r>
                  <a:rPr lang="en-US" sz="2800" dirty="0"/>
                  <a:t>, the surplus production model produces the estimated median in each year, and the realized value is a lognormal deviate </a:t>
                </a:r>
              </a:p>
              <a:p>
                <a:r>
                  <a:rPr lang="en-US" sz="2800" dirty="0"/>
                  <a:t>Process error variance can by fixed or constrained with a prior, or set to some fraction of the error variance, because it is difficult to estimate. </a:t>
                </a:r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CD274-802E-4B01-B8EB-8BF89C5FBE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66800"/>
                <a:ext cx="8991600" cy="4953000"/>
              </a:xfrm>
              <a:blipFill>
                <a:blip r:embed="rId2"/>
                <a:stretch>
                  <a:fillRect l="-1220" t="-1230" r="-746" b="-12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983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3DDBE-5120-1579-DF30-72849350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ED925-35E2-9DE3-4321-967BE0CBE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Bayesian statistics use prior information to constrain the values of parameters in plausible bounds</a:t>
            </a:r>
          </a:p>
          <a:p>
            <a:r>
              <a:rPr lang="en-US" dirty="0"/>
              <a:t>Most modern fisheries stock assessment models do this is some way, because we have biological information</a:t>
            </a:r>
          </a:p>
          <a:p>
            <a:pPr lvl="1"/>
            <a:r>
              <a:rPr lang="en-US" dirty="0"/>
              <a:t>K and r must be in a range of plausible values, or the population would be either extinct or exploding in size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863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E4F41-055E-DDAC-0EDF-CC21400F8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6664-4D38-F236-393B-99979FFDA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86083-530D-C4B0-A4DC-69A70F0F3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Bayesian models define parameter uncertainty as a probability density function (pdf). </a:t>
            </a:r>
          </a:p>
          <a:p>
            <a:r>
              <a:rPr lang="en-US" dirty="0"/>
              <a:t>The pdf of a parameter before the model is fitted to data is called the </a:t>
            </a:r>
            <a:r>
              <a:rPr lang="en-US" b="1" dirty="0"/>
              <a:t>prior</a:t>
            </a:r>
          </a:p>
          <a:p>
            <a:r>
              <a:rPr lang="en-US" dirty="0"/>
              <a:t>The priors are multiplied by the likelihood of the data given the parameters to get the </a:t>
            </a:r>
            <a:r>
              <a:rPr lang="en-US" b="1" dirty="0"/>
              <a:t>posterior</a:t>
            </a:r>
          </a:p>
          <a:p>
            <a:r>
              <a:rPr lang="en-US" b="1" dirty="0"/>
              <a:t>Posterior=prior*likelihood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11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EA22-3970-570E-4912-9A982284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to estimate a normal mean</a:t>
            </a:r>
            <a:br>
              <a:rPr lang="en-US" dirty="0"/>
            </a:br>
            <a:r>
              <a:rPr lang="en-US" dirty="0"/>
              <a:t>with informative prior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ED17F39-2C6B-0E03-2302-08114BAD9D7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76" y="1257283"/>
            <a:ext cx="6880885" cy="491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8706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9809-B6E6-90A2-0AEB-B183DE633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a vague prior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12FDE67-876A-2ACB-1C02-54A4B34859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15" y="1257283"/>
            <a:ext cx="7414285" cy="5295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307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8974-2220-6D47-5AC3-ADADD91F3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F2D10-8EBA-F328-6AA6-9C49B4A7B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log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D8729A-83D7-73E7-A6F6-9797C2FA4F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066800"/>
                <a:ext cx="8305800" cy="4953000"/>
              </a:xfrm>
            </p:spPr>
            <p:txBody>
              <a:bodyPr/>
              <a:lstStyle/>
              <a:p>
                <a:r>
                  <a:rPr lang="en-US" dirty="0"/>
                  <a:t>Log-posterior of parameters is </a:t>
                </a:r>
              </a:p>
              <a:p>
                <a:r>
                  <a:rPr lang="en-US" dirty="0"/>
                  <a:t>   log(posterior) = log(prior) + log(likelihood)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D8729A-83D7-73E7-A6F6-9797C2FA4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066800"/>
                <a:ext cx="8305800" cy="4953000"/>
              </a:xfrm>
              <a:blipFill>
                <a:blip r:embed="rId2"/>
                <a:stretch>
                  <a:fillRect l="-1614" t="-1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931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DB9E-DB2E-5149-9F4D-196A5C39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production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779B7-A336-5BD1-19D4-98DE24634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14400"/>
            <a:ext cx="8534400" cy="5105400"/>
          </a:xfrm>
        </p:spPr>
        <p:txBody>
          <a:bodyPr/>
          <a:lstStyle/>
          <a:p>
            <a:r>
              <a:rPr lang="en-US" dirty="0"/>
              <a:t>Log-posterior of parameters is </a:t>
            </a:r>
          </a:p>
          <a:p>
            <a:pPr marL="0" indent="0">
              <a:buNone/>
            </a:pPr>
            <a:r>
              <a:rPr lang="en-US" dirty="0"/>
              <a:t>log(posterior) = log(likelihood)+log(Prior-r) 	+log(Prior-K)+log(Prior-B0/K)+log(Prior-q) 	+log(prior-sigma)</a:t>
            </a:r>
          </a:p>
          <a:p>
            <a:r>
              <a:rPr lang="en-US" dirty="0"/>
              <a:t>Calculations are done using a numerical integration process called Markov Chain Monte Carlo (MCMC)</a:t>
            </a:r>
          </a:p>
          <a:p>
            <a:r>
              <a:rPr lang="en-US" dirty="0"/>
              <a:t>For Bayesian models</a:t>
            </a:r>
          </a:p>
          <a:p>
            <a:pPr lvl="1"/>
            <a:r>
              <a:rPr lang="en-US" dirty="0"/>
              <a:t>define the priors.</a:t>
            </a:r>
          </a:p>
          <a:p>
            <a:pPr lvl="1"/>
            <a:r>
              <a:rPr lang="en-US" dirty="0"/>
              <a:t>Make sure MCMC has converged on the final posterior distribution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294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5BC98-6767-5A43-45A2-6A02575D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95B6D-8791-71B0-408B-9A1E2CA68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38200"/>
            <a:ext cx="8610600" cy="5638800"/>
          </a:xfrm>
        </p:spPr>
        <p:txBody>
          <a:bodyPr/>
          <a:lstStyle/>
          <a:p>
            <a:r>
              <a:rPr lang="en-US" sz="2800" dirty="0"/>
              <a:t>Define the model setup</a:t>
            </a:r>
          </a:p>
          <a:p>
            <a:pPr lvl="1"/>
            <a:r>
              <a:rPr lang="en-US" sz="2400" dirty="0"/>
              <a:t>Distributions to use for likelihood and priors</a:t>
            </a:r>
          </a:p>
          <a:p>
            <a:pPr lvl="1"/>
            <a:r>
              <a:rPr lang="en-US" sz="2400" dirty="0"/>
              <a:t>Prior mean and </a:t>
            </a:r>
            <a:r>
              <a:rPr lang="en-US" sz="2400" dirty="0" err="1"/>
              <a:t>sd</a:t>
            </a:r>
            <a:r>
              <a:rPr lang="en-US" sz="2400" dirty="0"/>
              <a:t> values, MCMC settings </a:t>
            </a:r>
          </a:p>
          <a:p>
            <a:r>
              <a:rPr lang="en-US" sz="2800" dirty="0"/>
              <a:t>Run MCMC and check for convergence</a:t>
            </a:r>
          </a:p>
          <a:p>
            <a:pPr lvl="1"/>
            <a:r>
              <a:rPr lang="en-US" sz="2400" dirty="0"/>
              <a:t>Parameter estimates should oscillate around mean in each MCMC chain, smooth posterior density plots</a:t>
            </a:r>
          </a:p>
          <a:p>
            <a:r>
              <a:rPr lang="en-US" sz="2800" dirty="0"/>
              <a:t>Check for model fit and adequacy</a:t>
            </a:r>
          </a:p>
          <a:p>
            <a:pPr lvl="1"/>
            <a:r>
              <a:rPr lang="en-US" sz="2400" dirty="0"/>
              <a:t>Residuals, posterior predictive checks, etc.</a:t>
            </a:r>
          </a:p>
          <a:p>
            <a:r>
              <a:rPr lang="en-US" sz="2800" dirty="0"/>
              <a:t>Use a sample from the posterior (called MCMC draws) to calculate posterior density plots, means, standard deviations, quantiles, etc.</a:t>
            </a:r>
          </a:p>
          <a:p>
            <a:r>
              <a:rPr lang="en-US" sz="2800" dirty="0"/>
              <a:t>Project into the future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01776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4623B-CA85-7C64-11E0-C8DD5988A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Kinds of priors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396B8-0102-FCFD-89D4-113632C5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Vague or diffuse, widely distributed so they don’t influence the output much</a:t>
            </a:r>
          </a:p>
          <a:p>
            <a:r>
              <a:rPr lang="en-US" dirty="0"/>
              <a:t>Informative, based on data such as</a:t>
            </a:r>
          </a:p>
          <a:p>
            <a:pPr lvl="1"/>
            <a:r>
              <a:rPr lang="en-US" dirty="0"/>
              <a:t>Population biology (number of births, deaths, etc.)</a:t>
            </a:r>
          </a:p>
          <a:p>
            <a:pPr lvl="1"/>
            <a:r>
              <a:rPr lang="en-US" dirty="0"/>
              <a:t>Information on expected total magnitude of the population from catches</a:t>
            </a:r>
          </a:p>
          <a:p>
            <a:pPr lvl="1"/>
            <a:r>
              <a:rPr lang="en-US" dirty="0"/>
              <a:t>Comparison with other populations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253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0542-D7F4-FD75-CCC4-58105BE17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production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5E55-63DB-663F-9A3B-843A65B1E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Mean and </a:t>
            </a:r>
            <a:r>
              <a:rPr lang="en-US" dirty="0" err="1"/>
              <a:t>sd</a:t>
            </a:r>
            <a:r>
              <a:rPr lang="en-US" dirty="0"/>
              <a:t> for r can come from demographic analysis</a:t>
            </a:r>
          </a:p>
          <a:p>
            <a:r>
              <a:rPr lang="en-US" dirty="0"/>
              <a:t>K is probably not much more than 10 times the total catch over the time series</a:t>
            </a:r>
          </a:p>
          <a:p>
            <a:r>
              <a:rPr lang="en-US" dirty="0"/>
              <a:t>B0 is centered on K if the data go back to the beginning of the fishery</a:t>
            </a:r>
          </a:p>
          <a:p>
            <a:r>
              <a:rPr lang="en-US" dirty="0"/>
              <a:t>Weakly informative values for q, sigma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62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2E99CD-3D76-1A0A-31D1-70054563E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B803076-6005-9A61-F235-CC33DA99A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513"/>
            <a:ext cx="9144000" cy="65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302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4A71F-C34B-6EFE-A0E2-1DC0E394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0C52467E-E95E-786D-8CE6-9CF195BF3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513"/>
            <a:ext cx="9144000" cy="65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7949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B595C9-9955-CBE4-B188-F5044EAD3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CCFE5CD-E426-D141-F837-721105157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513"/>
            <a:ext cx="9144000" cy="65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286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0E99A-3DB1-7119-BE95-FB2BED1FC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of uncertainty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3143F-F3DE-48CA-CC95-0B8A7B95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Bayesian method works by drawing a random sample of the posterior distribution</a:t>
            </a:r>
          </a:p>
          <a:p>
            <a:r>
              <a:rPr lang="en-US" dirty="0"/>
              <a:t>Each random draw is one trajectory of the population.  </a:t>
            </a:r>
          </a:p>
          <a:p>
            <a:r>
              <a:rPr lang="en-US" dirty="0"/>
              <a:t>The credible interval of B/</a:t>
            </a:r>
            <a:r>
              <a:rPr lang="en-US" dirty="0" err="1"/>
              <a:t>Bmsy</a:t>
            </a:r>
            <a:r>
              <a:rPr lang="en-US" dirty="0"/>
              <a:t>, etc. is the 2.5% and 97.5 quantiles of the posterior</a:t>
            </a:r>
          </a:p>
          <a:p>
            <a:r>
              <a:rPr lang="en-US" dirty="0"/>
              <a:t>Probabilities, e.g. P(B&gt;</a:t>
            </a:r>
            <a:r>
              <a:rPr lang="en-US" dirty="0" err="1"/>
              <a:t>Bmsy</a:t>
            </a:r>
            <a:r>
              <a:rPr lang="en-US" dirty="0"/>
              <a:t>) is fraction of random draws where B&gt;</a:t>
            </a:r>
            <a:r>
              <a:rPr lang="en-US" dirty="0" err="1"/>
              <a:t>Bmsy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758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FC328-F474-7CE3-A12B-176BAA0D7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JABBA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122B92-917D-2156-4365-D9D12DB42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295400"/>
            <a:ext cx="7772400" cy="262475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77ADB1-10F9-E14C-0E06-084123C5500A}"/>
              </a:ext>
            </a:extLst>
          </p:cNvPr>
          <p:cNvSpPr txBox="1"/>
          <p:nvPr/>
        </p:nvSpPr>
        <p:spPr>
          <a:xfrm>
            <a:off x="762000" y="4419600"/>
            <a:ext cx="655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https://github.com/jabbamodel/JABBA</a:t>
            </a:r>
          </a:p>
        </p:txBody>
      </p:sp>
    </p:spTree>
    <p:extLst>
      <p:ext uri="{BB962C8B-B14F-4D97-AF65-F5344CB8AC3E}">
        <p14:creationId xmlns:p14="http://schemas.microsoft.com/office/powerpoint/2010/main" val="881687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07538-EEA7-5BED-365C-89F62F70D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JABBA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C2543-993E-A02B-CB42-F3E0DB8DC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JABBA is an R package that runs a Bayesian surplus production model in a Bayesian MCMC program called JAGS.</a:t>
            </a:r>
          </a:p>
          <a:p>
            <a:r>
              <a:rPr lang="en-US" dirty="0"/>
              <a:t>JABBA is widely use for stock assessment</a:t>
            </a:r>
          </a:p>
          <a:p>
            <a:r>
              <a:rPr lang="en-US" dirty="0"/>
              <a:t>It has default priors and settings built in, but you should enter your own. </a:t>
            </a:r>
          </a:p>
          <a:p>
            <a:r>
              <a:rPr lang="en-US" dirty="0"/>
              <a:t>JABBA has functions to make a lot of plots and diagnostic checks, do projections, etc. </a:t>
            </a:r>
          </a:p>
        </p:txBody>
      </p:sp>
    </p:spTree>
    <p:extLst>
      <p:ext uri="{BB962C8B-B14F-4D97-AF65-F5344CB8AC3E}">
        <p14:creationId xmlns:p14="http://schemas.microsoft.com/office/powerpoint/2010/main" val="419049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04836-D9F3-C55C-4F50-9CE06901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JABBA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6B0DF-D8F9-8A1E-7284-4811E0E1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build_jabba</a:t>
            </a:r>
            <a:r>
              <a:rPr lang="en-US" dirty="0"/>
              <a:t>() sets up all the inputs</a:t>
            </a:r>
          </a:p>
          <a:p>
            <a:r>
              <a:rPr lang="en-US" dirty="0" err="1"/>
              <a:t>fit_jabba</a:t>
            </a:r>
            <a:r>
              <a:rPr lang="en-US" dirty="0"/>
              <a:t>()  runs the JAGS MCMC</a:t>
            </a:r>
          </a:p>
          <a:p>
            <a:r>
              <a:rPr lang="en-US" dirty="0" err="1"/>
              <a:t>fw_jabba</a:t>
            </a:r>
            <a:r>
              <a:rPr lang="en-US" dirty="0"/>
              <a:t>() does forward projections</a:t>
            </a:r>
          </a:p>
          <a:p>
            <a:r>
              <a:rPr lang="en-US" dirty="0" err="1"/>
              <a:t>hindcast_jabba</a:t>
            </a:r>
            <a:r>
              <a:rPr lang="en-US" dirty="0"/>
              <a:t> does hindcast cross-validation and retrospective analysis</a:t>
            </a:r>
          </a:p>
          <a:p>
            <a:r>
              <a:rPr lang="en-US" dirty="0" err="1"/>
              <a:t>jbplot</a:t>
            </a:r>
            <a:r>
              <a:rPr lang="en-US" dirty="0"/>
              <a:t>_[plot type] functions do a lot of plots and summaries. </a:t>
            </a:r>
          </a:p>
        </p:txBody>
      </p:sp>
    </p:spTree>
    <p:extLst>
      <p:ext uri="{BB962C8B-B14F-4D97-AF65-F5344CB8AC3E}">
        <p14:creationId xmlns:p14="http://schemas.microsoft.com/office/powerpoint/2010/main" val="14617033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02AA-5DE1-9014-38E3-64C9461F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MCMC convergence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0F0028F-80C3-DB13-38BA-DC2C523700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76" y="12572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B9DD37-AC30-0321-7EE9-83C90C0A1A17}"/>
              </a:ext>
            </a:extLst>
          </p:cNvPr>
          <p:cNvSpPr txBox="1"/>
          <p:nvPr/>
        </p:nvSpPr>
        <p:spPr>
          <a:xfrm>
            <a:off x="4876800" y="5867400"/>
            <a:ext cx="289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Should oscillate with no pattern</a:t>
            </a:r>
          </a:p>
        </p:txBody>
      </p:sp>
    </p:spTree>
    <p:extLst>
      <p:ext uri="{BB962C8B-B14F-4D97-AF65-F5344CB8AC3E}">
        <p14:creationId xmlns:p14="http://schemas.microsoft.com/office/powerpoint/2010/main" val="1543032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0576-4F65-D5AC-2C41-0E20D837A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prior and posterior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8B187A82-D68A-5BEA-8BA6-DBFE3E2EA5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26" y="838200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679C5B-A233-5C56-4040-6D9F5202FB21}"/>
              </a:ext>
            </a:extLst>
          </p:cNvPr>
          <p:cNvSpPr txBox="1"/>
          <p:nvPr/>
        </p:nvSpPr>
        <p:spPr>
          <a:xfrm>
            <a:off x="753292" y="5417436"/>
            <a:ext cx="7400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Should look smooth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Notice the difference between prior and posterior</a:t>
            </a:r>
          </a:p>
        </p:txBody>
      </p:sp>
    </p:spTree>
    <p:extLst>
      <p:ext uri="{BB962C8B-B14F-4D97-AF65-F5344CB8AC3E}">
        <p14:creationId xmlns:p14="http://schemas.microsoft.com/office/powerpoint/2010/main" val="812208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11C7-6597-3CDB-645A-B0A97C90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 predictive checks</a:t>
            </a:r>
          </a:p>
        </p:txBody>
      </p:sp>
      <p:pic>
        <p:nvPicPr>
          <p:cNvPr id="7" name="Content Placeholder 6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9829127B-FC79-6462-3F45-C02A229E0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0" y="1143000"/>
            <a:ext cx="4782468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74B849-2B09-3ED2-25F6-8AB2B8AE0077}"/>
              </a:ext>
            </a:extLst>
          </p:cNvPr>
          <p:cNvSpPr txBox="1"/>
          <p:nvPr/>
        </p:nvSpPr>
        <p:spPr>
          <a:xfrm>
            <a:off x="5715000" y="1219200"/>
            <a:ext cx="2819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Compares squared standardized residuals (Realized) to the same from data simulated from the model (Predicted).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Should be even spread around line, with the fraction of points above the line p=0.5</a:t>
            </a:r>
          </a:p>
        </p:txBody>
      </p:sp>
    </p:spTree>
    <p:extLst>
      <p:ext uri="{BB962C8B-B14F-4D97-AF65-F5344CB8AC3E}">
        <p14:creationId xmlns:p14="http://schemas.microsoft.com/office/powerpoint/2010/main" val="1142099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90E6-8100-9091-9687-1BDB1FA2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Runs test on residuals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B480E71-8140-FDB3-7E13-7E7C8DA775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29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53707E-4594-23EE-D9BD-65A953869D8D}"/>
              </a:ext>
            </a:extLst>
          </p:cNvPr>
          <p:cNvSpPr txBox="1"/>
          <p:nvPr/>
        </p:nvSpPr>
        <p:spPr>
          <a:xfrm>
            <a:off x="5410200" y="5029200"/>
            <a:ext cx="320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Checks for patterns or outliers in residuals.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Green is good</a:t>
            </a:r>
          </a:p>
        </p:txBody>
      </p:sp>
    </p:spTree>
    <p:extLst>
      <p:ext uri="{BB962C8B-B14F-4D97-AF65-F5344CB8AC3E}">
        <p14:creationId xmlns:p14="http://schemas.microsoft.com/office/powerpoint/2010/main" val="2421186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274C-5D47-A65C-953F-8050BB870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6A386-7F68-D64C-EF8E-366C7761B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Re-fit the model ending, 1 year earlier, 2 years earlier, etc.  Look for consistent trends</a:t>
            </a:r>
          </a:p>
          <a:p>
            <a:r>
              <a:rPr lang="en-US" dirty="0"/>
              <a:t>Sometimes assessments will consistently over or underestimate current biomass, biasing management advice.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035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85E70-585D-B302-1290-7C7ECA4F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Retrospective (back 1-5 years)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C8123910-A89B-F872-70BD-AC53B4A75D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39603"/>
            <a:ext cx="7307605" cy="521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D6E324-1AFC-A9F4-63C8-70731571A492}"/>
              </a:ext>
            </a:extLst>
          </p:cNvPr>
          <p:cNvSpPr txBox="1"/>
          <p:nvPr/>
        </p:nvSpPr>
        <p:spPr>
          <a:xfrm>
            <a:off x="6135089" y="6172200"/>
            <a:ext cx="1705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red flags</a:t>
            </a:r>
          </a:p>
        </p:txBody>
      </p:sp>
    </p:spTree>
    <p:extLst>
      <p:ext uri="{BB962C8B-B14F-4D97-AF65-F5344CB8AC3E}">
        <p14:creationId xmlns:p14="http://schemas.microsoft.com/office/powerpoint/2010/main" val="12274025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577E-CB38-6A9F-F543-65B04D53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Hindcast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EB3A2-604F-11DF-B445-1EAD3B292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Cross-validation means </a:t>
            </a:r>
          </a:p>
          <a:p>
            <a:pPr lvl="1"/>
            <a:r>
              <a:rPr lang="en-US" dirty="0"/>
              <a:t>Fit the model to only some of the data (training data)</a:t>
            </a:r>
          </a:p>
          <a:p>
            <a:pPr lvl="1"/>
            <a:r>
              <a:rPr lang="en-US" dirty="0"/>
              <a:t>Use the model to predict the left out data (test data)</a:t>
            </a:r>
          </a:p>
          <a:p>
            <a:pPr lvl="1"/>
            <a:r>
              <a:rPr lang="en-US" dirty="0"/>
              <a:t>Calculate how well model predicts the test data</a:t>
            </a:r>
          </a:p>
          <a:p>
            <a:r>
              <a:rPr lang="en-US" dirty="0"/>
              <a:t>Hindcast cross validation predicts last 1-5 years of CPUE from the data up to the previous year (same runs as retrospective)</a:t>
            </a:r>
          </a:p>
        </p:txBody>
      </p:sp>
    </p:spTree>
    <p:extLst>
      <p:ext uri="{BB962C8B-B14F-4D97-AF65-F5344CB8AC3E}">
        <p14:creationId xmlns:p14="http://schemas.microsoft.com/office/powerpoint/2010/main" val="25288770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4455-A84C-2EA7-A91C-EB861822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Hindcast cross-validation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808E74AC-1FD3-156E-05B2-916ED294E2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7200925" cy="514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8ED56A-E0AF-0700-F2C6-A7E8169C2D83}"/>
              </a:ext>
            </a:extLst>
          </p:cNvPr>
          <p:cNvSpPr txBox="1"/>
          <p:nvPr/>
        </p:nvSpPr>
        <p:spPr>
          <a:xfrm>
            <a:off x="4876800" y="5105400"/>
            <a:ext cx="388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Lines are predictions, circles are real CPUE data</a:t>
            </a:r>
          </a:p>
          <a:p>
            <a:r>
              <a:rPr lang="en-US" dirty="0"/>
              <a:t>No obvious patterns</a:t>
            </a:r>
          </a:p>
        </p:txBody>
      </p:sp>
    </p:spTree>
    <p:extLst>
      <p:ext uri="{BB962C8B-B14F-4D97-AF65-F5344CB8AC3E}">
        <p14:creationId xmlns:p14="http://schemas.microsoft.com/office/powerpoint/2010/main" val="34853782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4977B-FD38-EF73-2037-AEE5F714E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1BF2-AE89-4BAB-A7B9-475EA9FD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Kobe plot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57963C-5513-E724-A761-50E7F33EAB9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76" y="12572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1050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90ECB-9578-B1D8-3F9C-38BC03B70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graph of different stages of growth&#10;&#10;AI-generated content may be incorrect.">
            <a:extLst>
              <a:ext uri="{FF2B5EF4-FFF2-40B4-BE49-F238E27FC236}">
                <a16:creationId xmlns:a16="http://schemas.microsoft.com/office/drawing/2014/main" id="{49AD4DAD-936E-27D3-0461-9384F6526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9" b="5353"/>
          <a:stretch>
            <a:fillRect/>
          </a:stretch>
        </p:blipFill>
        <p:spPr>
          <a:xfrm>
            <a:off x="762000" y="254446"/>
            <a:ext cx="7010400" cy="6349107"/>
          </a:xfrm>
        </p:spPr>
      </p:pic>
    </p:spTree>
    <p:extLst>
      <p:ext uri="{BB962C8B-B14F-4D97-AF65-F5344CB8AC3E}">
        <p14:creationId xmlns:p14="http://schemas.microsoft.com/office/powerpoint/2010/main" val="29428513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D77B-70E0-BF36-7D6A-3A83AD4CD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Projections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2D40163-321E-2877-3EC2-F9C6AE348C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376" y="1257283"/>
            <a:ext cx="6400847" cy="4572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410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2854-B4E9-161E-94CC-A68FB330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Pella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71F62-B8F5-2EA9-B2C1-23C59C66C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Pella Tomlinson model allows for the shape of the yield curve to be asymmetric. </a:t>
            </a:r>
            <a:r>
              <a:rPr lang="en-US" dirty="0" err="1"/>
              <a:t>Bmsy</a:t>
            </a:r>
            <a:r>
              <a:rPr lang="en-US" dirty="0"/>
              <a:t>/K is either fixed or an estimated parameter</a:t>
            </a:r>
          </a:p>
          <a:p>
            <a:r>
              <a:rPr lang="en-US" dirty="0"/>
              <a:t>Commonly used in assessment because it is more flexible.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885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68FBC-2765-479F-CC68-B1B422667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Pella yield curve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0020AB-146E-AE1C-457E-34316F326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7772400" cy="555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0660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B0CC-00BC-5571-714E-10049FC7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Pella vs. Schaefer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229FD22-89FD-E935-8A82-9EB958F30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27611"/>
            <a:ext cx="7709592" cy="4763589"/>
          </a:xfrm>
        </p:spPr>
      </p:pic>
    </p:spTree>
    <p:extLst>
      <p:ext uri="{BB962C8B-B14F-4D97-AF65-F5344CB8AC3E}">
        <p14:creationId xmlns:p14="http://schemas.microsoft.com/office/powerpoint/2010/main" val="9322958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6DA8-311C-9885-569D-18958DBF4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C5342-CCC0-76EE-703D-1E4385E20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7924800" cy="5257800"/>
          </a:xfrm>
        </p:spPr>
        <p:txBody>
          <a:bodyPr/>
          <a:lstStyle/>
          <a:p>
            <a:r>
              <a:rPr lang="en-US" sz="2000" dirty="0"/>
              <a:t>Winker, H., Carvalho, F., and Kapur, M.. 2018. JABBA: Just Another Bayesian Biomass Assessment. Fish. Res. 204:275–288. https://doi.org/10.1016/j.fishres.2018.03.010 </a:t>
            </a:r>
          </a:p>
          <a:p>
            <a:r>
              <a:rPr lang="en-US" sz="2000" dirty="0"/>
              <a:t>Carvalho, F., Winker, H., Courtney, D., Kapur, M., Kell, L., Cardinale, M., Schirripa, M., </a:t>
            </a:r>
            <a:r>
              <a:rPr lang="en-US" sz="2000" dirty="0" err="1"/>
              <a:t>Kitakado</a:t>
            </a:r>
            <a:r>
              <a:rPr lang="en-US" sz="2000" dirty="0"/>
              <a:t>, T., Yemane, D., Piner, K. R., Maunder, M. N., Taylor, I., Wetzel, C. R., Doering, K., Johnson, K. F., and Methot, R. D. 2021. A cookbook for using model diagnostics in integrated stock assessments. Fish. Res. 240:105959. https://doi.org/10.1016/j.fishres.2021.105959 </a:t>
            </a:r>
          </a:p>
          <a:p>
            <a:r>
              <a:rPr lang="en-US" sz="2000" dirty="0"/>
              <a:t>Babcock, E. A. 2026. Bayesian production models applied to north </a:t>
            </a:r>
            <a:r>
              <a:rPr lang="en-US" sz="2000" dirty="0" err="1"/>
              <a:t>atlantic</a:t>
            </a:r>
            <a:r>
              <a:rPr lang="en-US" sz="2000" dirty="0"/>
              <a:t> mako sharks using JABBA and JABBA-Select, updated in 2026. Col. Vol. Sci. Pap. ICCAT, 83(7), SCRS/2026/149: 1-23 (2026)</a:t>
            </a:r>
          </a:p>
        </p:txBody>
      </p:sp>
    </p:spTree>
    <p:extLst>
      <p:ext uri="{BB962C8B-B14F-4D97-AF65-F5344CB8AC3E}">
        <p14:creationId xmlns:p14="http://schemas.microsoft.com/office/powerpoint/2010/main" val="32156789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15378</TotalTime>
  <Words>1520</Words>
  <Application>Microsoft Office PowerPoint</Application>
  <PresentationFormat>On-screen Show (4:3)</PresentationFormat>
  <Paragraphs>156</Paragraphs>
  <Slides>47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Abadi</vt:lpstr>
      <vt:lpstr>Arial</vt:lpstr>
      <vt:lpstr>Calibri</vt:lpstr>
      <vt:lpstr>Cambria Math</vt:lpstr>
      <vt:lpstr>Symbol</vt:lpstr>
      <vt:lpstr>Times New Roman</vt:lpstr>
      <vt:lpstr>Default Design</vt:lpstr>
      <vt:lpstr>Worksheet</vt:lpstr>
      <vt:lpstr>Equation</vt:lpstr>
      <vt:lpstr>MBE 713 Fisheries stock assessment part 1: Surplus production models</vt:lpstr>
      <vt:lpstr>Goal of Fisheries Management</vt:lpstr>
      <vt:lpstr>Visualized in a Kobe plot</vt:lpstr>
      <vt:lpstr>Hypothetical fishery</vt:lpstr>
      <vt:lpstr>Indicators and reference points</vt:lpstr>
      <vt:lpstr>For protected species</vt:lpstr>
      <vt:lpstr>Stock assessment methods</vt:lpstr>
      <vt:lpstr>Surplus production model</vt:lpstr>
      <vt:lpstr>Fisheries stock assessment</vt:lpstr>
      <vt:lpstr>B/Bmsy and F/Fmsy for South Atlantic Swordfish</vt:lpstr>
      <vt:lpstr>Kobe plot</vt:lpstr>
      <vt:lpstr>PowerPoint Presentation</vt:lpstr>
      <vt:lpstr>Swordfish south Atlantic catch</vt:lpstr>
      <vt:lpstr>Swordfish south Atlantic CPUE</vt:lpstr>
      <vt:lpstr>Deterministic version</vt:lpstr>
      <vt:lpstr>Adding process error to state variable</vt:lpstr>
      <vt:lpstr>Bayesian estimation</vt:lpstr>
      <vt:lpstr>Bayesian estimation</vt:lpstr>
      <vt:lpstr>Example to estimate a normal mean with informative prior</vt:lpstr>
      <vt:lpstr>With a vague prior</vt:lpstr>
      <vt:lpstr>In log terms</vt:lpstr>
      <vt:lpstr>Bayesian production model</vt:lpstr>
      <vt:lpstr>Bayesian workflow</vt:lpstr>
      <vt:lpstr>Kinds of priors</vt:lpstr>
      <vt:lpstr>For production model</vt:lpstr>
      <vt:lpstr>PowerPoint Presentation</vt:lpstr>
      <vt:lpstr>PowerPoint Presentation</vt:lpstr>
      <vt:lpstr>PowerPoint Presentation</vt:lpstr>
      <vt:lpstr>Treatment of uncertainty</vt:lpstr>
      <vt:lpstr>JABBA</vt:lpstr>
      <vt:lpstr>Using JABBA</vt:lpstr>
      <vt:lpstr>JABBA functions</vt:lpstr>
      <vt:lpstr>Check MCMC convergence</vt:lpstr>
      <vt:lpstr>Compare prior and posterior</vt:lpstr>
      <vt:lpstr>Posterior predictive checks</vt:lpstr>
      <vt:lpstr>Runs test on residuals</vt:lpstr>
      <vt:lpstr>Retrospective analysis</vt:lpstr>
      <vt:lpstr>Retrospective (back 1-5 years)</vt:lpstr>
      <vt:lpstr>Hindcast cross-validation</vt:lpstr>
      <vt:lpstr>Hindcast cross-validation</vt:lpstr>
      <vt:lpstr>Kobe plot</vt:lpstr>
      <vt:lpstr>PowerPoint Presentation</vt:lpstr>
      <vt:lpstr>Projections</vt:lpstr>
      <vt:lpstr>Pella model</vt:lpstr>
      <vt:lpstr>Pella yield curve</vt:lpstr>
      <vt:lpstr>Pella vs. Schaefer</vt:lpstr>
      <vt:lpstr>References</vt:lpstr>
    </vt:vector>
  </TitlesOfParts>
  <Company>Dell Computer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analysis in ecology and fisheries management</dc:title>
  <dc:creator>Elizabeth A. Babcock</dc:creator>
  <cp:lastModifiedBy>Babcock, Elizabeth A</cp:lastModifiedBy>
  <cp:revision>1593</cp:revision>
  <cp:lastPrinted>2018-04-01T13:00:56Z</cp:lastPrinted>
  <dcterms:created xsi:type="dcterms:W3CDTF">2000-05-17T13:59:01Z</dcterms:created>
  <dcterms:modified xsi:type="dcterms:W3CDTF">2026-09-09T21:30:50Z</dcterms:modified>
</cp:coreProperties>
</file>