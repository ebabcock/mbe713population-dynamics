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3" r:id="rId1"/>
  </p:sldMasterIdLst>
  <p:notesMasterIdLst>
    <p:notesMasterId r:id="rId57"/>
  </p:notesMasterIdLst>
  <p:handoutMasterIdLst>
    <p:handoutMasterId r:id="rId58"/>
  </p:handoutMasterIdLst>
  <p:sldIdLst>
    <p:sldId id="297" r:id="rId2"/>
    <p:sldId id="484" r:id="rId3"/>
    <p:sldId id="433" r:id="rId4"/>
    <p:sldId id="527" r:id="rId5"/>
    <p:sldId id="551" r:id="rId6"/>
    <p:sldId id="412" r:id="rId7"/>
    <p:sldId id="485" r:id="rId8"/>
    <p:sldId id="486" r:id="rId9"/>
    <p:sldId id="487" r:id="rId10"/>
    <p:sldId id="529" r:id="rId11"/>
    <p:sldId id="532" r:id="rId12"/>
    <p:sldId id="554" r:id="rId13"/>
    <p:sldId id="528" r:id="rId14"/>
    <p:sldId id="543" r:id="rId15"/>
    <p:sldId id="526" r:id="rId16"/>
    <p:sldId id="525" r:id="rId17"/>
    <p:sldId id="501" r:id="rId18"/>
    <p:sldId id="492" r:id="rId19"/>
    <p:sldId id="531" r:id="rId20"/>
    <p:sldId id="533" r:id="rId21"/>
    <p:sldId id="534" r:id="rId22"/>
    <p:sldId id="535" r:id="rId23"/>
    <p:sldId id="536" r:id="rId24"/>
    <p:sldId id="537" r:id="rId25"/>
    <p:sldId id="538" r:id="rId26"/>
    <p:sldId id="489" r:id="rId27"/>
    <p:sldId id="539" r:id="rId28"/>
    <p:sldId id="540" r:id="rId29"/>
    <p:sldId id="541" r:id="rId30"/>
    <p:sldId id="542" r:id="rId31"/>
    <p:sldId id="545" r:id="rId32"/>
    <p:sldId id="544" r:id="rId33"/>
    <p:sldId id="447" r:id="rId34"/>
    <p:sldId id="310" r:id="rId35"/>
    <p:sldId id="453" r:id="rId36"/>
    <p:sldId id="343" r:id="rId37"/>
    <p:sldId id="557" r:id="rId38"/>
    <p:sldId id="547" r:id="rId39"/>
    <p:sldId id="548" r:id="rId40"/>
    <p:sldId id="549" r:id="rId41"/>
    <p:sldId id="550" r:id="rId42"/>
    <p:sldId id="546" r:id="rId43"/>
    <p:sldId id="553" r:id="rId44"/>
    <p:sldId id="552" r:id="rId45"/>
    <p:sldId id="555" r:id="rId46"/>
    <p:sldId id="426" r:id="rId47"/>
    <p:sldId id="448" r:id="rId48"/>
    <p:sldId id="466" r:id="rId49"/>
    <p:sldId id="264" r:id="rId50"/>
    <p:sldId id="427" r:id="rId51"/>
    <p:sldId id="269" r:id="rId52"/>
    <p:sldId id="462" r:id="rId53"/>
    <p:sldId id="458" r:id="rId54"/>
    <p:sldId id="415" r:id="rId55"/>
    <p:sldId id="556" r:id="rId56"/>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F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5" autoAdjust="0"/>
    <p:restoredTop sz="94590" autoAdjust="0"/>
  </p:normalViewPr>
  <p:slideViewPr>
    <p:cSldViewPr>
      <p:cViewPr varScale="1">
        <p:scale>
          <a:sx n="109" d="100"/>
          <a:sy n="109" d="100"/>
        </p:scale>
        <p:origin x="1674" y="3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1140"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386776-7BD1-4FDD-A882-2E9807BA5EDB}"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E1A972CB-5566-4666-BFF7-FA1C0B77F704}">
      <dgm:prSet phldrT="[Text]"/>
      <dgm:spPr/>
      <dgm:t>
        <a:bodyPr/>
        <a:lstStyle/>
        <a:p>
          <a:r>
            <a:rPr lang="en-US" dirty="0"/>
            <a:t>Observer data (sample)</a:t>
          </a:r>
        </a:p>
      </dgm:t>
    </dgm:pt>
    <dgm:pt modelId="{C6AD88D2-CC9E-4277-9F6E-7ED505748558}" type="parTrans" cxnId="{ECD8310D-FAD2-403B-B227-C12A256BA649}">
      <dgm:prSet/>
      <dgm:spPr/>
      <dgm:t>
        <a:bodyPr/>
        <a:lstStyle/>
        <a:p>
          <a:endParaRPr lang="en-US"/>
        </a:p>
      </dgm:t>
    </dgm:pt>
    <dgm:pt modelId="{552A242B-02F3-45D9-9CBA-0D0322845FDD}" type="sibTrans" cxnId="{ECD8310D-FAD2-403B-B227-C12A256BA649}">
      <dgm:prSet/>
      <dgm:spPr/>
      <dgm:t>
        <a:bodyPr/>
        <a:lstStyle/>
        <a:p>
          <a:endParaRPr lang="en-US"/>
        </a:p>
      </dgm:t>
    </dgm:pt>
    <dgm:pt modelId="{F8A51EFB-2E74-4DB6-9E33-322304F75B89}">
      <dgm:prSet phldrT="[Text]"/>
      <dgm:spPr/>
      <dgm:t>
        <a:bodyPr/>
        <a:lstStyle/>
        <a:p>
          <a:pPr>
            <a:buNone/>
          </a:pPr>
          <a:r>
            <a:rPr lang="en-US" dirty="0"/>
            <a:t>Estimate bycatch rate (bycatch/effort) per strata</a:t>
          </a:r>
        </a:p>
      </dgm:t>
    </dgm:pt>
    <dgm:pt modelId="{D6E58AF5-9668-49DD-924B-42CDEABA7282}" type="parTrans" cxnId="{A886F9BB-0229-4D2D-BC43-3209373556D6}">
      <dgm:prSet/>
      <dgm:spPr/>
      <dgm:t>
        <a:bodyPr/>
        <a:lstStyle/>
        <a:p>
          <a:endParaRPr lang="en-US"/>
        </a:p>
      </dgm:t>
    </dgm:pt>
    <dgm:pt modelId="{058F96CF-D9B5-4DD1-B632-F560D66B0DBB}" type="sibTrans" cxnId="{A886F9BB-0229-4D2D-BC43-3209373556D6}">
      <dgm:prSet/>
      <dgm:spPr/>
      <dgm:t>
        <a:bodyPr/>
        <a:lstStyle/>
        <a:p>
          <a:endParaRPr lang="en-US"/>
        </a:p>
      </dgm:t>
    </dgm:pt>
    <dgm:pt modelId="{FA1B891B-196D-443C-9EDC-2694B6B91052}">
      <dgm:prSet phldrT="[Text]"/>
      <dgm:spPr/>
      <dgm:t>
        <a:bodyPr/>
        <a:lstStyle/>
        <a:p>
          <a:r>
            <a:rPr lang="en-US" dirty="0"/>
            <a:t>Logbook data  </a:t>
          </a:r>
        </a:p>
      </dgm:t>
    </dgm:pt>
    <dgm:pt modelId="{9049321F-AD5C-47B8-B85B-F84FD54D6B71}" type="parTrans" cxnId="{D32507EE-BB6B-4E34-B137-5CA998004129}">
      <dgm:prSet/>
      <dgm:spPr/>
      <dgm:t>
        <a:bodyPr/>
        <a:lstStyle/>
        <a:p>
          <a:endParaRPr lang="en-US"/>
        </a:p>
      </dgm:t>
    </dgm:pt>
    <dgm:pt modelId="{51AD3F2F-AAFB-44BC-9B87-23D4265C48AD}" type="sibTrans" cxnId="{D32507EE-BB6B-4E34-B137-5CA998004129}">
      <dgm:prSet/>
      <dgm:spPr/>
      <dgm:t>
        <a:bodyPr/>
        <a:lstStyle/>
        <a:p>
          <a:endParaRPr lang="en-US"/>
        </a:p>
      </dgm:t>
    </dgm:pt>
    <dgm:pt modelId="{A4AD77E9-272D-48DD-9630-BA0981FDFEAE}">
      <dgm:prSet phldrT="[Text]"/>
      <dgm:spPr/>
      <dgm:t>
        <a:bodyPr/>
        <a:lstStyle/>
        <a:p>
          <a:pPr>
            <a:buNone/>
          </a:pPr>
          <a:r>
            <a:rPr lang="en-US" dirty="0"/>
            <a:t>Estimate total effort per strata</a:t>
          </a:r>
        </a:p>
      </dgm:t>
    </dgm:pt>
    <dgm:pt modelId="{985DE5AB-52B4-4B70-AA7A-E8704055802D}" type="parTrans" cxnId="{82D658C0-DF40-4BC8-B0A7-E4AAA076A262}">
      <dgm:prSet/>
      <dgm:spPr/>
      <dgm:t>
        <a:bodyPr/>
        <a:lstStyle/>
        <a:p>
          <a:endParaRPr lang="en-US"/>
        </a:p>
      </dgm:t>
    </dgm:pt>
    <dgm:pt modelId="{B07F596D-DC1D-416B-BB7F-816FAF327094}" type="sibTrans" cxnId="{82D658C0-DF40-4BC8-B0A7-E4AAA076A262}">
      <dgm:prSet/>
      <dgm:spPr/>
      <dgm:t>
        <a:bodyPr/>
        <a:lstStyle/>
        <a:p>
          <a:endParaRPr lang="en-US"/>
        </a:p>
      </dgm:t>
    </dgm:pt>
    <dgm:pt modelId="{E511F659-AE6C-4552-AC0E-504DAD40B992}">
      <dgm:prSet phldrT="[Text]"/>
      <dgm:spPr/>
      <dgm:t>
        <a:bodyPr/>
        <a:lstStyle/>
        <a:p>
          <a:r>
            <a:rPr lang="en-US" dirty="0"/>
            <a:t>Bycatch per strata</a:t>
          </a:r>
        </a:p>
      </dgm:t>
    </dgm:pt>
    <dgm:pt modelId="{D5172D4D-124C-4A15-A683-C946A87F4AFB}" type="parTrans" cxnId="{F084C696-92B9-4C3B-8E88-FEF63D41BD4E}">
      <dgm:prSet/>
      <dgm:spPr/>
      <dgm:t>
        <a:bodyPr/>
        <a:lstStyle/>
        <a:p>
          <a:endParaRPr lang="en-US"/>
        </a:p>
      </dgm:t>
    </dgm:pt>
    <dgm:pt modelId="{A49B8357-2849-42CD-B888-2F054C6520EB}" type="sibTrans" cxnId="{F084C696-92B9-4C3B-8E88-FEF63D41BD4E}">
      <dgm:prSet/>
      <dgm:spPr/>
      <dgm:t>
        <a:bodyPr/>
        <a:lstStyle/>
        <a:p>
          <a:endParaRPr lang="en-US"/>
        </a:p>
      </dgm:t>
    </dgm:pt>
    <dgm:pt modelId="{DFEB9ED0-F255-4DEC-AE23-3EB307D9BE5C}">
      <dgm:prSet phldrT="[Text]"/>
      <dgm:spPr/>
      <dgm:t>
        <a:bodyPr/>
        <a:lstStyle/>
        <a:p>
          <a:pPr>
            <a:buNone/>
          </a:pPr>
          <a:r>
            <a:rPr lang="en-US" i="1" dirty="0"/>
            <a:t>Strata bycatch = bycatch rate * total effort</a:t>
          </a:r>
          <a:endParaRPr lang="en-US" dirty="0"/>
        </a:p>
      </dgm:t>
    </dgm:pt>
    <dgm:pt modelId="{C02A200E-50B3-49AD-A1B3-7F9D21C5DD40}" type="parTrans" cxnId="{4FDC0ED0-A9F7-4B13-89D6-56E311565941}">
      <dgm:prSet/>
      <dgm:spPr/>
      <dgm:t>
        <a:bodyPr/>
        <a:lstStyle/>
        <a:p>
          <a:endParaRPr lang="en-US"/>
        </a:p>
      </dgm:t>
    </dgm:pt>
    <dgm:pt modelId="{691B22B0-3048-422D-B6E2-B12FB2B90649}" type="sibTrans" cxnId="{4FDC0ED0-A9F7-4B13-89D6-56E311565941}">
      <dgm:prSet/>
      <dgm:spPr/>
      <dgm:t>
        <a:bodyPr/>
        <a:lstStyle/>
        <a:p>
          <a:endParaRPr lang="en-US"/>
        </a:p>
      </dgm:t>
    </dgm:pt>
    <dgm:pt modelId="{00F5332B-4D8C-43EF-94B1-C64528DD05F6}">
      <dgm:prSet/>
      <dgm:spPr/>
      <dgm:t>
        <a:bodyPr/>
        <a:lstStyle/>
        <a:p>
          <a:r>
            <a:rPr lang="en-US" dirty="0"/>
            <a:t>Total bycatch per year</a:t>
          </a:r>
        </a:p>
      </dgm:t>
    </dgm:pt>
    <dgm:pt modelId="{80FAA143-22CC-46F4-AD94-17DB7E907B59}" type="parTrans" cxnId="{80EFDA37-48BB-4569-88DD-EF8B571D2345}">
      <dgm:prSet/>
      <dgm:spPr/>
      <dgm:t>
        <a:bodyPr/>
        <a:lstStyle/>
        <a:p>
          <a:endParaRPr lang="en-US"/>
        </a:p>
      </dgm:t>
    </dgm:pt>
    <dgm:pt modelId="{6604ED59-9E7D-4BC7-A549-06588E1FF054}" type="sibTrans" cxnId="{80EFDA37-48BB-4569-88DD-EF8B571D2345}">
      <dgm:prSet/>
      <dgm:spPr/>
      <dgm:t>
        <a:bodyPr/>
        <a:lstStyle/>
        <a:p>
          <a:endParaRPr lang="en-US"/>
        </a:p>
      </dgm:t>
    </dgm:pt>
    <dgm:pt modelId="{89D3828B-FBD6-43DE-8F9C-351F590F3C1A}">
      <dgm:prSet/>
      <dgm:spPr/>
      <dgm:t>
        <a:bodyPr/>
        <a:lstStyle/>
        <a:p>
          <a:pPr>
            <a:buNone/>
          </a:pPr>
          <a:r>
            <a:rPr lang="en-US" i="1" dirty="0"/>
            <a:t>Total bycatch=sum(Strata bycatch)</a:t>
          </a:r>
        </a:p>
      </dgm:t>
    </dgm:pt>
    <dgm:pt modelId="{E7783909-69BF-4B67-875F-D551B7CA4A9B}" type="parTrans" cxnId="{F7FC87D7-1088-4575-8372-D893746A6C45}">
      <dgm:prSet/>
      <dgm:spPr/>
      <dgm:t>
        <a:bodyPr/>
        <a:lstStyle/>
        <a:p>
          <a:endParaRPr lang="en-US"/>
        </a:p>
      </dgm:t>
    </dgm:pt>
    <dgm:pt modelId="{75218768-7311-4E3E-8623-342AF316D296}" type="sibTrans" cxnId="{F7FC87D7-1088-4575-8372-D893746A6C45}">
      <dgm:prSet/>
      <dgm:spPr/>
      <dgm:t>
        <a:bodyPr/>
        <a:lstStyle/>
        <a:p>
          <a:endParaRPr lang="en-US"/>
        </a:p>
      </dgm:t>
    </dgm:pt>
    <dgm:pt modelId="{3A7FC932-3AF3-451A-8C58-EF39ECEE98DF}" type="pres">
      <dgm:prSet presAssocID="{35386776-7BD1-4FDD-A882-2E9807BA5EDB}" presName="linearFlow" presStyleCnt="0">
        <dgm:presLayoutVars>
          <dgm:dir/>
          <dgm:animLvl val="lvl"/>
          <dgm:resizeHandles val="exact"/>
        </dgm:presLayoutVars>
      </dgm:prSet>
      <dgm:spPr/>
    </dgm:pt>
    <dgm:pt modelId="{7E58988D-1422-4924-B594-ABD2E086E82F}" type="pres">
      <dgm:prSet presAssocID="{E1A972CB-5566-4666-BFF7-FA1C0B77F704}" presName="composite" presStyleCnt="0"/>
      <dgm:spPr/>
    </dgm:pt>
    <dgm:pt modelId="{613C30DB-3048-4C16-8831-CB568C99156C}" type="pres">
      <dgm:prSet presAssocID="{E1A972CB-5566-4666-BFF7-FA1C0B77F704}" presName="parentText" presStyleLbl="alignNode1" presStyleIdx="0" presStyleCnt="4">
        <dgm:presLayoutVars>
          <dgm:chMax val="1"/>
          <dgm:bulletEnabled val="1"/>
        </dgm:presLayoutVars>
      </dgm:prSet>
      <dgm:spPr/>
    </dgm:pt>
    <dgm:pt modelId="{FD7EB88F-C755-4692-BD06-B6A0B97ECDB9}" type="pres">
      <dgm:prSet presAssocID="{E1A972CB-5566-4666-BFF7-FA1C0B77F704}" presName="descendantText" presStyleLbl="alignAcc1" presStyleIdx="0" presStyleCnt="4" custLinFactNeighborX="0">
        <dgm:presLayoutVars>
          <dgm:bulletEnabled val="1"/>
        </dgm:presLayoutVars>
      </dgm:prSet>
      <dgm:spPr/>
    </dgm:pt>
    <dgm:pt modelId="{2CA5B4C0-B789-4E27-9105-ADBDA0E5AE72}" type="pres">
      <dgm:prSet presAssocID="{552A242B-02F3-45D9-9CBA-0D0322845FDD}" presName="sp" presStyleCnt="0"/>
      <dgm:spPr/>
    </dgm:pt>
    <dgm:pt modelId="{25DC8DFD-176A-4BDD-AE7E-D5AE6C52BF33}" type="pres">
      <dgm:prSet presAssocID="{FA1B891B-196D-443C-9EDC-2694B6B91052}" presName="composite" presStyleCnt="0"/>
      <dgm:spPr/>
    </dgm:pt>
    <dgm:pt modelId="{3F588FB9-912C-48F6-8D68-94A5F80A9602}" type="pres">
      <dgm:prSet presAssocID="{FA1B891B-196D-443C-9EDC-2694B6B91052}" presName="parentText" presStyleLbl="alignNode1" presStyleIdx="1" presStyleCnt="4">
        <dgm:presLayoutVars>
          <dgm:chMax val="1"/>
          <dgm:bulletEnabled val="1"/>
        </dgm:presLayoutVars>
      </dgm:prSet>
      <dgm:spPr/>
    </dgm:pt>
    <dgm:pt modelId="{970D4D09-0A26-4C02-BD7E-928A7E797CD9}" type="pres">
      <dgm:prSet presAssocID="{FA1B891B-196D-443C-9EDC-2694B6B91052}" presName="descendantText" presStyleLbl="alignAcc1" presStyleIdx="1" presStyleCnt="4" custLinFactNeighborX="0" custLinFactNeighborY="0">
        <dgm:presLayoutVars>
          <dgm:bulletEnabled val="1"/>
        </dgm:presLayoutVars>
      </dgm:prSet>
      <dgm:spPr/>
    </dgm:pt>
    <dgm:pt modelId="{CED5DEB8-5136-4551-A558-12DF6842BD43}" type="pres">
      <dgm:prSet presAssocID="{51AD3F2F-AAFB-44BC-9B87-23D4265C48AD}" presName="sp" presStyleCnt="0"/>
      <dgm:spPr/>
    </dgm:pt>
    <dgm:pt modelId="{8E10E6DD-7C46-459C-9A6A-BA01C97624E4}" type="pres">
      <dgm:prSet presAssocID="{E511F659-AE6C-4552-AC0E-504DAD40B992}" presName="composite" presStyleCnt="0"/>
      <dgm:spPr/>
    </dgm:pt>
    <dgm:pt modelId="{58C24C19-F032-416D-98C8-A66D6698D995}" type="pres">
      <dgm:prSet presAssocID="{E511F659-AE6C-4552-AC0E-504DAD40B992}" presName="parentText" presStyleLbl="alignNode1" presStyleIdx="2" presStyleCnt="4">
        <dgm:presLayoutVars>
          <dgm:chMax val="1"/>
          <dgm:bulletEnabled val="1"/>
        </dgm:presLayoutVars>
      </dgm:prSet>
      <dgm:spPr/>
    </dgm:pt>
    <dgm:pt modelId="{E30015C0-624A-4ADD-B901-A29C9E3455F3}" type="pres">
      <dgm:prSet presAssocID="{E511F659-AE6C-4552-AC0E-504DAD40B992}" presName="descendantText" presStyleLbl="alignAcc1" presStyleIdx="2" presStyleCnt="4">
        <dgm:presLayoutVars>
          <dgm:bulletEnabled val="1"/>
        </dgm:presLayoutVars>
      </dgm:prSet>
      <dgm:spPr/>
    </dgm:pt>
    <dgm:pt modelId="{94572C86-E78B-4B4C-90F8-DC604A3D3EDA}" type="pres">
      <dgm:prSet presAssocID="{A49B8357-2849-42CD-B888-2F054C6520EB}" presName="sp" presStyleCnt="0"/>
      <dgm:spPr/>
    </dgm:pt>
    <dgm:pt modelId="{C86D504F-5814-4E54-8089-DDB8B9CA4A42}" type="pres">
      <dgm:prSet presAssocID="{00F5332B-4D8C-43EF-94B1-C64528DD05F6}" presName="composite" presStyleCnt="0"/>
      <dgm:spPr/>
    </dgm:pt>
    <dgm:pt modelId="{71638C96-8EB0-4336-AE45-190B9DA8146A}" type="pres">
      <dgm:prSet presAssocID="{00F5332B-4D8C-43EF-94B1-C64528DD05F6}" presName="parentText" presStyleLbl="alignNode1" presStyleIdx="3" presStyleCnt="4" custLinFactNeighborY="0">
        <dgm:presLayoutVars>
          <dgm:chMax val="1"/>
          <dgm:bulletEnabled val="1"/>
        </dgm:presLayoutVars>
      </dgm:prSet>
      <dgm:spPr/>
    </dgm:pt>
    <dgm:pt modelId="{17172D88-4224-494D-BE8D-48AAF140F8D7}" type="pres">
      <dgm:prSet presAssocID="{00F5332B-4D8C-43EF-94B1-C64528DD05F6}" presName="descendantText" presStyleLbl="alignAcc1" presStyleIdx="3" presStyleCnt="4" custLinFactNeighborY="3134">
        <dgm:presLayoutVars>
          <dgm:bulletEnabled val="1"/>
        </dgm:presLayoutVars>
      </dgm:prSet>
      <dgm:spPr/>
    </dgm:pt>
  </dgm:ptLst>
  <dgm:cxnLst>
    <dgm:cxn modelId="{4F49AF07-691D-4528-91AD-07AB9CEFEF47}" type="presOf" srcId="{00F5332B-4D8C-43EF-94B1-C64528DD05F6}" destId="{71638C96-8EB0-4336-AE45-190B9DA8146A}" srcOrd="0" destOrd="0" presId="urn:microsoft.com/office/officeart/2005/8/layout/chevron2"/>
    <dgm:cxn modelId="{ECD8310D-FAD2-403B-B227-C12A256BA649}" srcId="{35386776-7BD1-4FDD-A882-2E9807BA5EDB}" destId="{E1A972CB-5566-4666-BFF7-FA1C0B77F704}" srcOrd="0" destOrd="0" parTransId="{C6AD88D2-CC9E-4277-9F6E-7ED505748558}" sibTransId="{552A242B-02F3-45D9-9CBA-0D0322845FDD}"/>
    <dgm:cxn modelId="{24CFFD20-1991-40E4-92F9-D04AC1C3FF3B}" type="presOf" srcId="{E511F659-AE6C-4552-AC0E-504DAD40B992}" destId="{58C24C19-F032-416D-98C8-A66D6698D995}" srcOrd="0" destOrd="0" presId="urn:microsoft.com/office/officeart/2005/8/layout/chevron2"/>
    <dgm:cxn modelId="{80EFDA37-48BB-4569-88DD-EF8B571D2345}" srcId="{35386776-7BD1-4FDD-A882-2E9807BA5EDB}" destId="{00F5332B-4D8C-43EF-94B1-C64528DD05F6}" srcOrd="3" destOrd="0" parTransId="{80FAA143-22CC-46F4-AD94-17DB7E907B59}" sibTransId="{6604ED59-9E7D-4BC7-A549-06588E1FF054}"/>
    <dgm:cxn modelId="{CA2B874A-2EBA-430C-BC88-BD1553904D9D}" type="presOf" srcId="{35386776-7BD1-4FDD-A882-2E9807BA5EDB}" destId="{3A7FC932-3AF3-451A-8C58-EF39ECEE98DF}" srcOrd="0" destOrd="0" presId="urn:microsoft.com/office/officeart/2005/8/layout/chevron2"/>
    <dgm:cxn modelId="{650AFA53-3C59-4A86-BC43-CB2A4A23BADE}" type="presOf" srcId="{89D3828B-FBD6-43DE-8F9C-351F590F3C1A}" destId="{17172D88-4224-494D-BE8D-48AAF140F8D7}" srcOrd="0" destOrd="0" presId="urn:microsoft.com/office/officeart/2005/8/layout/chevron2"/>
    <dgm:cxn modelId="{2C302779-1044-40AC-826A-E137FA6F07E7}" type="presOf" srcId="{F8A51EFB-2E74-4DB6-9E33-322304F75B89}" destId="{FD7EB88F-C755-4692-BD06-B6A0B97ECDB9}" srcOrd="0" destOrd="0" presId="urn:microsoft.com/office/officeart/2005/8/layout/chevron2"/>
    <dgm:cxn modelId="{F084C696-92B9-4C3B-8E88-FEF63D41BD4E}" srcId="{35386776-7BD1-4FDD-A882-2E9807BA5EDB}" destId="{E511F659-AE6C-4552-AC0E-504DAD40B992}" srcOrd="2" destOrd="0" parTransId="{D5172D4D-124C-4A15-A683-C946A87F4AFB}" sibTransId="{A49B8357-2849-42CD-B888-2F054C6520EB}"/>
    <dgm:cxn modelId="{A886F9BB-0229-4D2D-BC43-3209373556D6}" srcId="{E1A972CB-5566-4666-BFF7-FA1C0B77F704}" destId="{F8A51EFB-2E74-4DB6-9E33-322304F75B89}" srcOrd="0" destOrd="0" parTransId="{D6E58AF5-9668-49DD-924B-42CDEABA7282}" sibTransId="{058F96CF-D9B5-4DD1-B632-F560D66B0DBB}"/>
    <dgm:cxn modelId="{82D658C0-DF40-4BC8-B0A7-E4AAA076A262}" srcId="{FA1B891B-196D-443C-9EDC-2694B6B91052}" destId="{A4AD77E9-272D-48DD-9630-BA0981FDFEAE}" srcOrd="0" destOrd="0" parTransId="{985DE5AB-52B4-4B70-AA7A-E8704055802D}" sibTransId="{B07F596D-DC1D-416B-BB7F-816FAF327094}"/>
    <dgm:cxn modelId="{6D107CC8-6882-4AC4-950F-F0C0533BF1F4}" type="presOf" srcId="{DFEB9ED0-F255-4DEC-AE23-3EB307D9BE5C}" destId="{E30015C0-624A-4ADD-B901-A29C9E3455F3}" srcOrd="0" destOrd="0" presId="urn:microsoft.com/office/officeart/2005/8/layout/chevron2"/>
    <dgm:cxn modelId="{4FDC0ED0-A9F7-4B13-89D6-56E311565941}" srcId="{E511F659-AE6C-4552-AC0E-504DAD40B992}" destId="{DFEB9ED0-F255-4DEC-AE23-3EB307D9BE5C}" srcOrd="0" destOrd="0" parTransId="{C02A200E-50B3-49AD-A1B3-7F9D21C5DD40}" sibTransId="{691B22B0-3048-422D-B6E2-B12FB2B90649}"/>
    <dgm:cxn modelId="{A01C97D4-8E60-4D37-BC28-C43268A5FD43}" type="presOf" srcId="{FA1B891B-196D-443C-9EDC-2694B6B91052}" destId="{3F588FB9-912C-48F6-8D68-94A5F80A9602}" srcOrd="0" destOrd="0" presId="urn:microsoft.com/office/officeart/2005/8/layout/chevron2"/>
    <dgm:cxn modelId="{F7FC87D7-1088-4575-8372-D893746A6C45}" srcId="{00F5332B-4D8C-43EF-94B1-C64528DD05F6}" destId="{89D3828B-FBD6-43DE-8F9C-351F590F3C1A}" srcOrd="0" destOrd="0" parTransId="{E7783909-69BF-4B67-875F-D551B7CA4A9B}" sibTransId="{75218768-7311-4E3E-8623-342AF316D296}"/>
    <dgm:cxn modelId="{D32507EE-BB6B-4E34-B137-5CA998004129}" srcId="{35386776-7BD1-4FDD-A882-2E9807BA5EDB}" destId="{FA1B891B-196D-443C-9EDC-2694B6B91052}" srcOrd="1" destOrd="0" parTransId="{9049321F-AD5C-47B8-B85B-F84FD54D6B71}" sibTransId="{51AD3F2F-AAFB-44BC-9B87-23D4265C48AD}"/>
    <dgm:cxn modelId="{7CE081FB-0220-4CF7-8534-A6B3352CDA7F}" type="presOf" srcId="{A4AD77E9-272D-48DD-9630-BA0981FDFEAE}" destId="{970D4D09-0A26-4C02-BD7E-928A7E797CD9}" srcOrd="0" destOrd="0" presId="urn:microsoft.com/office/officeart/2005/8/layout/chevron2"/>
    <dgm:cxn modelId="{812DC9FC-E44C-403A-9B3E-320E865067C6}" type="presOf" srcId="{E1A972CB-5566-4666-BFF7-FA1C0B77F704}" destId="{613C30DB-3048-4C16-8831-CB568C99156C}" srcOrd="0" destOrd="0" presId="urn:microsoft.com/office/officeart/2005/8/layout/chevron2"/>
    <dgm:cxn modelId="{A7527A3D-D90F-40DF-B06B-758EF896478A}" type="presParOf" srcId="{3A7FC932-3AF3-451A-8C58-EF39ECEE98DF}" destId="{7E58988D-1422-4924-B594-ABD2E086E82F}" srcOrd="0" destOrd="0" presId="urn:microsoft.com/office/officeart/2005/8/layout/chevron2"/>
    <dgm:cxn modelId="{C36AB8DC-A736-44A3-BD94-FBEE921A799E}" type="presParOf" srcId="{7E58988D-1422-4924-B594-ABD2E086E82F}" destId="{613C30DB-3048-4C16-8831-CB568C99156C}" srcOrd="0" destOrd="0" presId="urn:microsoft.com/office/officeart/2005/8/layout/chevron2"/>
    <dgm:cxn modelId="{FCA55CD0-418A-4546-8FD5-E11466C35A28}" type="presParOf" srcId="{7E58988D-1422-4924-B594-ABD2E086E82F}" destId="{FD7EB88F-C755-4692-BD06-B6A0B97ECDB9}" srcOrd="1" destOrd="0" presId="urn:microsoft.com/office/officeart/2005/8/layout/chevron2"/>
    <dgm:cxn modelId="{B7E25F4D-333B-4D05-8546-1128E1A81D79}" type="presParOf" srcId="{3A7FC932-3AF3-451A-8C58-EF39ECEE98DF}" destId="{2CA5B4C0-B789-4E27-9105-ADBDA0E5AE72}" srcOrd="1" destOrd="0" presId="urn:microsoft.com/office/officeart/2005/8/layout/chevron2"/>
    <dgm:cxn modelId="{7A142D6C-5D72-4B19-98FD-54FAC96D0A5A}" type="presParOf" srcId="{3A7FC932-3AF3-451A-8C58-EF39ECEE98DF}" destId="{25DC8DFD-176A-4BDD-AE7E-D5AE6C52BF33}" srcOrd="2" destOrd="0" presId="urn:microsoft.com/office/officeart/2005/8/layout/chevron2"/>
    <dgm:cxn modelId="{77594916-A50D-4F56-ADCB-49A253C410CF}" type="presParOf" srcId="{25DC8DFD-176A-4BDD-AE7E-D5AE6C52BF33}" destId="{3F588FB9-912C-48F6-8D68-94A5F80A9602}" srcOrd="0" destOrd="0" presId="urn:microsoft.com/office/officeart/2005/8/layout/chevron2"/>
    <dgm:cxn modelId="{55108EAD-2597-4DB0-9B17-438C313DA337}" type="presParOf" srcId="{25DC8DFD-176A-4BDD-AE7E-D5AE6C52BF33}" destId="{970D4D09-0A26-4C02-BD7E-928A7E797CD9}" srcOrd="1" destOrd="0" presId="urn:microsoft.com/office/officeart/2005/8/layout/chevron2"/>
    <dgm:cxn modelId="{F271B5DE-D8CD-42F5-9ADE-5AB584C3D5C9}" type="presParOf" srcId="{3A7FC932-3AF3-451A-8C58-EF39ECEE98DF}" destId="{CED5DEB8-5136-4551-A558-12DF6842BD43}" srcOrd="3" destOrd="0" presId="urn:microsoft.com/office/officeart/2005/8/layout/chevron2"/>
    <dgm:cxn modelId="{1601F0CC-5FD7-4F97-BE3F-176D6E2E4CA6}" type="presParOf" srcId="{3A7FC932-3AF3-451A-8C58-EF39ECEE98DF}" destId="{8E10E6DD-7C46-459C-9A6A-BA01C97624E4}" srcOrd="4" destOrd="0" presId="urn:microsoft.com/office/officeart/2005/8/layout/chevron2"/>
    <dgm:cxn modelId="{A6F4B862-F5E0-459B-A591-720D8AAD84A3}" type="presParOf" srcId="{8E10E6DD-7C46-459C-9A6A-BA01C97624E4}" destId="{58C24C19-F032-416D-98C8-A66D6698D995}" srcOrd="0" destOrd="0" presId="urn:microsoft.com/office/officeart/2005/8/layout/chevron2"/>
    <dgm:cxn modelId="{660D1BDC-147E-4AE6-99E1-A43AF0BE476A}" type="presParOf" srcId="{8E10E6DD-7C46-459C-9A6A-BA01C97624E4}" destId="{E30015C0-624A-4ADD-B901-A29C9E3455F3}" srcOrd="1" destOrd="0" presId="urn:microsoft.com/office/officeart/2005/8/layout/chevron2"/>
    <dgm:cxn modelId="{A20683F9-FD12-4033-A98D-918F293173D6}" type="presParOf" srcId="{3A7FC932-3AF3-451A-8C58-EF39ECEE98DF}" destId="{94572C86-E78B-4B4C-90F8-DC604A3D3EDA}" srcOrd="5" destOrd="0" presId="urn:microsoft.com/office/officeart/2005/8/layout/chevron2"/>
    <dgm:cxn modelId="{34B56887-74E9-4DE6-A9C7-1D709F5DFB9E}" type="presParOf" srcId="{3A7FC932-3AF3-451A-8C58-EF39ECEE98DF}" destId="{C86D504F-5814-4E54-8089-DDB8B9CA4A42}" srcOrd="6" destOrd="0" presId="urn:microsoft.com/office/officeart/2005/8/layout/chevron2"/>
    <dgm:cxn modelId="{AD08ED35-B77F-4C19-8C8C-9FED4ED290D3}" type="presParOf" srcId="{C86D504F-5814-4E54-8089-DDB8B9CA4A42}" destId="{71638C96-8EB0-4336-AE45-190B9DA8146A}" srcOrd="0" destOrd="0" presId="urn:microsoft.com/office/officeart/2005/8/layout/chevron2"/>
    <dgm:cxn modelId="{26287862-FCAB-415A-8884-1C0B0E4C0B5D}" type="presParOf" srcId="{C86D504F-5814-4E54-8089-DDB8B9CA4A42}" destId="{17172D88-4224-494D-BE8D-48AAF140F8D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3C30DB-3048-4C16-8831-CB568C99156C}">
      <dsp:nvSpPr>
        <dsp:cNvPr id="0" name=""/>
        <dsp:cNvSpPr/>
      </dsp:nvSpPr>
      <dsp:spPr>
        <a:xfrm rot="5400000">
          <a:off x="-214565" y="215034"/>
          <a:ext cx="1430435" cy="1001304"/>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Observer data (sample)</a:t>
          </a:r>
        </a:p>
      </dsp:txBody>
      <dsp:txXfrm rot="-5400000">
        <a:off x="1" y="501120"/>
        <a:ext cx="1001304" cy="429131"/>
      </dsp:txXfrm>
    </dsp:sp>
    <dsp:sp modelId="{FD7EB88F-C755-4692-BD06-B6A0B97ECDB9}">
      <dsp:nvSpPr>
        <dsp:cNvPr id="0" name=""/>
        <dsp:cNvSpPr/>
      </dsp:nvSpPr>
      <dsp:spPr>
        <a:xfrm rot="5400000">
          <a:off x="4150560" y="-3148786"/>
          <a:ext cx="929782" cy="722829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kern="1200" dirty="0"/>
            <a:t>Estimate bycatch rate (bycatch/effort) per strata</a:t>
          </a:r>
        </a:p>
      </dsp:txBody>
      <dsp:txXfrm rot="-5400000">
        <a:off x="1001304" y="45858"/>
        <a:ext cx="7182907" cy="839006"/>
      </dsp:txXfrm>
    </dsp:sp>
    <dsp:sp modelId="{3F588FB9-912C-48F6-8D68-94A5F80A9602}">
      <dsp:nvSpPr>
        <dsp:cNvPr id="0" name=""/>
        <dsp:cNvSpPr/>
      </dsp:nvSpPr>
      <dsp:spPr>
        <a:xfrm rot="5400000">
          <a:off x="-214565" y="1500564"/>
          <a:ext cx="1430435" cy="1001304"/>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Logbook data  </a:t>
          </a:r>
        </a:p>
      </dsp:txBody>
      <dsp:txXfrm rot="-5400000">
        <a:off x="1" y="1786650"/>
        <a:ext cx="1001304" cy="429131"/>
      </dsp:txXfrm>
    </dsp:sp>
    <dsp:sp modelId="{970D4D09-0A26-4C02-BD7E-928A7E797CD9}">
      <dsp:nvSpPr>
        <dsp:cNvPr id="0" name=""/>
        <dsp:cNvSpPr/>
      </dsp:nvSpPr>
      <dsp:spPr>
        <a:xfrm rot="5400000">
          <a:off x="4150560" y="-1863257"/>
          <a:ext cx="929782" cy="722829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kern="1200" dirty="0"/>
            <a:t>Estimate total effort per strata</a:t>
          </a:r>
        </a:p>
      </dsp:txBody>
      <dsp:txXfrm rot="-5400000">
        <a:off x="1001304" y="1331387"/>
        <a:ext cx="7182907" cy="839006"/>
      </dsp:txXfrm>
    </dsp:sp>
    <dsp:sp modelId="{58C24C19-F032-416D-98C8-A66D6698D995}">
      <dsp:nvSpPr>
        <dsp:cNvPr id="0" name=""/>
        <dsp:cNvSpPr/>
      </dsp:nvSpPr>
      <dsp:spPr>
        <a:xfrm rot="5400000">
          <a:off x="-214565" y="2786093"/>
          <a:ext cx="1430435" cy="1001304"/>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Bycatch per strata</a:t>
          </a:r>
        </a:p>
      </dsp:txBody>
      <dsp:txXfrm rot="-5400000">
        <a:off x="1" y="3072179"/>
        <a:ext cx="1001304" cy="429131"/>
      </dsp:txXfrm>
    </dsp:sp>
    <dsp:sp modelId="{E30015C0-624A-4ADD-B901-A29C9E3455F3}">
      <dsp:nvSpPr>
        <dsp:cNvPr id="0" name=""/>
        <dsp:cNvSpPr/>
      </dsp:nvSpPr>
      <dsp:spPr>
        <a:xfrm rot="5400000">
          <a:off x="4150560" y="-577727"/>
          <a:ext cx="929782" cy="722829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i="1" kern="1200" dirty="0"/>
            <a:t>Strata bycatch = bycatch rate * total effort</a:t>
          </a:r>
          <a:endParaRPr lang="en-US" sz="3000" kern="1200" dirty="0"/>
        </a:p>
      </dsp:txBody>
      <dsp:txXfrm rot="-5400000">
        <a:off x="1001304" y="2616917"/>
        <a:ext cx="7182907" cy="839006"/>
      </dsp:txXfrm>
    </dsp:sp>
    <dsp:sp modelId="{71638C96-8EB0-4336-AE45-190B9DA8146A}">
      <dsp:nvSpPr>
        <dsp:cNvPr id="0" name=""/>
        <dsp:cNvSpPr/>
      </dsp:nvSpPr>
      <dsp:spPr>
        <a:xfrm rot="5400000">
          <a:off x="-214565" y="4071623"/>
          <a:ext cx="1430435" cy="1001304"/>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Total bycatch per year</a:t>
          </a:r>
        </a:p>
      </dsp:txBody>
      <dsp:txXfrm rot="-5400000">
        <a:off x="1" y="4357709"/>
        <a:ext cx="1001304" cy="429131"/>
      </dsp:txXfrm>
    </dsp:sp>
    <dsp:sp modelId="{17172D88-4224-494D-BE8D-48AAF140F8D7}">
      <dsp:nvSpPr>
        <dsp:cNvPr id="0" name=""/>
        <dsp:cNvSpPr/>
      </dsp:nvSpPr>
      <dsp:spPr>
        <a:xfrm rot="5400000">
          <a:off x="4150560" y="736941"/>
          <a:ext cx="929782" cy="722829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i="1" kern="1200" dirty="0"/>
            <a:t>Total bycatch=sum(Strata bycatch)</a:t>
          </a:r>
        </a:p>
      </dsp:txBody>
      <dsp:txXfrm rot="-5400000">
        <a:off x="1001304" y="3931585"/>
        <a:ext cx="7182907" cy="83900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0" hangingPunct="0">
              <a:defRPr sz="1300">
                <a:latin typeface="Albertus Extra Bold" pitchFamily="34" charset="0"/>
              </a:defRPr>
            </a:lvl1pPr>
          </a:lstStyle>
          <a:p>
            <a:endParaRPr lang="en-US"/>
          </a:p>
        </p:txBody>
      </p:sp>
      <p:sp>
        <p:nvSpPr>
          <p:cNvPr id="93187" name="Rectangle 3"/>
          <p:cNvSpPr>
            <a:spLocks noGrp="1" noChangeArrowheads="1"/>
          </p:cNvSpPr>
          <p:nvPr>
            <p:ph type="dt" sz="quarter"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0" hangingPunct="0">
              <a:defRPr sz="1300">
                <a:latin typeface="Albertus Extra Bold" pitchFamily="34" charset="0"/>
              </a:defRPr>
            </a:lvl1pPr>
          </a:lstStyle>
          <a:p>
            <a:endParaRPr lang="en-US"/>
          </a:p>
        </p:txBody>
      </p:sp>
      <p:sp>
        <p:nvSpPr>
          <p:cNvPr id="93188" name="Rectangle 4"/>
          <p:cNvSpPr>
            <a:spLocks noGrp="1" noChangeArrowheads="1"/>
          </p:cNvSpPr>
          <p:nvPr>
            <p:ph type="ftr" sz="quarter" idx="2"/>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0" hangingPunct="0">
              <a:defRPr sz="1300">
                <a:latin typeface="Albertus Extra Bold" pitchFamily="34" charset="0"/>
              </a:defRPr>
            </a:lvl1pPr>
          </a:lstStyle>
          <a:p>
            <a:endParaRPr lang="en-US"/>
          </a:p>
        </p:txBody>
      </p:sp>
      <p:sp>
        <p:nvSpPr>
          <p:cNvPr id="93189" name="Rectangle 5"/>
          <p:cNvSpPr>
            <a:spLocks noGrp="1" noChangeArrowheads="1"/>
          </p:cNvSpPr>
          <p:nvPr>
            <p:ph type="sldNum" sz="quarter" idx="3"/>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0" hangingPunct="0">
              <a:defRPr sz="1300">
                <a:latin typeface="Albertus Extra Bold" pitchFamily="34" charset="0"/>
              </a:defRPr>
            </a:lvl1pPr>
          </a:lstStyle>
          <a:p>
            <a:fld id="{44E1A066-3641-409E-B440-E03BE1A0AA53}" type="slidenum">
              <a:rPr lang="en-US"/>
              <a:pPr/>
              <a:t>‹#›</a:t>
            </a:fld>
            <a:endParaRPr lang="en-US"/>
          </a:p>
        </p:txBody>
      </p:sp>
    </p:spTree>
    <p:extLst>
      <p:ext uri="{BB962C8B-B14F-4D97-AF65-F5344CB8AC3E}">
        <p14:creationId xmlns:p14="http://schemas.microsoft.com/office/powerpoint/2010/main" val="17237538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0" hangingPunct="0">
              <a:defRPr sz="1300">
                <a:latin typeface="Albertus Extra Bold" pitchFamily="34" charset="0"/>
              </a:defRPr>
            </a:lvl1pPr>
          </a:lstStyle>
          <a:p>
            <a:endParaRPr lang="en-US"/>
          </a:p>
        </p:txBody>
      </p:sp>
      <p:sp>
        <p:nvSpPr>
          <p:cNvPr id="21507" name="Rectangle 3"/>
          <p:cNvSpPr>
            <a:spLocks noGrp="1" noChangeArrowheads="1"/>
          </p:cNvSpPr>
          <p:nvPr>
            <p:ph type="dt" idx="1"/>
          </p:nvPr>
        </p:nvSpPr>
        <p:spPr bwMode="auto">
          <a:xfrm>
            <a:off x="414528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0" hangingPunct="0">
              <a:defRPr sz="1300">
                <a:latin typeface="Albertus Extra Bold" pitchFamily="34" charset="0"/>
              </a:defRPr>
            </a:lvl1pPr>
          </a:lstStyle>
          <a:p>
            <a:endParaRPr lang="en-US"/>
          </a:p>
        </p:txBody>
      </p:sp>
      <p:sp>
        <p:nvSpPr>
          <p:cNvPr id="21508"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75360" y="4560570"/>
            <a:ext cx="536448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9121140"/>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0" hangingPunct="0">
              <a:defRPr sz="1300">
                <a:latin typeface="Albertus Extra Bold" pitchFamily="34" charset="0"/>
              </a:defRPr>
            </a:lvl1pPr>
          </a:lstStyle>
          <a:p>
            <a:endParaRPr lang="en-US"/>
          </a:p>
        </p:txBody>
      </p:sp>
      <p:sp>
        <p:nvSpPr>
          <p:cNvPr id="21511" name="Rectangle 7"/>
          <p:cNvSpPr>
            <a:spLocks noGrp="1" noChangeArrowheads="1"/>
          </p:cNvSpPr>
          <p:nvPr>
            <p:ph type="sldNum" sz="quarter" idx="5"/>
          </p:nvPr>
        </p:nvSpPr>
        <p:spPr bwMode="auto">
          <a:xfrm>
            <a:off x="4145280" y="9121140"/>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0" hangingPunct="0">
              <a:defRPr sz="1300">
                <a:latin typeface="Albertus Extra Bold" pitchFamily="34" charset="0"/>
              </a:defRPr>
            </a:lvl1pPr>
          </a:lstStyle>
          <a:p>
            <a:fld id="{DB41E0A9-D23A-4D9E-8E36-829A8A18E11B}" type="slidenum">
              <a:rPr lang="en-US"/>
              <a:pPr/>
              <a:t>‹#›</a:t>
            </a:fld>
            <a:endParaRPr lang="en-US"/>
          </a:p>
        </p:txBody>
      </p:sp>
    </p:spTree>
    <p:extLst>
      <p:ext uri="{BB962C8B-B14F-4D97-AF65-F5344CB8AC3E}">
        <p14:creationId xmlns:p14="http://schemas.microsoft.com/office/powerpoint/2010/main" val="2925122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lbertus Extra Bold"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lbertus Extra Bold"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lbertus Extra Bold"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lbertus Extra Bold"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lbertus Extra Bold"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B41E0A9-D23A-4D9E-8E36-829A8A18E11B}" type="slidenum">
              <a:rPr lang="en-US" smtClean="0"/>
              <a:pPr/>
              <a:t>1</a:t>
            </a:fld>
            <a:endParaRPr lang="en-US"/>
          </a:p>
        </p:txBody>
      </p:sp>
    </p:spTree>
    <p:extLst>
      <p:ext uri="{BB962C8B-B14F-4D97-AF65-F5344CB8AC3E}">
        <p14:creationId xmlns:p14="http://schemas.microsoft.com/office/powerpoint/2010/main" val="1698288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737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EDC63F5-7448-4855-8333-37815B195E5F}" type="slidenum">
              <a:rPr lang="en-US" sz="1300" smtClean="0"/>
              <a:pPr/>
              <a:t>34</a:t>
            </a:fld>
            <a:endParaRPr lang="en-US" sz="1300"/>
          </a:p>
        </p:txBody>
      </p:sp>
    </p:spTree>
    <p:extLst>
      <p:ext uri="{BB962C8B-B14F-4D97-AF65-F5344CB8AC3E}">
        <p14:creationId xmlns:p14="http://schemas.microsoft.com/office/powerpoint/2010/main" val="2448368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1ECC0D52-123C-445B-A9FE-DA5E1299D315}" type="slidenum">
              <a:rPr lang="en-US" sz="1300" smtClean="0"/>
              <a:pPr/>
              <a:t>36</a:t>
            </a:fld>
            <a:endParaRPr lang="en-US" sz="1300"/>
          </a:p>
        </p:txBody>
      </p:sp>
    </p:spTree>
    <p:extLst>
      <p:ext uri="{BB962C8B-B14F-4D97-AF65-F5344CB8AC3E}">
        <p14:creationId xmlns:p14="http://schemas.microsoft.com/office/powerpoint/2010/main" val="1344782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3062168-CA75-4DCB-ACA1-3CBE51E9BB62}"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lstStyle>
            <a:lvl1pPr>
              <a:defRPr sz="3600" b="1"/>
            </a:lvl1pPr>
          </a:lstStyle>
          <a:p>
            <a:r>
              <a:rPr lang="en-US" dirty="0"/>
              <a:t>Click to edit Master title style</a:t>
            </a:r>
          </a:p>
        </p:txBody>
      </p:sp>
      <p:sp>
        <p:nvSpPr>
          <p:cNvPr id="3" name="Content Placeholder 2"/>
          <p:cNvSpPr>
            <a:spLocks noGrp="1"/>
          </p:cNvSpPr>
          <p:nvPr>
            <p:ph idx="1"/>
          </p:nvPr>
        </p:nvSpPr>
        <p:spPr>
          <a:xfrm>
            <a:off x="457200" y="990600"/>
            <a:ext cx="8229600" cy="5135563"/>
          </a:xfrm>
        </p:spPr>
        <p:txBody>
          <a:bodyPr/>
          <a:lstStyle>
            <a:lvl1pPr>
              <a:defRPr sz="30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64D0444-4EDE-4B38-A1B6-1736318DBC55}"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FF321D8-A24E-4B03-8586-27459BEAE9B9}"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02C44912-138E-4802-853F-B984A9F1B841}"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2E9CEF9F-1C92-4FF0-B96A-F7A26EAD5EF0}"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2514A5D3-C54B-4997-83E3-9432E83EEA54}"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5E565590-C750-4EBE-B003-8C25E87E5ED3}"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B296C32-B7AF-4AD0-8CF7-595A42FA5988}"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1D90EA9-603D-4EE5-A1C2-41766C3D9182}"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17161DC-BD25-4CCF-BE89-96EEE98F52E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DDDD1C5-1327-4575-9025-19C1051F18E6}"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4665C853-9B71-41A6-85AE-FF9CB414E8D7}"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A263BF0B-CADE-419C-AB13-4AA4FFFE67C9}"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910E6B2F-18C5-4BBA-93EB-6AAC223AFA90}"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990D7465-2649-45B4-818D-D0220884C52B}"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1073B23E-588F-4102-9F6B-DE52C387C6E5}"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7510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510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7510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7511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AC57D645-5CE9-4EB9-B8B2-706EBA74EC38}"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oleObject" Target="../embeddings/oleObject1.bin"/><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wmf"/><Relationship Id="rId9" Type="http://schemas.openxmlformats.org/officeDocument/2006/relationships/image" Target="../media/image23.wmf"/></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6" name="Rectangle 4"/>
          <p:cNvSpPr>
            <a:spLocks noGrp="1" noChangeArrowheads="1"/>
          </p:cNvSpPr>
          <p:nvPr>
            <p:ph type="ctrTitle"/>
          </p:nvPr>
        </p:nvSpPr>
        <p:spPr>
          <a:xfrm>
            <a:off x="609600" y="1524000"/>
            <a:ext cx="7772400" cy="1470025"/>
          </a:xfrm>
        </p:spPr>
        <p:txBody>
          <a:bodyPr/>
          <a:lstStyle/>
          <a:p>
            <a:r>
              <a:rPr lang="en-US" sz="3600" dirty="0"/>
              <a:t>Catch, effort, CPUE, and bycatch</a:t>
            </a:r>
          </a:p>
        </p:txBody>
      </p:sp>
      <p:sp>
        <p:nvSpPr>
          <p:cNvPr id="64517" name="Rectangle 5"/>
          <p:cNvSpPr>
            <a:spLocks noGrp="1" noChangeArrowheads="1"/>
          </p:cNvSpPr>
          <p:nvPr>
            <p:ph type="subTitle" idx="1"/>
          </p:nvPr>
        </p:nvSpPr>
        <p:spPr>
          <a:xfrm>
            <a:off x="1714500" y="3350195"/>
            <a:ext cx="5715000" cy="1752600"/>
          </a:xfrm>
        </p:spPr>
        <p:txBody>
          <a:bodyPr/>
          <a:lstStyle/>
          <a:p>
            <a:r>
              <a:rPr lang="en-US" dirty="0"/>
              <a:t>Elizabeth A. Babcock</a:t>
            </a:r>
          </a:p>
        </p:txBody>
      </p:sp>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10" y="4953000"/>
            <a:ext cx="2990850"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7798A-3DED-8F57-2E23-C532429FFAF4}"/>
              </a:ext>
            </a:extLst>
          </p:cNvPr>
          <p:cNvSpPr>
            <a:spLocks noGrp="1"/>
          </p:cNvSpPr>
          <p:nvPr>
            <p:ph type="title"/>
          </p:nvPr>
        </p:nvSpPr>
        <p:spPr/>
        <p:txBody>
          <a:bodyPr/>
          <a:lstStyle/>
          <a:p>
            <a:r>
              <a:rPr lang="en-US" dirty="0"/>
              <a:t>Model based methods</a:t>
            </a:r>
          </a:p>
        </p:txBody>
      </p:sp>
      <p:sp>
        <p:nvSpPr>
          <p:cNvPr id="3" name="Content Placeholder 2">
            <a:extLst>
              <a:ext uri="{FF2B5EF4-FFF2-40B4-BE49-F238E27FC236}">
                <a16:creationId xmlns:a16="http://schemas.microsoft.com/office/drawing/2014/main" id="{B399B049-ABC9-5971-2705-947D3F6352AC}"/>
              </a:ext>
            </a:extLst>
          </p:cNvPr>
          <p:cNvSpPr>
            <a:spLocks noGrp="1"/>
          </p:cNvSpPr>
          <p:nvPr>
            <p:ph idx="1"/>
          </p:nvPr>
        </p:nvSpPr>
        <p:spPr/>
        <p:txBody>
          <a:bodyPr/>
          <a:lstStyle/>
          <a:p>
            <a:r>
              <a:rPr lang="en-US" dirty="0"/>
              <a:t>Abundance trends from surveys or opportunistic data (e.g. fisheries) are often standardized with generalized linear models</a:t>
            </a:r>
          </a:p>
          <a:p>
            <a:r>
              <a:rPr lang="en-US" dirty="0"/>
              <a:t>Advantages: smooths out random noise, can handle missing strata, can be used to combine different sampling gears, remove bias due to changes in sampling, etc. </a:t>
            </a:r>
          </a:p>
          <a:p>
            <a:r>
              <a:rPr lang="en-US" dirty="0"/>
              <a:t>Models can also be used to estimate total catch or bycatch from a sample of the  fishery (e.g. observer data) as an alternative to design-based methods. </a:t>
            </a:r>
          </a:p>
          <a:p>
            <a:endParaRPr lang="en-US" dirty="0"/>
          </a:p>
          <a:p>
            <a:pPr marL="0" indent="0">
              <a:buNone/>
            </a:pPr>
            <a:endParaRPr lang="en-US" dirty="0"/>
          </a:p>
        </p:txBody>
      </p:sp>
    </p:spTree>
    <p:extLst>
      <p:ext uri="{BB962C8B-B14F-4D97-AF65-F5344CB8AC3E}">
        <p14:creationId xmlns:p14="http://schemas.microsoft.com/office/powerpoint/2010/main" val="334804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20131" cy="487362"/>
          </a:xfrm>
        </p:spPr>
        <p:txBody>
          <a:bodyPr/>
          <a:lstStyle/>
          <a:p>
            <a:r>
              <a:rPr lang="en-US" sz="3200" dirty="0"/>
              <a:t>Catch per unit effort (CPUE) data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990600"/>
                <a:ext cx="7848600" cy="5592762"/>
              </a:xfrm>
            </p:spPr>
            <p:txBody>
              <a:bodyPr/>
              <a:lstStyle/>
              <a:p>
                <a:r>
                  <a:rPr lang="en-US" sz="2400" dirty="0"/>
                  <a:t>We expect that the catch in a fishery will be:</a:t>
                </a:r>
                <a:endParaRPr lang="en-US"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a:rPr>
                            <m:t>𝐶</m:t>
                          </m:r>
                        </m:e>
                        <m:sub>
                          <m:r>
                            <a:rPr lang="en-US" sz="2400" b="0" i="1" smtClean="0">
                              <a:latin typeface="Cambria Math"/>
                            </a:rPr>
                            <m:t>𝑡</m:t>
                          </m:r>
                        </m:sub>
                      </m:sSub>
                      <m:r>
                        <a:rPr lang="en-US" sz="2400" b="0" i="1" smtClean="0">
                          <a:latin typeface="Cambria Math"/>
                        </a:rPr>
                        <m:t>=</m:t>
                      </m:r>
                      <m:r>
                        <a:rPr lang="en-US" sz="2400" b="0" i="1" smtClean="0">
                          <a:latin typeface="Cambria Math"/>
                        </a:rPr>
                        <m:t>𝑞</m:t>
                      </m:r>
                      <m:sSub>
                        <m:sSubPr>
                          <m:ctrlPr>
                            <a:rPr lang="en-US" sz="2400" b="0" i="1" smtClean="0">
                              <a:latin typeface="Cambria Math" panose="02040503050406030204" pitchFamily="18" charset="0"/>
                            </a:rPr>
                          </m:ctrlPr>
                        </m:sSubPr>
                        <m:e>
                          <m:r>
                            <a:rPr lang="en-US" sz="2400" b="0" i="1" smtClean="0">
                              <a:latin typeface="Cambria Math"/>
                            </a:rPr>
                            <m:t>𝐸</m:t>
                          </m:r>
                        </m:e>
                        <m:sub>
                          <m:r>
                            <a:rPr lang="en-US" sz="2400" b="0" i="1" smtClean="0">
                              <a:latin typeface="Cambria Math"/>
                            </a:rPr>
                            <m:t>𝑡</m:t>
                          </m:r>
                        </m:sub>
                      </m:sSub>
                      <m:sSub>
                        <m:sSubPr>
                          <m:ctrlPr>
                            <a:rPr lang="en-US" sz="2400" i="1">
                              <a:latin typeface="Cambria Math" panose="02040503050406030204" pitchFamily="18" charset="0"/>
                            </a:rPr>
                          </m:ctrlPr>
                        </m:sSubPr>
                        <m:e>
                          <m:r>
                            <a:rPr lang="en-US" sz="2400" b="0" i="1" smtClean="0">
                              <a:latin typeface="Cambria Math"/>
                            </a:rPr>
                            <m:t>𝐵</m:t>
                          </m:r>
                        </m:e>
                        <m:sub>
                          <m:r>
                            <a:rPr lang="en-US" sz="2400" i="1">
                              <a:latin typeface="Cambria Math"/>
                            </a:rPr>
                            <m:t>𝑡</m:t>
                          </m:r>
                        </m:sub>
                      </m:sSub>
                    </m:oMath>
                  </m:oMathPara>
                </a14:m>
                <a:endParaRPr lang="en-US" sz="2400" dirty="0"/>
              </a:p>
              <a:p>
                <a:pPr marL="457200" lvl="1" indent="0">
                  <a:buNone/>
                </a:pPr>
                <a:r>
                  <a:rPr lang="en-US" sz="2000" dirty="0"/>
                  <a:t>C=catch, E is fishing effort, B is biomass, q is a constant </a:t>
                </a:r>
              </a:p>
              <a:p>
                <a:r>
                  <a:rPr lang="en-US" sz="2400" dirty="0"/>
                  <a:t>So CPUE: </a:t>
                </a:r>
                <a14:m>
                  <m:oMath xmlns:m="http://schemas.openxmlformats.org/officeDocument/2006/math">
                    <m:sSub>
                      <m:sSubPr>
                        <m:ctrlPr>
                          <a:rPr lang="en-US" sz="2400" i="1" smtClean="0">
                            <a:latin typeface="Cambria Math" panose="02040503050406030204" pitchFamily="18" charset="0"/>
                          </a:rPr>
                        </m:ctrlPr>
                      </m:sSubPr>
                      <m:e>
                        <m:d>
                          <m:dPr>
                            <m:ctrlPr>
                              <a:rPr lang="en-US" sz="2400" i="1" smtClean="0">
                                <a:latin typeface="Cambria Math" panose="02040503050406030204" pitchFamily="18" charset="0"/>
                              </a:rPr>
                            </m:ctrlPr>
                          </m:dPr>
                          <m:e>
                            <m:r>
                              <a:rPr lang="en-US" sz="2400" b="0" i="1" smtClean="0">
                                <a:latin typeface="Cambria Math"/>
                              </a:rPr>
                              <m:t>𝐶</m:t>
                            </m:r>
                            <m:r>
                              <a:rPr lang="en-US" sz="2400" b="0" i="1" smtClean="0">
                                <a:latin typeface="Cambria Math"/>
                              </a:rPr>
                              <m:t>/</m:t>
                            </m:r>
                            <m:r>
                              <a:rPr lang="en-US" sz="2400" b="0" i="1" smtClean="0">
                                <a:latin typeface="Cambria Math"/>
                              </a:rPr>
                              <m:t>𝐸</m:t>
                            </m:r>
                          </m:e>
                        </m:d>
                      </m:e>
                      <m:sub>
                        <m:r>
                          <a:rPr lang="en-US" sz="2400" i="1">
                            <a:latin typeface="Cambria Math"/>
                          </a:rPr>
                          <m:t>𝑡</m:t>
                        </m:r>
                      </m:sub>
                    </m:sSub>
                    <m:r>
                      <a:rPr lang="en-US" sz="2400" i="1">
                        <a:latin typeface="Cambria Math"/>
                      </a:rPr>
                      <m:t>=</m:t>
                    </m:r>
                    <m:r>
                      <a:rPr lang="en-US" sz="2400" i="1">
                        <a:latin typeface="Cambria Math"/>
                      </a:rPr>
                      <m:t>𝑞</m:t>
                    </m:r>
                    <m:sSub>
                      <m:sSubPr>
                        <m:ctrlPr>
                          <a:rPr lang="en-US" sz="2400" i="1">
                            <a:latin typeface="Cambria Math" panose="02040503050406030204" pitchFamily="18" charset="0"/>
                          </a:rPr>
                        </m:ctrlPr>
                      </m:sSubPr>
                      <m:e>
                        <m:r>
                          <a:rPr lang="en-US" sz="2400" i="1">
                            <a:latin typeface="Cambria Math"/>
                          </a:rPr>
                          <m:t>𝐵</m:t>
                        </m:r>
                      </m:e>
                      <m:sub>
                        <m:r>
                          <a:rPr lang="en-US" sz="2400" i="1">
                            <a:latin typeface="Cambria Math"/>
                          </a:rPr>
                          <m:t>𝑡</m:t>
                        </m:r>
                      </m:sub>
                    </m:sSub>
                  </m:oMath>
                </a14:m>
                <a:endParaRPr lang="en-US" sz="2400" dirty="0"/>
              </a:p>
              <a:p>
                <a:pPr marL="0" indent="0">
                  <a:buNone/>
                </a:pPr>
                <a:r>
                  <a:rPr lang="en-US" sz="2400" dirty="0"/>
                  <a:t>   and we can use CPUE as an index of abundance</a:t>
                </a:r>
              </a:p>
              <a:p>
                <a:r>
                  <a:rPr lang="en-US" sz="2400" dirty="0"/>
                  <a:t>Except that </a:t>
                </a:r>
              </a:p>
              <a:p>
                <a:pPr lvl="1"/>
                <a:r>
                  <a:rPr lang="en-US" sz="2000" dirty="0"/>
                  <a:t>fisheries are not randomly distributed</a:t>
                </a:r>
              </a:p>
              <a:p>
                <a:pPr lvl="1"/>
                <a:r>
                  <a:rPr lang="en-US" sz="2000" dirty="0"/>
                  <a:t> catchability (q) can be different in different areas or using different fishing methods, different environmental conditions.</a:t>
                </a:r>
              </a:p>
              <a:p>
                <a:r>
                  <a:rPr lang="en-US" sz="2400" dirty="0"/>
                  <a:t>GLM models are used to remove the bias in estimating biomass trends from CPUE by including variables that predict catchability in the model  (also GAM, geostatistical models)</a:t>
                </a:r>
              </a:p>
              <a:p>
                <a:pPr marL="0"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990600"/>
                <a:ext cx="7848600" cy="5592762"/>
              </a:xfrm>
              <a:blipFill>
                <a:blip r:embed="rId2"/>
                <a:stretch>
                  <a:fillRect l="-1009" t="-763"/>
                </a:stretch>
              </a:blipFill>
            </p:spPr>
            <p:txBody>
              <a:bodyPr/>
              <a:lstStyle/>
              <a:p>
                <a:r>
                  <a:rPr lang="en-US">
                    <a:noFill/>
                  </a:rPr>
                  <a:t> </a:t>
                </a:r>
              </a:p>
            </p:txBody>
          </p:sp>
        </mc:Fallback>
      </mc:AlternateContent>
    </p:spTree>
    <p:extLst>
      <p:ext uri="{BB962C8B-B14F-4D97-AF65-F5344CB8AC3E}">
        <p14:creationId xmlns:p14="http://schemas.microsoft.com/office/powerpoint/2010/main" val="3384529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CBC47-24E0-E24E-C6BE-17E506A9BC91}"/>
              </a:ext>
            </a:extLst>
          </p:cNvPr>
          <p:cNvSpPr>
            <a:spLocks noGrp="1"/>
          </p:cNvSpPr>
          <p:nvPr>
            <p:ph type="title"/>
          </p:nvPr>
        </p:nvSpPr>
        <p:spPr/>
        <p:txBody>
          <a:bodyPr/>
          <a:lstStyle/>
          <a:p>
            <a:r>
              <a:rPr lang="en-US" dirty="0"/>
              <a:t>CPUE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5DC322-FD92-086F-3045-FC186BA91994}"/>
                  </a:ext>
                </a:extLst>
              </p:cNvPr>
              <p:cNvSpPr>
                <a:spLocks noGrp="1"/>
              </p:cNvSpPr>
              <p:nvPr>
                <p:ph idx="1"/>
              </p:nvPr>
            </p:nvSpPr>
            <p:spPr>
              <a:xfrm>
                <a:off x="477715" y="990600"/>
                <a:ext cx="8229600" cy="5135563"/>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d>
                            <m:dPr>
                              <m:ctrlPr>
                                <a:rPr lang="en-US" sz="3200" i="1">
                                  <a:latin typeface="Cambria Math" panose="02040503050406030204" pitchFamily="18" charset="0"/>
                                </a:rPr>
                              </m:ctrlPr>
                            </m:dPr>
                            <m:e>
                              <m:r>
                                <a:rPr lang="en-US" sz="3200" i="1">
                                  <a:latin typeface="Cambria Math"/>
                                </a:rPr>
                                <m:t>𝐶</m:t>
                              </m:r>
                              <m:r>
                                <a:rPr lang="en-US" sz="3200" i="1">
                                  <a:latin typeface="Cambria Math"/>
                                </a:rPr>
                                <m:t>/</m:t>
                              </m:r>
                              <m:r>
                                <a:rPr lang="en-US" sz="3200" i="1">
                                  <a:latin typeface="Cambria Math"/>
                                </a:rPr>
                                <m:t>𝐸</m:t>
                              </m:r>
                            </m:e>
                          </m:d>
                        </m:e>
                        <m:sub>
                          <m:r>
                            <a:rPr lang="en-US" sz="3200" i="1">
                              <a:latin typeface="Cambria Math" panose="02040503050406030204" pitchFamily="18" charset="0"/>
                            </a:rPr>
                            <m:t>𝑖</m:t>
                          </m:r>
                          <m:r>
                            <a:rPr lang="en-US" sz="3200" i="1">
                              <a:latin typeface="Cambria Math" panose="02040503050406030204" pitchFamily="18" charset="0"/>
                            </a:rPr>
                            <m:t>,</m:t>
                          </m:r>
                          <m:r>
                            <a:rPr lang="en-US" sz="3200" i="1">
                              <a:latin typeface="Cambria Math"/>
                            </a:rPr>
                            <m:t>𝑡</m:t>
                          </m:r>
                        </m:sub>
                      </m:sSub>
                      <m:r>
                        <a:rPr lang="en-US" sz="3200" i="1">
                          <a:latin typeface="Cambria Math"/>
                        </a:rPr>
                        <m:t>=</m:t>
                      </m:r>
                      <m:r>
                        <a:rPr lang="en-US" sz="3200" b="0" i="1" smtClean="0">
                          <a:latin typeface="Cambria Math" panose="02040503050406030204" pitchFamily="18" charset="0"/>
                        </a:rPr>
                        <m:t>𝑦𝑒𝑎𝑟</m:t>
                      </m:r>
                      <m:r>
                        <a:rPr lang="en-US" sz="3200" b="0" i="1" smtClean="0">
                          <a:latin typeface="Cambria Math" panose="02040503050406030204" pitchFamily="18" charset="0"/>
                        </a:rPr>
                        <m:t>+</m:t>
                      </m:r>
                      <m:r>
                        <a:rPr lang="en-US" sz="3200" b="0" i="1" smtClean="0">
                          <a:latin typeface="Cambria Math" panose="02040503050406030204" pitchFamily="18" charset="0"/>
                        </a:rPr>
                        <m:t>𝑔𝑒𝑎𝑟</m:t>
                      </m:r>
                      <m:r>
                        <a:rPr lang="en-US" sz="3200" b="0" i="1" smtClean="0">
                          <a:latin typeface="Cambria Math" panose="02040503050406030204" pitchFamily="18" charset="0"/>
                        </a:rPr>
                        <m:t>+</m:t>
                      </m:r>
                      <m:r>
                        <a:rPr lang="en-US" sz="3200" b="0" i="1" smtClean="0">
                          <a:latin typeface="Cambria Math" panose="02040503050406030204" pitchFamily="18" charset="0"/>
                        </a:rPr>
                        <m:t>𝑎𝑟𝑒𝑎</m:t>
                      </m:r>
                      <m:r>
                        <a:rPr lang="en-US" sz="3200" b="0" i="1" smtClean="0">
                          <a:latin typeface="Cambria Math" panose="02040503050406030204" pitchFamily="18" charset="0"/>
                        </a:rPr>
                        <m:t>+</m:t>
                      </m:r>
                      <m:r>
                        <a:rPr lang="en-US" sz="3200" b="0" i="1" smtClean="0">
                          <a:latin typeface="Cambria Math" panose="02040503050406030204" pitchFamily="18" charset="0"/>
                        </a:rPr>
                        <m:t>𝑑𝑒𝑝𝑡h</m:t>
                      </m:r>
                      <m:r>
                        <a:rPr lang="en-US" sz="3200" b="0" i="1" smtClean="0">
                          <a:latin typeface="Cambria Math" panose="02040503050406030204" pitchFamily="18" charset="0"/>
                        </a:rPr>
                        <m:t>+…</m:t>
                      </m:r>
                    </m:oMath>
                  </m:oMathPara>
                </a14:m>
                <a:endParaRPr lang="en-US" dirty="0"/>
              </a:p>
              <a:p>
                <a:pPr marL="0" indent="0">
                  <a:buNone/>
                </a:pPr>
                <a:endParaRPr lang="en-US" dirty="0"/>
              </a:p>
              <a:p>
                <a:pPr marL="0" indent="0">
                  <a:buNone/>
                </a:pPr>
                <a:endParaRPr lang="en-US" dirty="0"/>
              </a:p>
              <a:p>
                <a:pPr marL="0" indent="0">
                  <a:buNone/>
                </a:pPr>
                <a:endParaRPr lang="en-US" dirty="0"/>
              </a:p>
              <a:p>
                <a:pPr>
                  <a:buFont typeface="Arial" panose="020B0604020202020204" pitchFamily="34" charset="0"/>
                  <a:buChar char="•"/>
                </a:pPr>
                <a:r>
                  <a:rPr lang="en-US" dirty="0"/>
                  <a:t>So, the year effect is an index of abundance across time. </a:t>
                </a:r>
              </a:p>
              <a:p>
                <a:pPr>
                  <a:buFont typeface="Arial" panose="020B0604020202020204" pitchFamily="34" charset="0"/>
                  <a:buChar char="•"/>
                </a:pPr>
                <a:r>
                  <a:rPr lang="en-US" dirty="0"/>
                  <a:t>Or, hold gear, area, depth, etc. constant at their mean or most common value and predict CPUE per year</a:t>
                </a:r>
              </a:p>
              <a:p>
                <a:pPr>
                  <a:buFont typeface="Arial" panose="020B0604020202020204" pitchFamily="34" charset="0"/>
                  <a:buChar char="•"/>
                </a:pPr>
                <a:r>
                  <a:rPr lang="en-US" dirty="0"/>
                  <a:t>Spatial patterns that vary between year can require extra modeling</a:t>
                </a:r>
              </a:p>
            </p:txBody>
          </p:sp>
        </mc:Choice>
        <mc:Fallback xmlns="">
          <p:sp>
            <p:nvSpPr>
              <p:cNvPr id="3" name="Content Placeholder 2">
                <a:extLst>
                  <a:ext uri="{FF2B5EF4-FFF2-40B4-BE49-F238E27FC236}">
                    <a16:creationId xmlns:a16="http://schemas.microsoft.com/office/drawing/2014/main" id="{665DC322-FD92-086F-3045-FC186BA91994}"/>
                  </a:ext>
                </a:extLst>
              </p:cNvPr>
              <p:cNvSpPr>
                <a:spLocks noGrp="1" noRot="1" noChangeAspect="1" noMove="1" noResize="1" noEditPoints="1" noAdjustHandles="1" noChangeArrowheads="1" noChangeShapeType="1" noTextEdit="1"/>
              </p:cNvSpPr>
              <p:nvPr>
                <p:ph idx="1"/>
              </p:nvPr>
            </p:nvSpPr>
            <p:spPr>
              <a:xfrm>
                <a:off x="477715" y="990600"/>
                <a:ext cx="8229600" cy="5135563"/>
              </a:xfrm>
              <a:blipFill>
                <a:blip r:embed="rId2"/>
                <a:stretch>
                  <a:fillRect l="-1481" b="-14964"/>
                </a:stretch>
              </a:blipFill>
            </p:spPr>
            <p:txBody>
              <a:bodyPr/>
              <a:lstStyle/>
              <a:p>
                <a:r>
                  <a:rPr lang="en-US">
                    <a:noFill/>
                  </a:rPr>
                  <a:t> </a:t>
                </a:r>
              </a:p>
            </p:txBody>
          </p:sp>
        </mc:Fallback>
      </mc:AlternateContent>
      <p:sp>
        <p:nvSpPr>
          <p:cNvPr id="4" name="Left Brace 3">
            <a:extLst>
              <a:ext uri="{FF2B5EF4-FFF2-40B4-BE49-F238E27FC236}">
                <a16:creationId xmlns:a16="http://schemas.microsoft.com/office/drawing/2014/main" id="{B2D0257B-BBDD-9A95-9FC8-3A8A929062E3}"/>
              </a:ext>
            </a:extLst>
          </p:cNvPr>
          <p:cNvSpPr/>
          <p:nvPr/>
        </p:nvSpPr>
        <p:spPr>
          <a:xfrm rot="16200000">
            <a:off x="2667000" y="1371600"/>
            <a:ext cx="762000" cy="1066800"/>
          </a:xfrm>
          <a:prstGeom prst="leftBrace">
            <a:avLst/>
          </a:prstGeom>
          <a:no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Left Brace 4">
            <a:extLst>
              <a:ext uri="{FF2B5EF4-FFF2-40B4-BE49-F238E27FC236}">
                <a16:creationId xmlns:a16="http://schemas.microsoft.com/office/drawing/2014/main" id="{763343A9-DB09-2017-EA0F-309E44120E23}"/>
              </a:ext>
            </a:extLst>
          </p:cNvPr>
          <p:cNvSpPr/>
          <p:nvPr/>
        </p:nvSpPr>
        <p:spPr>
          <a:xfrm rot="16200000">
            <a:off x="5562600" y="76200"/>
            <a:ext cx="762000" cy="3810000"/>
          </a:xfrm>
          <a:prstGeom prst="leftBrace">
            <a:avLst/>
          </a:prstGeom>
          <a:no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EBBAF2E0-FDB7-307F-E3B1-88560BDC04C2}"/>
              </a:ext>
            </a:extLst>
          </p:cNvPr>
          <p:cNvSpPr txBox="1"/>
          <p:nvPr/>
        </p:nvSpPr>
        <p:spPr>
          <a:xfrm>
            <a:off x="2286000" y="2362200"/>
            <a:ext cx="1524000" cy="923330"/>
          </a:xfrm>
          <a:prstGeom prst="rect">
            <a:avLst/>
          </a:prstGeom>
          <a:noFill/>
        </p:spPr>
        <p:txBody>
          <a:bodyPr wrap="square" rtlCol="0">
            <a:spAutoFit/>
          </a:bodyPr>
          <a:lstStyle/>
          <a:p>
            <a:r>
              <a:rPr lang="en-US" dirty="0"/>
              <a:t>Actual change in abundance</a:t>
            </a:r>
          </a:p>
        </p:txBody>
      </p:sp>
      <p:sp>
        <p:nvSpPr>
          <p:cNvPr id="7" name="TextBox 6">
            <a:extLst>
              <a:ext uri="{FF2B5EF4-FFF2-40B4-BE49-F238E27FC236}">
                <a16:creationId xmlns:a16="http://schemas.microsoft.com/office/drawing/2014/main" id="{3D39823E-F864-DF08-D32D-6BB282BDE8D5}"/>
              </a:ext>
            </a:extLst>
          </p:cNvPr>
          <p:cNvSpPr txBox="1"/>
          <p:nvPr/>
        </p:nvSpPr>
        <p:spPr>
          <a:xfrm>
            <a:off x="4592515" y="2438400"/>
            <a:ext cx="3484685" cy="369332"/>
          </a:xfrm>
          <a:prstGeom prst="rect">
            <a:avLst/>
          </a:prstGeom>
          <a:noFill/>
        </p:spPr>
        <p:txBody>
          <a:bodyPr wrap="square" rtlCol="0">
            <a:spAutoFit/>
          </a:bodyPr>
          <a:lstStyle/>
          <a:p>
            <a:r>
              <a:rPr lang="en-US" dirty="0"/>
              <a:t>Things that impact catchability</a:t>
            </a:r>
          </a:p>
        </p:txBody>
      </p:sp>
    </p:spTree>
    <p:extLst>
      <p:ext uri="{BB962C8B-B14F-4D97-AF65-F5344CB8AC3E}">
        <p14:creationId xmlns:p14="http://schemas.microsoft.com/office/powerpoint/2010/main" val="726719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9FE2C-D9FB-7719-1699-87CA6AA4DC3D}"/>
              </a:ext>
            </a:extLst>
          </p:cNvPr>
          <p:cNvSpPr>
            <a:spLocks noGrp="1"/>
          </p:cNvSpPr>
          <p:nvPr>
            <p:ph type="title"/>
          </p:nvPr>
        </p:nvSpPr>
        <p:spPr/>
        <p:txBody>
          <a:bodyPr/>
          <a:lstStyle/>
          <a:p>
            <a:r>
              <a:rPr lang="en-US" dirty="0"/>
              <a:t>Hoyle et al. Good Practices</a:t>
            </a:r>
          </a:p>
        </p:txBody>
      </p:sp>
      <p:pic>
        <p:nvPicPr>
          <p:cNvPr id="5" name="Content Placeholder 4">
            <a:extLst>
              <a:ext uri="{FF2B5EF4-FFF2-40B4-BE49-F238E27FC236}">
                <a16:creationId xmlns:a16="http://schemas.microsoft.com/office/drawing/2014/main" id="{70ABAD27-E12F-B1E7-5B63-B216886ABD61}"/>
              </a:ext>
            </a:extLst>
          </p:cNvPr>
          <p:cNvPicPr>
            <a:picLocks noGrp="1" noChangeAspect="1"/>
          </p:cNvPicPr>
          <p:nvPr>
            <p:ph idx="1"/>
          </p:nvPr>
        </p:nvPicPr>
        <p:blipFill>
          <a:blip r:embed="rId2"/>
          <a:stretch>
            <a:fillRect/>
          </a:stretch>
        </p:blipFill>
        <p:spPr bwMode="auto">
          <a:xfrm>
            <a:off x="1298624" y="990600"/>
            <a:ext cx="6546751" cy="5135563"/>
          </a:xfrm>
          <a:prstGeom prst="rect">
            <a:avLst/>
          </a:prstGeom>
          <a:noFill/>
          <a:ln w="9525">
            <a:noFill/>
            <a:miter lim="800000"/>
            <a:headEnd/>
            <a:tailEnd/>
          </a:ln>
          <a:effectLst/>
        </p:spPr>
      </p:pic>
    </p:spTree>
    <p:extLst>
      <p:ext uri="{BB962C8B-B14F-4D97-AF65-F5344CB8AC3E}">
        <p14:creationId xmlns:p14="http://schemas.microsoft.com/office/powerpoint/2010/main" val="1732136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F241A-BFFE-4FED-8767-D5F2A8151D28}"/>
              </a:ext>
            </a:extLst>
          </p:cNvPr>
          <p:cNvSpPr>
            <a:spLocks noGrp="1"/>
          </p:cNvSpPr>
          <p:nvPr>
            <p:ph type="title"/>
          </p:nvPr>
        </p:nvSpPr>
        <p:spPr/>
        <p:txBody>
          <a:bodyPr>
            <a:normAutofit fontScale="90000"/>
          </a:bodyPr>
          <a:lstStyle/>
          <a:p>
            <a:r>
              <a:rPr lang="en-US" dirty="0"/>
              <a:t>Longline fishery simulator</a:t>
            </a:r>
          </a:p>
        </p:txBody>
      </p:sp>
      <p:sp>
        <p:nvSpPr>
          <p:cNvPr id="3" name="Content Placeholder 2">
            <a:extLst>
              <a:ext uri="{FF2B5EF4-FFF2-40B4-BE49-F238E27FC236}">
                <a16:creationId xmlns:a16="http://schemas.microsoft.com/office/drawing/2014/main" id="{2671DC5F-D6BF-4EC2-AF4B-BBF0EE947A01}"/>
              </a:ext>
            </a:extLst>
          </p:cNvPr>
          <p:cNvSpPr>
            <a:spLocks noGrp="1"/>
          </p:cNvSpPr>
          <p:nvPr>
            <p:ph idx="1"/>
          </p:nvPr>
        </p:nvSpPr>
        <p:spPr>
          <a:xfrm>
            <a:off x="457200" y="838201"/>
            <a:ext cx="7772400" cy="5029200"/>
          </a:xfrm>
        </p:spPr>
        <p:txBody>
          <a:bodyPr>
            <a:normAutofit/>
          </a:bodyPr>
          <a:lstStyle/>
          <a:p>
            <a:r>
              <a:rPr lang="en-US" dirty="0"/>
              <a:t>Simulates the approximate effort and 3D depth distribution for hooks  in USA, Japan and Brazil longline fleets</a:t>
            </a:r>
          </a:p>
          <a:p>
            <a:r>
              <a:rPr lang="en-US" dirty="0"/>
              <a:t>Probability of catching a blue marlin on each hook based on overlap between hooks and blue marlin SDM</a:t>
            </a:r>
          </a:p>
          <a:p>
            <a:endParaRPr lang="en-US" dirty="0"/>
          </a:p>
        </p:txBody>
      </p:sp>
      <p:sp>
        <p:nvSpPr>
          <p:cNvPr id="4" name="TextBox 3">
            <a:extLst>
              <a:ext uri="{FF2B5EF4-FFF2-40B4-BE49-F238E27FC236}">
                <a16:creationId xmlns:a16="http://schemas.microsoft.com/office/drawing/2014/main" id="{9024A62F-F3C4-4872-B0E6-70916998AC39}"/>
              </a:ext>
            </a:extLst>
          </p:cNvPr>
          <p:cNvSpPr txBox="1"/>
          <p:nvPr/>
        </p:nvSpPr>
        <p:spPr>
          <a:xfrm>
            <a:off x="304800" y="6537643"/>
            <a:ext cx="3200400" cy="369332"/>
          </a:xfrm>
          <a:prstGeom prst="rect">
            <a:avLst/>
          </a:prstGeom>
          <a:noFill/>
        </p:spPr>
        <p:txBody>
          <a:bodyPr wrap="square" rtlCol="0">
            <a:spAutoFit/>
          </a:bodyPr>
          <a:lstStyle/>
          <a:p>
            <a:r>
              <a:rPr lang="en-US" dirty="0"/>
              <a:t>Goodyear 2011, 2021, etc.</a:t>
            </a:r>
          </a:p>
        </p:txBody>
      </p:sp>
      <p:pic>
        <p:nvPicPr>
          <p:cNvPr id="6" name="Picture 5" descr="Diagram&#10;&#10;Description automatically generated">
            <a:extLst>
              <a:ext uri="{FF2B5EF4-FFF2-40B4-BE49-F238E27FC236}">
                <a16:creationId xmlns:a16="http://schemas.microsoft.com/office/drawing/2014/main" id="{8688A848-F75B-4D34-B461-A46B79E8DC5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2971800" y="3925358"/>
            <a:ext cx="4724400" cy="2526242"/>
          </a:xfrm>
          <a:prstGeom prst="rect">
            <a:avLst/>
          </a:prstGeom>
        </p:spPr>
      </p:pic>
    </p:spTree>
    <p:extLst>
      <p:ext uri="{BB962C8B-B14F-4D97-AF65-F5344CB8AC3E}">
        <p14:creationId xmlns:p14="http://schemas.microsoft.com/office/powerpoint/2010/main" val="24764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EAB32-1E0C-79DB-0026-A778398175C2}"/>
              </a:ext>
            </a:extLst>
          </p:cNvPr>
          <p:cNvSpPr>
            <a:spLocks noGrp="1"/>
          </p:cNvSpPr>
          <p:nvPr>
            <p:ph type="title"/>
          </p:nvPr>
        </p:nvSpPr>
        <p:spPr/>
        <p:txBody>
          <a:bodyPr/>
          <a:lstStyle/>
          <a:p>
            <a:r>
              <a:rPr lang="en-US" dirty="0"/>
              <a:t>Generalized linear models</a:t>
            </a:r>
          </a:p>
        </p:txBody>
      </p:sp>
      <p:sp>
        <p:nvSpPr>
          <p:cNvPr id="3" name="Content Placeholder 2">
            <a:extLst>
              <a:ext uri="{FF2B5EF4-FFF2-40B4-BE49-F238E27FC236}">
                <a16:creationId xmlns:a16="http://schemas.microsoft.com/office/drawing/2014/main" id="{86C39403-A38C-95FF-37D7-B965E36A6749}"/>
              </a:ext>
            </a:extLst>
          </p:cNvPr>
          <p:cNvSpPr>
            <a:spLocks noGrp="1"/>
          </p:cNvSpPr>
          <p:nvPr>
            <p:ph idx="1"/>
          </p:nvPr>
        </p:nvSpPr>
        <p:spPr/>
        <p:txBody>
          <a:bodyPr/>
          <a:lstStyle/>
          <a:p>
            <a:r>
              <a:rPr lang="en-US" dirty="0"/>
              <a:t>Numbers or biomass from surveys usually have many zeros</a:t>
            </a:r>
          </a:p>
          <a:p>
            <a:r>
              <a:rPr lang="en-US" dirty="0"/>
              <a:t>Common generalized linear models for zero-inflated data are:</a:t>
            </a:r>
          </a:p>
          <a:p>
            <a:pPr lvl="1"/>
            <a:r>
              <a:rPr lang="en-US" dirty="0"/>
              <a:t>Delta-lognormal</a:t>
            </a:r>
          </a:p>
          <a:p>
            <a:pPr lvl="1"/>
            <a:r>
              <a:rPr lang="en-US" dirty="0"/>
              <a:t>Tweedie</a:t>
            </a:r>
          </a:p>
          <a:p>
            <a:pPr lvl="1"/>
            <a:r>
              <a:rPr lang="en-US" dirty="0"/>
              <a:t>Negative binomial</a:t>
            </a:r>
          </a:p>
          <a:p>
            <a:r>
              <a:rPr lang="en-US" dirty="0"/>
              <a:t>All of these are in </a:t>
            </a:r>
            <a:r>
              <a:rPr lang="en-US" dirty="0" err="1"/>
              <a:t>glmmTMB</a:t>
            </a:r>
            <a:endParaRPr lang="en-US" dirty="0"/>
          </a:p>
          <a:p>
            <a:endParaRPr lang="en-US" dirty="0"/>
          </a:p>
        </p:txBody>
      </p:sp>
    </p:spTree>
    <p:extLst>
      <p:ext uri="{BB962C8B-B14F-4D97-AF65-F5344CB8AC3E}">
        <p14:creationId xmlns:p14="http://schemas.microsoft.com/office/powerpoint/2010/main" val="3291072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AFDD0-ED4B-A0E7-E6DC-9F0A5A4D78CB}"/>
              </a:ext>
            </a:extLst>
          </p:cNvPr>
          <p:cNvSpPr>
            <a:spLocks noGrp="1"/>
          </p:cNvSpPr>
          <p:nvPr>
            <p:ph type="title"/>
          </p:nvPr>
        </p:nvSpPr>
        <p:spPr/>
        <p:txBody>
          <a:bodyPr/>
          <a:lstStyle/>
          <a:p>
            <a:r>
              <a:rPr lang="en-US" dirty="0"/>
              <a:t>GLM characteristics</a:t>
            </a:r>
          </a:p>
        </p:txBody>
      </p:sp>
      <p:pic>
        <p:nvPicPr>
          <p:cNvPr id="4" name="Content Placeholder 6">
            <a:extLst>
              <a:ext uri="{FF2B5EF4-FFF2-40B4-BE49-F238E27FC236}">
                <a16:creationId xmlns:a16="http://schemas.microsoft.com/office/drawing/2014/main" id="{27059C0A-01AC-FEFF-BF8C-8DC4AA379C5B}"/>
              </a:ext>
            </a:extLst>
          </p:cNvPr>
          <p:cNvPicPr>
            <a:picLocks noGrp="1" noChangeAspect="1"/>
          </p:cNvPicPr>
          <p:nvPr>
            <p:ph idx="1"/>
          </p:nvPr>
        </p:nvPicPr>
        <p:blipFill>
          <a:blip r:embed="rId2"/>
          <a:stretch>
            <a:fillRect/>
          </a:stretch>
        </p:blipFill>
        <p:spPr>
          <a:xfrm>
            <a:off x="457200" y="2275847"/>
            <a:ext cx="8229600" cy="2565069"/>
          </a:xfrm>
        </p:spPr>
      </p:pic>
    </p:spTree>
    <p:extLst>
      <p:ext uri="{BB962C8B-B14F-4D97-AF65-F5344CB8AC3E}">
        <p14:creationId xmlns:p14="http://schemas.microsoft.com/office/powerpoint/2010/main" val="2951664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B020F-8853-C739-76B4-0DFEB7CC3620}"/>
              </a:ext>
            </a:extLst>
          </p:cNvPr>
          <p:cNvSpPr>
            <a:spLocks noGrp="1"/>
          </p:cNvSpPr>
          <p:nvPr>
            <p:ph type="title"/>
          </p:nvPr>
        </p:nvSpPr>
        <p:spPr/>
        <p:txBody>
          <a:bodyPr/>
          <a:lstStyle/>
          <a:p>
            <a:r>
              <a:rPr lang="en-US" dirty="0"/>
              <a:t>Variance vs. mean</a:t>
            </a:r>
          </a:p>
        </p:txBody>
      </p:sp>
      <p:pic>
        <p:nvPicPr>
          <p:cNvPr id="4" name="Content Placeholder 3" descr="A picture containing line, plot, diagram, slope&#10;&#10;Description automatically generated">
            <a:extLst>
              <a:ext uri="{FF2B5EF4-FFF2-40B4-BE49-F238E27FC236}">
                <a16:creationId xmlns:a16="http://schemas.microsoft.com/office/drawing/2014/main" id="{A252DB24-0196-64BF-7296-9D7C105FB7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021805"/>
            <a:ext cx="8229600" cy="5073152"/>
          </a:xfrm>
          <a:prstGeom prst="rect">
            <a:avLst/>
          </a:prstGeom>
        </p:spPr>
      </p:pic>
    </p:spTree>
    <p:extLst>
      <p:ext uri="{BB962C8B-B14F-4D97-AF65-F5344CB8AC3E}">
        <p14:creationId xmlns:p14="http://schemas.microsoft.com/office/powerpoint/2010/main" val="1241835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2AF6C-B5F3-6423-ADF8-0DABB621A964}"/>
              </a:ext>
            </a:extLst>
          </p:cNvPr>
          <p:cNvSpPr>
            <a:spLocks noGrp="1"/>
          </p:cNvSpPr>
          <p:nvPr>
            <p:ph type="title"/>
          </p:nvPr>
        </p:nvSpPr>
        <p:spPr/>
        <p:txBody>
          <a:bodyPr/>
          <a:lstStyle/>
          <a:p>
            <a:r>
              <a:rPr lang="en-US" dirty="0"/>
              <a:t>Model set up </a:t>
            </a:r>
          </a:p>
        </p:txBody>
      </p:sp>
      <p:sp>
        <p:nvSpPr>
          <p:cNvPr id="3" name="Content Placeholder 2">
            <a:extLst>
              <a:ext uri="{FF2B5EF4-FFF2-40B4-BE49-F238E27FC236}">
                <a16:creationId xmlns:a16="http://schemas.microsoft.com/office/drawing/2014/main" id="{652CDC42-B01A-8242-7625-7CA8520D526F}"/>
              </a:ext>
            </a:extLst>
          </p:cNvPr>
          <p:cNvSpPr>
            <a:spLocks noGrp="1"/>
          </p:cNvSpPr>
          <p:nvPr>
            <p:ph idx="1"/>
          </p:nvPr>
        </p:nvSpPr>
        <p:spPr/>
        <p:txBody>
          <a:bodyPr/>
          <a:lstStyle/>
          <a:p>
            <a:r>
              <a:rPr lang="en-US" dirty="0"/>
              <a:t>Sample unit is usually a fishing set, or fishing trip, or something more aggregated (e.g. region-month)</a:t>
            </a:r>
          </a:p>
          <a:p>
            <a:r>
              <a:rPr lang="en-US" dirty="0"/>
              <a:t>Need set-by-set data to use environmental variables. </a:t>
            </a:r>
          </a:p>
          <a:p>
            <a:r>
              <a:rPr lang="en-US" dirty="0"/>
              <a:t>If there is any stratification in the design, stratification variables should be included (e.g. if data is from a stratified random at-sea observer program)</a:t>
            </a:r>
          </a:p>
          <a:p>
            <a:r>
              <a:rPr lang="en-US" dirty="0"/>
              <a:t>Year is generally a factor, so there is a different estimate in each year </a:t>
            </a:r>
          </a:p>
        </p:txBody>
      </p:sp>
    </p:spTree>
    <p:extLst>
      <p:ext uri="{BB962C8B-B14F-4D97-AF65-F5344CB8AC3E}">
        <p14:creationId xmlns:p14="http://schemas.microsoft.com/office/powerpoint/2010/main" val="2845634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20286-A266-CD74-2033-8D9E090BF29E}"/>
              </a:ext>
            </a:extLst>
          </p:cNvPr>
          <p:cNvSpPr>
            <a:spLocks noGrp="1"/>
          </p:cNvSpPr>
          <p:nvPr>
            <p:ph type="title"/>
          </p:nvPr>
        </p:nvSpPr>
        <p:spPr/>
        <p:txBody>
          <a:bodyPr/>
          <a:lstStyle/>
          <a:p>
            <a:r>
              <a:rPr lang="en-US" dirty="0"/>
              <a:t>GLM standardization workflow</a:t>
            </a:r>
          </a:p>
        </p:txBody>
      </p:sp>
      <p:sp>
        <p:nvSpPr>
          <p:cNvPr id="3" name="Content Placeholder 2">
            <a:extLst>
              <a:ext uri="{FF2B5EF4-FFF2-40B4-BE49-F238E27FC236}">
                <a16:creationId xmlns:a16="http://schemas.microsoft.com/office/drawing/2014/main" id="{810E253E-354A-D382-EE35-9849D76681F0}"/>
              </a:ext>
            </a:extLst>
          </p:cNvPr>
          <p:cNvSpPr>
            <a:spLocks noGrp="1"/>
          </p:cNvSpPr>
          <p:nvPr>
            <p:ph idx="1"/>
          </p:nvPr>
        </p:nvSpPr>
        <p:spPr/>
        <p:txBody>
          <a:bodyPr/>
          <a:lstStyle/>
          <a:p>
            <a:r>
              <a:rPr lang="en-US" dirty="0"/>
              <a:t>Plot data to find appropriate observation error model (e.g. Poisson, Tweedie)</a:t>
            </a:r>
          </a:p>
          <a:p>
            <a:r>
              <a:rPr lang="en-US" dirty="0"/>
              <a:t>Use quantile residuals (</a:t>
            </a:r>
            <a:r>
              <a:rPr lang="en-US" dirty="0" err="1"/>
              <a:t>DHARMa</a:t>
            </a:r>
            <a:r>
              <a:rPr lang="en-US" dirty="0"/>
              <a:t>) to make sure observation error model works. </a:t>
            </a:r>
          </a:p>
          <a:p>
            <a:r>
              <a:rPr lang="en-US" dirty="0"/>
              <a:t>Fit the model and use AIC and BIC to find best combination of predictor variables</a:t>
            </a:r>
          </a:p>
        </p:txBody>
      </p:sp>
    </p:spTree>
    <p:extLst>
      <p:ext uri="{BB962C8B-B14F-4D97-AF65-F5344CB8AC3E}">
        <p14:creationId xmlns:p14="http://schemas.microsoft.com/office/powerpoint/2010/main" val="2188219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71DD0-7B35-3B6B-7AD9-7D07831DCCD4}"/>
              </a:ext>
            </a:extLst>
          </p:cNvPr>
          <p:cNvSpPr>
            <a:spLocks noGrp="1"/>
          </p:cNvSpPr>
          <p:nvPr>
            <p:ph type="title"/>
          </p:nvPr>
        </p:nvSpPr>
        <p:spPr/>
        <p:txBody>
          <a:bodyPr/>
          <a:lstStyle/>
          <a:p>
            <a:r>
              <a:rPr lang="en-US" dirty="0"/>
              <a:t>BUM data</a:t>
            </a:r>
          </a:p>
        </p:txBody>
      </p:sp>
      <p:pic>
        <p:nvPicPr>
          <p:cNvPr id="5" name="Content Placeholder 4" descr="A graph with a number of lines&#10;&#10;AI-generated content may be incorrect.">
            <a:extLst>
              <a:ext uri="{FF2B5EF4-FFF2-40B4-BE49-F238E27FC236}">
                <a16:creationId xmlns:a16="http://schemas.microsoft.com/office/drawing/2014/main" id="{8040A84A-5C90-511D-183D-8A91F0471C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012196"/>
            <a:ext cx="7314574" cy="4520242"/>
          </a:xfrm>
        </p:spPr>
      </p:pic>
    </p:spTree>
    <p:extLst>
      <p:ext uri="{BB962C8B-B14F-4D97-AF65-F5344CB8AC3E}">
        <p14:creationId xmlns:p14="http://schemas.microsoft.com/office/powerpoint/2010/main" val="910528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CD513-A245-C96E-77ED-AC59F5BE82B0}"/>
              </a:ext>
            </a:extLst>
          </p:cNvPr>
          <p:cNvSpPr>
            <a:spLocks noGrp="1"/>
          </p:cNvSpPr>
          <p:nvPr>
            <p:ph type="title"/>
          </p:nvPr>
        </p:nvSpPr>
        <p:spPr/>
        <p:txBody>
          <a:bodyPr/>
          <a:lstStyle/>
          <a:p>
            <a:r>
              <a:rPr lang="en-US" dirty="0"/>
              <a:t>For integer response</a:t>
            </a:r>
          </a:p>
        </p:txBody>
      </p:sp>
      <p:sp>
        <p:nvSpPr>
          <p:cNvPr id="3" name="Content Placeholder 2">
            <a:extLst>
              <a:ext uri="{FF2B5EF4-FFF2-40B4-BE49-F238E27FC236}">
                <a16:creationId xmlns:a16="http://schemas.microsoft.com/office/drawing/2014/main" id="{5E3BFFBC-1077-B1FD-9FA6-76D08484A4E9}"/>
              </a:ext>
            </a:extLst>
          </p:cNvPr>
          <p:cNvSpPr>
            <a:spLocks noGrp="1"/>
          </p:cNvSpPr>
          <p:nvPr>
            <p:ph idx="1"/>
          </p:nvPr>
        </p:nvSpPr>
        <p:spPr/>
        <p:txBody>
          <a:bodyPr/>
          <a:lstStyle/>
          <a:p>
            <a:r>
              <a:rPr lang="en-US" dirty="0"/>
              <a:t>Numbers per set can be modeled with</a:t>
            </a:r>
          </a:p>
          <a:p>
            <a:r>
              <a:rPr lang="en-US" dirty="0"/>
              <a:t>Poisson, negative binomial 1 and 2</a:t>
            </a:r>
          </a:p>
          <a:p>
            <a:r>
              <a:rPr lang="en-US" dirty="0"/>
              <a:t>Poisson variance =mean, and link is log so, </a:t>
            </a:r>
          </a:p>
          <a:p>
            <a:pPr marL="0" indent="0">
              <a:buNone/>
            </a:pPr>
            <a:r>
              <a:rPr lang="en-US" i="1" dirty="0"/>
              <a:t>log(mean)=</a:t>
            </a:r>
            <a:r>
              <a:rPr lang="en-US" i="1" dirty="0" err="1"/>
              <a:t>year+gear+etc</a:t>
            </a:r>
            <a:r>
              <a:rPr lang="en-US" i="1" dirty="0"/>
              <a:t>.</a:t>
            </a:r>
          </a:p>
          <a:p>
            <a:r>
              <a:rPr lang="en-US" dirty="0"/>
              <a:t>Both negative binomials allow for over-dispersed data, so the variance can be larger than the mean.</a:t>
            </a:r>
          </a:p>
          <a:p>
            <a:r>
              <a:rPr lang="en-US" dirty="0"/>
              <a:t>Estimates </a:t>
            </a:r>
            <a:r>
              <a:rPr lang="en-US" i="1" dirty="0"/>
              <a:t>log(mean)=</a:t>
            </a:r>
            <a:r>
              <a:rPr lang="en-US" i="1" dirty="0" err="1"/>
              <a:t>year+gear+etc</a:t>
            </a:r>
            <a:r>
              <a:rPr lang="en-US" i="1" dirty="0"/>
              <a:t>. </a:t>
            </a:r>
            <a:r>
              <a:rPr lang="en-US" dirty="0"/>
              <a:t>plus a dispersion parameter</a:t>
            </a:r>
          </a:p>
          <a:p>
            <a:endParaRPr lang="en-US" dirty="0"/>
          </a:p>
        </p:txBody>
      </p:sp>
    </p:spTree>
    <p:extLst>
      <p:ext uri="{BB962C8B-B14F-4D97-AF65-F5344CB8AC3E}">
        <p14:creationId xmlns:p14="http://schemas.microsoft.com/office/powerpoint/2010/main" val="3013642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43BF6-4E24-308F-6300-DF9800338CA3}"/>
              </a:ext>
            </a:extLst>
          </p:cNvPr>
          <p:cNvSpPr>
            <a:spLocks noGrp="1"/>
          </p:cNvSpPr>
          <p:nvPr>
            <p:ph type="title"/>
          </p:nvPr>
        </p:nvSpPr>
        <p:spPr/>
        <p:txBody>
          <a:bodyPr/>
          <a:lstStyle/>
          <a:p>
            <a:r>
              <a:rPr lang="en-US" dirty="0"/>
              <a:t>Poisson vs. NB with same mean</a:t>
            </a:r>
          </a:p>
        </p:txBody>
      </p:sp>
      <p:pic>
        <p:nvPicPr>
          <p:cNvPr id="5124" name="Picture 4">
            <a:extLst>
              <a:ext uri="{FF2B5EF4-FFF2-40B4-BE49-F238E27FC236}">
                <a16:creationId xmlns:a16="http://schemas.microsoft.com/office/drawing/2014/main" id="{823EAD23-4444-382B-E9CA-787445A04E4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945811"/>
            <a:ext cx="7848600" cy="56061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E8B0322-1467-44B8-8BB1-C92409A41941}"/>
              </a:ext>
            </a:extLst>
          </p:cNvPr>
          <p:cNvSpPr txBox="1"/>
          <p:nvPr/>
        </p:nvSpPr>
        <p:spPr>
          <a:xfrm>
            <a:off x="7086600" y="5105400"/>
            <a:ext cx="1676400" cy="1200329"/>
          </a:xfrm>
          <a:prstGeom prst="rect">
            <a:avLst/>
          </a:prstGeom>
          <a:noFill/>
        </p:spPr>
        <p:txBody>
          <a:bodyPr wrap="square" rtlCol="0">
            <a:spAutoFit/>
          </a:bodyPr>
          <a:lstStyle/>
          <a:p>
            <a:r>
              <a:rPr lang="en-US" dirty="0"/>
              <a:t>Negative binomial allows for more spread</a:t>
            </a:r>
          </a:p>
        </p:txBody>
      </p:sp>
    </p:spTree>
    <p:extLst>
      <p:ext uri="{BB962C8B-B14F-4D97-AF65-F5344CB8AC3E}">
        <p14:creationId xmlns:p14="http://schemas.microsoft.com/office/powerpoint/2010/main" val="3640610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79D901-127B-8FEE-C5CD-25C6F7759969}"/>
              </a:ext>
            </a:extLst>
          </p:cNvPr>
          <p:cNvSpPr>
            <a:spLocks noGrp="1"/>
          </p:cNvSpPr>
          <p:nvPr>
            <p:ph idx="1"/>
          </p:nvPr>
        </p:nvSpPr>
        <p:spPr>
          <a:xfrm>
            <a:off x="228600" y="762000"/>
            <a:ext cx="8379668" cy="4800600"/>
          </a:xfrm>
        </p:spPr>
        <p:txBody>
          <a:bodyPr vert="horz" wrap="square" lIns="68580" tIns="34290" rIns="68580" bIns="34290" numCol="1" rtlCol="0" anchor="t" anchorCtr="0" compatLnSpc="1">
            <a:prstTxWarp prst="textNoShape">
              <a:avLst/>
            </a:prstTxWarp>
            <a:normAutofit lnSpcReduction="10000"/>
          </a:bodyPr>
          <a:lstStyle/>
          <a:p>
            <a:pPr marL="0" indent="0">
              <a:buNone/>
            </a:pPr>
            <a:r>
              <a:rPr lang="en-GB" b="1" dirty="0"/>
              <a:t>Negative binomial models  1 and 2</a:t>
            </a:r>
            <a:r>
              <a:rPr lang="en-GB" dirty="0"/>
              <a:t>:</a:t>
            </a:r>
            <a:endParaRPr lang="en-GB" dirty="0">
              <a:ea typeface="Calibri"/>
              <a:cs typeface="Calibri"/>
            </a:endParaRPr>
          </a:p>
          <a:p>
            <a:pPr lvl="1"/>
            <a:r>
              <a:rPr lang="en-GB" dirty="0" err="1"/>
              <a:t>glmmTMB</a:t>
            </a:r>
            <a:r>
              <a:rPr lang="en-GB" dirty="0"/>
              <a:t>, family=“nbinom2” is the standard negative binomial (</a:t>
            </a:r>
            <a:r>
              <a:rPr lang="en-GB" dirty="0" err="1"/>
              <a:t>dnbinom</a:t>
            </a:r>
            <a:r>
              <a:rPr lang="en-GB" dirty="0"/>
              <a:t> in R)</a:t>
            </a:r>
            <a:endParaRPr lang="en-GB" dirty="0">
              <a:cs typeface="Calibri" panose="020F0502020204030204"/>
            </a:endParaRPr>
          </a:p>
          <a:p>
            <a:pPr lvl="2"/>
            <a:r>
              <a:rPr lang="en-GB" sz="2800" dirty="0">
                <a:cs typeface="Calibri" panose="020F0502020204030204"/>
              </a:rPr>
              <a:t>variance is</a:t>
            </a:r>
            <a:r>
              <a:rPr lang="en-US" sz="2800" dirty="0"/>
              <a:t> μ+μ</a:t>
            </a:r>
            <a:r>
              <a:rPr lang="en-US" sz="2800" baseline="30000" dirty="0"/>
              <a:t>2</a:t>
            </a:r>
            <a:r>
              <a:rPr lang="en-US" sz="2800" dirty="0"/>
              <a:t>/θ </a:t>
            </a:r>
            <a:endParaRPr lang="en-GB" sz="2800" dirty="0"/>
          </a:p>
          <a:p>
            <a:pPr lvl="1"/>
            <a:r>
              <a:rPr lang="en-GB" dirty="0"/>
              <a:t>family=“nbinom1” is a modern alternative</a:t>
            </a:r>
          </a:p>
          <a:p>
            <a:pPr lvl="2"/>
            <a:r>
              <a:rPr lang="en-GB" sz="2800" dirty="0"/>
              <a:t>variance  = </a:t>
            </a:r>
            <a:r>
              <a:rPr lang="en-US" dirty="0"/>
              <a:t>μ(1+α) </a:t>
            </a:r>
            <a:endParaRPr lang="en-US" sz="1600" dirty="0"/>
          </a:p>
          <a:p>
            <a:pPr lvl="1"/>
            <a:r>
              <a:rPr lang="en-US" dirty="0"/>
              <a:t>Both work well for count data, even with many zeros</a:t>
            </a:r>
          </a:p>
          <a:p>
            <a:pPr lvl="1"/>
            <a:r>
              <a:rPr lang="en-US" dirty="0"/>
              <a:t>Can apply to biomass data if you round to an integer</a:t>
            </a:r>
          </a:p>
          <a:p>
            <a:pPr lvl="1"/>
            <a:endParaRPr lang="en-GB" dirty="0">
              <a:cs typeface="Calibri" panose="020F0502020204030204"/>
            </a:endParaRPr>
          </a:p>
          <a:p>
            <a:endParaRPr lang="en-GB" dirty="0">
              <a:cs typeface="Calibri" panose="020F0502020204030204"/>
            </a:endParaRPr>
          </a:p>
        </p:txBody>
      </p:sp>
    </p:spTree>
    <p:extLst>
      <p:ext uri="{BB962C8B-B14F-4D97-AF65-F5344CB8AC3E}">
        <p14:creationId xmlns:p14="http://schemas.microsoft.com/office/powerpoint/2010/main" val="3540075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BC232-D885-B59A-A175-C5272A64A2F7}"/>
              </a:ext>
            </a:extLst>
          </p:cNvPr>
          <p:cNvSpPr>
            <a:spLocks noGrp="1"/>
          </p:cNvSpPr>
          <p:nvPr>
            <p:ph type="title"/>
          </p:nvPr>
        </p:nvSpPr>
        <p:spPr/>
        <p:txBody>
          <a:bodyPr/>
          <a:lstStyle/>
          <a:p>
            <a:r>
              <a:rPr lang="en-US" dirty="0"/>
              <a:t>Offsets for Poisson, NB1, NB2</a:t>
            </a:r>
          </a:p>
        </p:txBody>
      </p:sp>
      <p:sp>
        <p:nvSpPr>
          <p:cNvPr id="3" name="Content Placeholder 2">
            <a:extLst>
              <a:ext uri="{FF2B5EF4-FFF2-40B4-BE49-F238E27FC236}">
                <a16:creationId xmlns:a16="http://schemas.microsoft.com/office/drawing/2014/main" id="{688E0210-D959-FB76-F7EA-7FD00379C1F3}"/>
              </a:ext>
            </a:extLst>
          </p:cNvPr>
          <p:cNvSpPr>
            <a:spLocks noGrp="1"/>
          </p:cNvSpPr>
          <p:nvPr>
            <p:ph idx="1"/>
          </p:nvPr>
        </p:nvSpPr>
        <p:spPr>
          <a:xfrm>
            <a:off x="152400" y="1219200"/>
            <a:ext cx="8672027" cy="4507707"/>
          </a:xfrm>
        </p:spPr>
        <p:txBody>
          <a:bodyPr>
            <a:normAutofit fontScale="47500" lnSpcReduction="20000"/>
          </a:bodyPr>
          <a:lstStyle/>
          <a:p>
            <a:r>
              <a:rPr lang="en-US" sz="4900" dirty="0"/>
              <a:t>Used for any model of count data where sampling area or effort varies </a:t>
            </a:r>
          </a:p>
          <a:p>
            <a:pPr lvl="1"/>
            <a:r>
              <a:rPr lang="en-US" sz="4900" dirty="0"/>
              <a:t>e.g. counts in transects with variable area,</a:t>
            </a:r>
          </a:p>
          <a:p>
            <a:pPr lvl="1"/>
            <a:r>
              <a:rPr lang="en-US" sz="4900" dirty="0"/>
              <a:t>fishing sets with different numbers of hooks</a:t>
            </a:r>
          </a:p>
          <a:p>
            <a:r>
              <a:rPr lang="en-US" sz="4900" dirty="0"/>
              <a:t>CPUE model would be </a:t>
            </a:r>
          </a:p>
          <a:p>
            <a:pPr marL="0" indent="0">
              <a:buNone/>
            </a:pPr>
            <a:r>
              <a:rPr lang="en-US" sz="4900" dirty="0">
                <a:solidFill>
                  <a:srgbClr val="222222"/>
                </a:solidFill>
                <a:latin typeface="Cambria Math"/>
                <a:ea typeface="Cambria Math"/>
                <a:cs typeface="Calibri"/>
              </a:rPr>
              <a:t>	</a:t>
            </a:r>
            <a:r>
              <a:rPr lang="en-GB" sz="4900" dirty="0">
                <a:solidFill>
                  <a:srgbClr val="222222"/>
                </a:solidFill>
                <a:latin typeface="Cambria Math"/>
                <a:ea typeface="Cambria Math"/>
                <a:cs typeface="Calibri"/>
              </a:rPr>
              <a:t>log(C</a:t>
            </a:r>
            <a:r>
              <a:rPr lang="en-GB" sz="4900" baseline="-25000" dirty="0">
                <a:solidFill>
                  <a:srgbClr val="222222"/>
                </a:solidFill>
                <a:latin typeface="Cambria Math"/>
                <a:ea typeface="Cambria Math"/>
                <a:cs typeface="Calibri"/>
              </a:rPr>
              <a:t>i</a:t>
            </a:r>
            <a:r>
              <a:rPr lang="en-GB" sz="4900" dirty="0">
                <a:solidFill>
                  <a:srgbClr val="222222"/>
                </a:solidFill>
                <a:latin typeface="Cambria Math"/>
                <a:ea typeface="Cambria Math"/>
                <a:cs typeface="Calibri"/>
              </a:rPr>
              <a:t>/E</a:t>
            </a:r>
            <a:r>
              <a:rPr lang="en-GB" sz="4900" baseline="-25000" dirty="0">
                <a:solidFill>
                  <a:srgbClr val="222222"/>
                </a:solidFill>
                <a:latin typeface="Cambria Math"/>
                <a:ea typeface="Cambria Math"/>
                <a:cs typeface="Calibri"/>
              </a:rPr>
              <a:t>i</a:t>
            </a:r>
            <a:r>
              <a:rPr lang="en-GB" sz="4900" dirty="0">
                <a:solidFill>
                  <a:srgbClr val="222222"/>
                </a:solidFill>
                <a:latin typeface="Cambria Math"/>
                <a:ea typeface="Cambria Math"/>
                <a:cs typeface="Calibri"/>
              </a:rPr>
              <a:t>)=b</a:t>
            </a:r>
            <a:r>
              <a:rPr lang="en-GB" sz="4900" baseline="-25000" dirty="0">
                <a:solidFill>
                  <a:srgbClr val="222222"/>
                </a:solidFill>
                <a:latin typeface="Cambria Math"/>
                <a:ea typeface="Cambria Math"/>
                <a:cs typeface="Calibri"/>
              </a:rPr>
              <a:t>0</a:t>
            </a:r>
            <a:r>
              <a:rPr lang="en-GB" sz="4900" dirty="0">
                <a:solidFill>
                  <a:srgbClr val="222222"/>
                </a:solidFill>
                <a:latin typeface="Cambria Math"/>
                <a:ea typeface="Cambria Math"/>
                <a:cs typeface="Calibri"/>
              </a:rPr>
              <a:t>+b</a:t>
            </a:r>
            <a:r>
              <a:rPr lang="en-GB" sz="4900" baseline="-25000" dirty="0">
                <a:solidFill>
                  <a:srgbClr val="222222"/>
                </a:solidFill>
                <a:latin typeface="Cambria Math"/>
                <a:ea typeface="Cambria Math"/>
                <a:cs typeface="Calibri"/>
              </a:rPr>
              <a:t>1</a:t>
            </a:r>
            <a:r>
              <a:rPr lang="en-GB" sz="4900" dirty="0">
                <a:solidFill>
                  <a:srgbClr val="222222"/>
                </a:solidFill>
                <a:latin typeface="Cambria Math"/>
                <a:ea typeface="Cambria Math"/>
                <a:cs typeface="Calibri"/>
              </a:rPr>
              <a:t>x</a:t>
            </a:r>
            <a:r>
              <a:rPr lang="en-GB" sz="4900" baseline="-25000" dirty="0">
                <a:solidFill>
                  <a:srgbClr val="222222"/>
                </a:solidFill>
                <a:latin typeface="Cambria Math"/>
                <a:ea typeface="Cambria Math"/>
                <a:cs typeface="Calibri"/>
              </a:rPr>
              <a:t>1</a:t>
            </a:r>
            <a:endParaRPr lang="en-GB" sz="4900" dirty="0">
              <a:solidFill>
                <a:srgbClr val="222222"/>
              </a:solidFill>
              <a:latin typeface="Cambria Math"/>
              <a:ea typeface="Cambria Math"/>
              <a:cs typeface="Calibri"/>
            </a:endParaRPr>
          </a:p>
          <a:p>
            <a:r>
              <a:rPr lang="en-GB" sz="4900" dirty="0">
                <a:solidFill>
                  <a:srgbClr val="222222"/>
                </a:solidFill>
                <a:latin typeface="Cambria Math"/>
                <a:ea typeface="Cambria Math"/>
                <a:cs typeface="Calibri"/>
              </a:rPr>
              <a:t>Which is</a:t>
            </a:r>
          </a:p>
          <a:p>
            <a:pPr marL="0" indent="0">
              <a:buNone/>
            </a:pPr>
            <a:r>
              <a:rPr lang="en-GB" sz="4900" dirty="0">
                <a:solidFill>
                  <a:srgbClr val="222222"/>
                </a:solidFill>
                <a:latin typeface="Cambria Math"/>
                <a:ea typeface="Cambria Math"/>
                <a:cs typeface="Calibri"/>
              </a:rPr>
              <a:t>	log(C</a:t>
            </a:r>
            <a:r>
              <a:rPr lang="en-GB" sz="4900" baseline="-25000" dirty="0">
                <a:solidFill>
                  <a:srgbClr val="222222"/>
                </a:solidFill>
                <a:latin typeface="Cambria Math"/>
                <a:ea typeface="Cambria Math"/>
                <a:cs typeface="Calibri"/>
              </a:rPr>
              <a:t>i</a:t>
            </a:r>
            <a:r>
              <a:rPr lang="en-GB" sz="4900" dirty="0">
                <a:solidFill>
                  <a:srgbClr val="222222"/>
                </a:solidFill>
                <a:latin typeface="Cambria Math"/>
                <a:ea typeface="Cambria Math"/>
                <a:cs typeface="Calibri"/>
              </a:rPr>
              <a:t>) – log(E</a:t>
            </a:r>
            <a:r>
              <a:rPr lang="en-GB" sz="4900" baseline="-25000" dirty="0">
                <a:solidFill>
                  <a:srgbClr val="222222"/>
                </a:solidFill>
                <a:latin typeface="Cambria Math"/>
                <a:ea typeface="Cambria Math"/>
                <a:cs typeface="Calibri"/>
              </a:rPr>
              <a:t>i</a:t>
            </a:r>
            <a:r>
              <a:rPr lang="en-GB" sz="4900" dirty="0">
                <a:solidFill>
                  <a:srgbClr val="222222"/>
                </a:solidFill>
                <a:latin typeface="Cambria Math"/>
                <a:ea typeface="Cambria Math"/>
                <a:cs typeface="Calibri"/>
              </a:rPr>
              <a:t>)=b</a:t>
            </a:r>
            <a:r>
              <a:rPr lang="en-GB" sz="4900" baseline="-25000" dirty="0">
                <a:solidFill>
                  <a:srgbClr val="222222"/>
                </a:solidFill>
                <a:latin typeface="Cambria Math"/>
                <a:ea typeface="Cambria Math"/>
                <a:cs typeface="Calibri"/>
              </a:rPr>
              <a:t>0</a:t>
            </a:r>
            <a:r>
              <a:rPr lang="en-GB" sz="4900" dirty="0">
                <a:solidFill>
                  <a:srgbClr val="222222"/>
                </a:solidFill>
                <a:latin typeface="Cambria Math"/>
                <a:ea typeface="Cambria Math"/>
                <a:cs typeface="Calibri"/>
              </a:rPr>
              <a:t>+b</a:t>
            </a:r>
            <a:r>
              <a:rPr lang="en-GB" sz="4900" baseline="-25000" dirty="0">
                <a:solidFill>
                  <a:srgbClr val="222222"/>
                </a:solidFill>
                <a:latin typeface="Cambria Math"/>
                <a:ea typeface="Cambria Math"/>
                <a:cs typeface="Calibri"/>
              </a:rPr>
              <a:t>1</a:t>
            </a:r>
            <a:r>
              <a:rPr lang="en-GB" sz="4900" dirty="0">
                <a:solidFill>
                  <a:srgbClr val="222222"/>
                </a:solidFill>
                <a:latin typeface="Cambria Math"/>
                <a:ea typeface="Cambria Math"/>
                <a:cs typeface="Calibri"/>
              </a:rPr>
              <a:t>x</a:t>
            </a:r>
            <a:r>
              <a:rPr lang="en-GB" sz="4900" baseline="-25000" dirty="0">
                <a:solidFill>
                  <a:srgbClr val="222222"/>
                </a:solidFill>
                <a:latin typeface="Cambria Math"/>
                <a:ea typeface="Cambria Math"/>
                <a:cs typeface="Calibri"/>
              </a:rPr>
              <a:t>1</a:t>
            </a:r>
            <a:r>
              <a:rPr lang="en-GB" sz="4900" dirty="0">
                <a:solidFill>
                  <a:srgbClr val="222222"/>
                </a:solidFill>
                <a:latin typeface="Cambria Math"/>
                <a:ea typeface="Cambria Math"/>
                <a:cs typeface="Calibri"/>
              </a:rPr>
              <a:t> </a:t>
            </a:r>
          </a:p>
          <a:p>
            <a:r>
              <a:rPr lang="en-GB" sz="4900" dirty="0">
                <a:solidFill>
                  <a:srgbClr val="222222"/>
                </a:solidFill>
                <a:latin typeface="Cambria Math"/>
                <a:ea typeface="Cambria Math"/>
                <a:cs typeface="Calibri"/>
              </a:rPr>
              <a:t>So </a:t>
            </a:r>
          </a:p>
          <a:p>
            <a:pPr marL="0" indent="0">
              <a:buNone/>
            </a:pPr>
            <a:r>
              <a:rPr lang="en-GB" sz="4900" dirty="0">
                <a:solidFill>
                  <a:srgbClr val="222222"/>
                </a:solidFill>
                <a:latin typeface="Cambria Math"/>
                <a:ea typeface="Cambria Math"/>
                <a:cs typeface="Calibri"/>
              </a:rPr>
              <a:t>	log(C</a:t>
            </a:r>
            <a:r>
              <a:rPr lang="en-GB" sz="4900" baseline="-25000" dirty="0">
                <a:solidFill>
                  <a:srgbClr val="222222"/>
                </a:solidFill>
                <a:latin typeface="Cambria Math"/>
                <a:ea typeface="Cambria Math"/>
                <a:cs typeface="Calibri"/>
              </a:rPr>
              <a:t>i</a:t>
            </a:r>
            <a:r>
              <a:rPr lang="en-GB" sz="4900" dirty="0">
                <a:solidFill>
                  <a:srgbClr val="222222"/>
                </a:solidFill>
                <a:latin typeface="Cambria Math"/>
                <a:ea typeface="Cambria Math"/>
                <a:cs typeface="Calibri"/>
              </a:rPr>
              <a:t>) =b</a:t>
            </a:r>
            <a:r>
              <a:rPr lang="en-GB" sz="4900" baseline="-25000" dirty="0">
                <a:solidFill>
                  <a:srgbClr val="222222"/>
                </a:solidFill>
                <a:latin typeface="Cambria Math"/>
                <a:ea typeface="Cambria Math"/>
                <a:cs typeface="Calibri"/>
              </a:rPr>
              <a:t>0</a:t>
            </a:r>
            <a:r>
              <a:rPr lang="en-GB" sz="4900" dirty="0">
                <a:solidFill>
                  <a:srgbClr val="222222"/>
                </a:solidFill>
                <a:latin typeface="Cambria Math"/>
                <a:ea typeface="Cambria Math"/>
                <a:cs typeface="Calibri"/>
              </a:rPr>
              <a:t>+b</a:t>
            </a:r>
            <a:r>
              <a:rPr lang="en-GB" sz="4900" baseline="-25000" dirty="0">
                <a:solidFill>
                  <a:srgbClr val="222222"/>
                </a:solidFill>
                <a:latin typeface="Cambria Math"/>
                <a:ea typeface="Cambria Math"/>
                <a:cs typeface="Calibri"/>
              </a:rPr>
              <a:t>1</a:t>
            </a:r>
            <a:r>
              <a:rPr lang="en-GB" sz="4900" dirty="0">
                <a:solidFill>
                  <a:srgbClr val="222222"/>
                </a:solidFill>
                <a:latin typeface="Cambria Math"/>
                <a:ea typeface="Cambria Math"/>
                <a:cs typeface="Calibri"/>
              </a:rPr>
              <a:t>x</a:t>
            </a:r>
            <a:r>
              <a:rPr lang="en-GB" sz="4900" baseline="-25000" dirty="0">
                <a:solidFill>
                  <a:srgbClr val="222222"/>
                </a:solidFill>
                <a:latin typeface="Cambria Math"/>
                <a:ea typeface="Cambria Math"/>
                <a:cs typeface="Calibri"/>
              </a:rPr>
              <a:t>1</a:t>
            </a:r>
            <a:r>
              <a:rPr lang="en-GB" sz="4900" dirty="0">
                <a:solidFill>
                  <a:srgbClr val="222222"/>
                </a:solidFill>
                <a:latin typeface="Cambria Math"/>
                <a:ea typeface="Cambria Math"/>
                <a:cs typeface="Calibri"/>
              </a:rPr>
              <a:t> + log(E</a:t>
            </a:r>
            <a:r>
              <a:rPr lang="en-GB" sz="4900" baseline="-25000" dirty="0">
                <a:solidFill>
                  <a:srgbClr val="222222"/>
                </a:solidFill>
                <a:latin typeface="Cambria Math"/>
                <a:ea typeface="Cambria Math"/>
                <a:cs typeface="Calibri"/>
              </a:rPr>
              <a:t>i</a:t>
            </a:r>
            <a:r>
              <a:rPr lang="en-GB" sz="4900" dirty="0">
                <a:solidFill>
                  <a:srgbClr val="222222"/>
                </a:solidFill>
                <a:latin typeface="Cambria Math"/>
                <a:ea typeface="Cambria Math"/>
                <a:cs typeface="Calibri"/>
              </a:rPr>
              <a:t>)</a:t>
            </a:r>
          </a:p>
          <a:p>
            <a:r>
              <a:rPr lang="en-GB" sz="4900" dirty="0">
                <a:solidFill>
                  <a:srgbClr val="222222"/>
                </a:solidFill>
                <a:latin typeface="Cambria Math"/>
                <a:ea typeface="Cambria Math"/>
                <a:cs typeface="Calibri"/>
              </a:rPr>
              <a:t>In R code,  the keyword “offset” is used distinguish offsets from predictor variables, e.g. </a:t>
            </a:r>
          </a:p>
          <a:p>
            <a:pPr marL="0" indent="0">
              <a:buNone/>
            </a:pPr>
            <a:r>
              <a:rPr lang="en-GB" sz="4900" dirty="0">
                <a:solidFill>
                  <a:srgbClr val="222222"/>
                </a:solidFill>
                <a:latin typeface="Cambria Math"/>
                <a:ea typeface="Cambria Math"/>
                <a:cs typeface="Calibri"/>
              </a:rPr>
              <a:t>	y ~ x</a:t>
            </a:r>
            <a:r>
              <a:rPr lang="en-GB" sz="4900" baseline="-25000" dirty="0">
                <a:solidFill>
                  <a:srgbClr val="222222"/>
                </a:solidFill>
                <a:latin typeface="Cambria Math"/>
                <a:ea typeface="Cambria Math"/>
                <a:cs typeface="Calibri"/>
              </a:rPr>
              <a:t>1</a:t>
            </a:r>
            <a:r>
              <a:rPr lang="en-GB" sz="4900" dirty="0">
                <a:solidFill>
                  <a:srgbClr val="222222"/>
                </a:solidFill>
                <a:latin typeface="Cambria Math"/>
                <a:ea typeface="Cambria Math"/>
                <a:cs typeface="Calibri"/>
              </a:rPr>
              <a:t> + offset(log(Effort))</a:t>
            </a:r>
          </a:p>
          <a:p>
            <a:endParaRPr lang="en-GB" sz="4900" dirty="0">
              <a:solidFill>
                <a:srgbClr val="222222"/>
              </a:solidFill>
              <a:latin typeface="Cambria Math"/>
              <a:ea typeface="Cambria Math"/>
              <a:cs typeface="Calibri"/>
            </a:endParaRPr>
          </a:p>
          <a:p>
            <a:endParaRPr lang="en-US" dirty="0"/>
          </a:p>
        </p:txBody>
      </p:sp>
    </p:spTree>
    <p:extLst>
      <p:ext uri="{BB962C8B-B14F-4D97-AF65-F5344CB8AC3E}">
        <p14:creationId xmlns:p14="http://schemas.microsoft.com/office/powerpoint/2010/main" val="2035891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029179-A22A-5278-FACE-8BB2FFBA84D3}"/>
              </a:ext>
            </a:extLst>
          </p:cNvPr>
          <p:cNvSpPr>
            <a:spLocks noGrp="1"/>
          </p:cNvSpPr>
          <p:nvPr>
            <p:ph idx="1"/>
          </p:nvPr>
        </p:nvSpPr>
        <p:spPr>
          <a:xfrm>
            <a:off x="581025" y="2289970"/>
            <a:ext cx="3457575" cy="2676128"/>
          </a:xfrm>
        </p:spPr>
        <p:txBody>
          <a:bodyPr vert="horz" wrap="square" lIns="68580" tIns="34290" rIns="68580" bIns="34290" numCol="1" rtlCol="0" anchor="t" anchorCtr="0" compatLnSpc="1">
            <a:prstTxWarp prst="textNoShape">
              <a:avLst/>
            </a:prstTxWarp>
            <a:noAutofit/>
          </a:bodyPr>
          <a:lstStyle/>
          <a:p>
            <a:pPr>
              <a:buAutoNum type="arabicPeriod"/>
            </a:pPr>
            <a:r>
              <a:rPr lang="en-GB" sz="2000" dirty="0">
                <a:cs typeface="Calibri"/>
              </a:rPr>
              <a:t>Simulate new response data from the fitted model for each observation</a:t>
            </a:r>
            <a:br>
              <a:rPr lang="en-GB" sz="2000" dirty="0">
                <a:cs typeface="Calibri"/>
              </a:rPr>
            </a:br>
            <a:endParaRPr lang="en-GB" sz="2000" dirty="0">
              <a:cs typeface="Calibri"/>
            </a:endParaRPr>
          </a:p>
          <a:p>
            <a:pPr marL="385763" indent="-385763">
              <a:buAutoNum type="arabicPeriod"/>
            </a:pPr>
            <a:r>
              <a:rPr lang="en-GB" sz="2000" dirty="0">
                <a:cs typeface="Calibri"/>
              </a:rPr>
              <a:t>For each observation, calculate the fraction of simulated data less than the true observation (i.e. quantile residual)</a:t>
            </a:r>
          </a:p>
        </p:txBody>
      </p:sp>
      <p:sp>
        <p:nvSpPr>
          <p:cNvPr id="5" name="Title 1">
            <a:extLst>
              <a:ext uri="{FF2B5EF4-FFF2-40B4-BE49-F238E27FC236}">
                <a16:creationId xmlns:a16="http://schemas.microsoft.com/office/drawing/2014/main" id="{C1B52259-DB5A-C709-CDF5-9326173BC31A}"/>
              </a:ext>
            </a:extLst>
          </p:cNvPr>
          <p:cNvSpPr>
            <a:spLocks noGrp="1"/>
          </p:cNvSpPr>
          <p:nvPr>
            <p:ph type="title"/>
          </p:nvPr>
        </p:nvSpPr>
        <p:spPr>
          <a:xfrm>
            <a:off x="628650" y="533400"/>
            <a:ext cx="7886700" cy="994172"/>
          </a:xfrm>
        </p:spPr>
        <p:txBody>
          <a:bodyPr/>
          <a:lstStyle/>
          <a:p>
            <a:r>
              <a:rPr lang="en-GB" dirty="0">
                <a:ea typeface="Calibri Light"/>
                <a:cs typeface="Calibri Light"/>
              </a:rPr>
              <a:t>Model diagnostics – quantile residuals from </a:t>
            </a:r>
            <a:r>
              <a:rPr lang="en-GB" dirty="0" err="1">
                <a:ea typeface="Calibri Light"/>
                <a:cs typeface="Calibri Light"/>
              </a:rPr>
              <a:t>DHARMa</a:t>
            </a:r>
            <a:endParaRPr lang="en-US" dirty="0"/>
          </a:p>
        </p:txBody>
      </p:sp>
      <p:pic>
        <p:nvPicPr>
          <p:cNvPr id="6" name="Picture 6" descr="A picture containing text, screenshot, diagram, plot&#10;&#10;Description automatically generated">
            <a:extLst>
              <a:ext uri="{FF2B5EF4-FFF2-40B4-BE49-F238E27FC236}">
                <a16:creationId xmlns:a16="http://schemas.microsoft.com/office/drawing/2014/main" id="{B3014EA9-105D-3008-DC4E-146F650A0D04}"/>
              </a:ext>
            </a:extLst>
          </p:cNvPr>
          <p:cNvPicPr>
            <a:picLocks noChangeAspect="1"/>
          </p:cNvPicPr>
          <p:nvPr/>
        </p:nvPicPr>
        <p:blipFill>
          <a:blip r:embed="rId2"/>
          <a:stretch>
            <a:fillRect/>
          </a:stretch>
        </p:blipFill>
        <p:spPr>
          <a:xfrm>
            <a:off x="4267200" y="1527572"/>
            <a:ext cx="4591050" cy="4538539"/>
          </a:xfrm>
          <a:prstGeom prst="rect">
            <a:avLst/>
          </a:prstGeom>
        </p:spPr>
      </p:pic>
      <p:sp>
        <p:nvSpPr>
          <p:cNvPr id="4" name="TextBox 3">
            <a:extLst>
              <a:ext uri="{FF2B5EF4-FFF2-40B4-BE49-F238E27FC236}">
                <a16:creationId xmlns:a16="http://schemas.microsoft.com/office/drawing/2014/main" id="{7DBBD5DA-2E62-6A26-8637-24FACC251D96}"/>
              </a:ext>
            </a:extLst>
          </p:cNvPr>
          <p:cNvSpPr txBox="1"/>
          <p:nvPr/>
        </p:nvSpPr>
        <p:spPr>
          <a:xfrm>
            <a:off x="228600" y="6295292"/>
            <a:ext cx="8172450" cy="369332"/>
          </a:xfrm>
          <a:prstGeom prst="rect">
            <a:avLst/>
          </a:prstGeom>
          <a:noFill/>
        </p:spPr>
        <p:txBody>
          <a:bodyPr wrap="square">
            <a:spAutoFit/>
          </a:bodyPr>
          <a:lstStyle/>
          <a:p>
            <a:r>
              <a:rPr lang="en-GB" dirty="0">
                <a:ea typeface="Calibri"/>
                <a:cs typeface="Calibri"/>
              </a:rPr>
              <a:t>https://cran.r-project.org/web/packages/DHARMa/vignettes/DHARMa.html</a:t>
            </a:r>
          </a:p>
        </p:txBody>
      </p:sp>
    </p:spTree>
    <p:extLst>
      <p:ext uri="{BB962C8B-B14F-4D97-AF65-F5344CB8AC3E}">
        <p14:creationId xmlns:p14="http://schemas.microsoft.com/office/powerpoint/2010/main" val="4223089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845E8-1599-EBC9-A91A-20F0CF039BF3}"/>
              </a:ext>
            </a:extLst>
          </p:cNvPr>
          <p:cNvSpPr>
            <a:spLocks noGrp="1"/>
          </p:cNvSpPr>
          <p:nvPr>
            <p:ph type="title"/>
          </p:nvPr>
        </p:nvSpPr>
        <p:spPr/>
        <p:txBody>
          <a:bodyPr/>
          <a:lstStyle/>
          <a:p>
            <a:r>
              <a:rPr lang="en-GB">
                <a:ea typeface="Calibri Light"/>
                <a:cs typeface="Calibri Light"/>
              </a:rPr>
              <a:t>Model diagnostics – </a:t>
            </a:r>
            <a:r>
              <a:rPr lang="en-GB" err="1">
                <a:ea typeface="Calibri Light"/>
                <a:cs typeface="Calibri Light"/>
              </a:rPr>
              <a:t>DHARMa</a:t>
            </a:r>
            <a:r>
              <a:rPr lang="en-GB">
                <a:ea typeface="Calibri Light"/>
                <a:cs typeface="Calibri Light"/>
              </a:rPr>
              <a:t> residuals</a:t>
            </a:r>
            <a:endParaRPr lang="en-US"/>
          </a:p>
        </p:txBody>
      </p:sp>
      <p:sp>
        <p:nvSpPr>
          <p:cNvPr id="3" name="Content Placeholder 2">
            <a:extLst>
              <a:ext uri="{FF2B5EF4-FFF2-40B4-BE49-F238E27FC236}">
                <a16:creationId xmlns:a16="http://schemas.microsoft.com/office/drawing/2014/main" id="{4C6D2222-4FDF-71BC-1C65-A5EABF7818A7}"/>
              </a:ext>
            </a:extLst>
          </p:cNvPr>
          <p:cNvSpPr>
            <a:spLocks noGrp="1"/>
          </p:cNvSpPr>
          <p:nvPr>
            <p:ph idx="1"/>
          </p:nvPr>
        </p:nvSpPr>
        <p:spPr>
          <a:xfrm>
            <a:off x="457201" y="1905000"/>
            <a:ext cx="4191000" cy="3259535"/>
          </a:xfrm>
        </p:spPr>
        <p:txBody>
          <a:bodyPr vert="horz" wrap="square" lIns="68580" tIns="34290" rIns="68580" bIns="34290" numCol="1" rtlCol="0" anchor="t" anchorCtr="0" compatLnSpc="1">
            <a:prstTxWarp prst="textNoShape">
              <a:avLst/>
            </a:prstTxWarp>
            <a:normAutofit fontScale="92500" lnSpcReduction="10000"/>
          </a:bodyPr>
          <a:lstStyle/>
          <a:p>
            <a:r>
              <a:rPr lang="en-GB" sz="2400" dirty="0">
                <a:ea typeface="Calibri"/>
                <a:cs typeface="Calibri"/>
              </a:rPr>
              <a:t>A residual of 0 means that all simulated values are larger than the observed value</a:t>
            </a:r>
            <a:endParaRPr lang="en-GB" sz="3600" dirty="0">
              <a:ea typeface="Calibri"/>
              <a:cs typeface="Calibri"/>
            </a:endParaRPr>
          </a:p>
          <a:p>
            <a:pPr marL="257175" indent="-257175"/>
            <a:r>
              <a:rPr lang="en-GB" sz="2400" dirty="0">
                <a:ea typeface="Calibri"/>
                <a:cs typeface="Calibri"/>
              </a:rPr>
              <a:t>A residual of 0.5 means half of the simulated values are larger than the observed value</a:t>
            </a:r>
          </a:p>
          <a:p>
            <a:r>
              <a:rPr lang="en-GB" sz="2400" dirty="0">
                <a:ea typeface="Calibri"/>
                <a:cs typeface="Calibri"/>
              </a:rPr>
              <a:t>Values of 0.5 are expected, and values should be uniformly distributed between 0 and 1</a:t>
            </a:r>
          </a:p>
          <a:p>
            <a:pPr marL="0" indent="0">
              <a:buNone/>
            </a:pPr>
            <a:endParaRPr lang="en-GB" sz="1350" dirty="0">
              <a:ea typeface="Calibri"/>
              <a:cs typeface="Calibri"/>
            </a:endParaRPr>
          </a:p>
        </p:txBody>
      </p:sp>
      <p:pic>
        <p:nvPicPr>
          <p:cNvPr id="7" name="Picture 6" descr="A picture containing text, screenshot, diagram, plot&#10;&#10;Description automatically generated">
            <a:extLst>
              <a:ext uri="{FF2B5EF4-FFF2-40B4-BE49-F238E27FC236}">
                <a16:creationId xmlns:a16="http://schemas.microsoft.com/office/drawing/2014/main" id="{FF9C2B4B-719F-7EAF-4E49-0E319E95AE16}"/>
              </a:ext>
            </a:extLst>
          </p:cNvPr>
          <p:cNvPicPr>
            <a:picLocks noChangeAspect="1"/>
          </p:cNvPicPr>
          <p:nvPr/>
        </p:nvPicPr>
        <p:blipFill>
          <a:blip r:embed="rId2"/>
          <a:stretch>
            <a:fillRect/>
          </a:stretch>
        </p:blipFill>
        <p:spPr>
          <a:xfrm>
            <a:off x="4743450" y="1600200"/>
            <a:ext cx="4057650" cy="4011240"/>
          </a:xfrm>
          <a:prstGeom prst="rect">
            <a:avLst/>
          </a:prstGeom>
        </p:spPr>
      </p:pic>
      <p:sp>
        <p:nvSpPr>
          <p:cNvPr id="4" name="TextBox 3">
            <a:extLst>
              <a:ext uri="{FF2B5EF4-FFF2-40B4-BE49-F238E27FC236}">
                <a16:creationId xmlns:a16="http://schemas.microsoft.com/office/drawing/2014/main" id="{A4AB3365-E6CB-FDA6-E561-55557F04403A}"/>
              </a:ext>
            </a:extLst>
          </p:cNvPr>
          <p:cNvSpPr txBox="1"/>
          <p:nvPr/>
        </p:nvSpPr>
        <p:spPr>
          <a:xfrm>
            <a:off x="228600" y="6295292"/>
            <a:ext cx="8172450" cy="369332"/>
          </a:xfrm>
          <a:prstGeom prst="rect">
            <a:avLst/>
          </a:prstGeom>
          <a:noFill/>
        </p:spPr>
        <p:txBody>
          <a:bodyPr wrap="square">
            <a:spAutoFit/>
          </a:bodyPr>
          <a:lstStyle/>
          <a:p>
            <a:r>
              <a:rPr lang="en-GB" dirty="0">
                <a:ea typeface="Calibri"/>
                <a:cs typeface="Calibri"/>
              </a:rPr>
              <a:t>https://cran.r-project.org/web/packages/DHARMa/vignettes/DHARMa.html</a:t>
            </a:r>
          </a:p>
        </p:txBody>
      </p:sp>
    </p:spTree>
    <p:extLst>
      <p:ext uri="{BB962C8B-B14F-4D97-AF65-F5344CB8AC3E}">
        <p14:creationId xmlns:p14="http://schemas.microsoft.com/office/powerpoint/2010/main" val="2913606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5B0B-B8B6-CBE2-02E1-6C83419754BC}"/>
              </a:ext>
            </a:extLst>
          </p:cNvPr>
          <p:cNvSpPr>
            <a:spLocks noGrp="1"/>
          </p:cNvSpPr>
          <p:nvPr>
            <p:ph type="title"/>
          </p:nvPr>
        </p:nvSpPr>
        <p:spPr/>
        <p:txBody>
          <a:bodyPr/>
          <a:lstStyle/>
          <a:p>
            <a:r>
              <a:rPr lang="en-US" dirty="0"/>
              <a:t>Bad residuals: Poisson</a:t>
            </a:r>
          </a:p>
        </p:txBody>
      </p:sp>
      <p:pic>
        <p:nvPicPr>
          <p:cNvPr id="6146" name="Picture 2">
            <a:extLst>
              <a:ext uri="{FF2B5EF4-FFF2-40B4-BE49-F238E27FC236}">
                <a16:creationId xmlns:a16="http://schemas.microsoft.com/office/drawing/2014/main" id="{165AD1D8-B217-A273-E307-1F3D41A6F61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990600"/>
            <a:ext cx="7435397" cy="5310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866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3EE63-CAAC-9DDC-B556-5D9FEC5EC372}"/>
              </a:ext>
            </a:extLst>
          </p:cNvPr>
          <p:cNvSpPr>
            <a:spLocks noGrp="1"/>
          </p:cNvSpPr>
          <p:nvPr>
            <p:ph type="title"/>
          </p:nvPr>
        </p:nvSpPr>
        <p:spPr/>
        <p:txBody>
          <a:bodyPr/>
          <a:lstStyle/>
          <a:p>
            <a:r>
              <a:rPr lang="en-US" dirty="0"/>
              <a:t>Best: NB2</a:t>
            </a:r>
          </a:p>
        </p:txBody>
      </p:sp>
      <p:pic>
        <p:nvPicPr>
          <p:cNvPr id="7170" name="Picture 2">
            <a:extLst>
              <a:ext uri="{FF2B5EF4-FFF2-40B4-BE49-F238E27FC236}">
                <a16:creationId xmlns:a16="http://schemas.microsoft.com/office/drawing/2014/main" id="{E3242E0B-CB77-69D8-C6A6-60FA95D391A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066800"/>
            <a:ext cx="7115358" cy="5082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2054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8627E-C1DB-12B2-2E52-20402D46D883}"/>
              </a:ext>
            </a:extLst>
          </p:cNvPr>
          <p:cNvSpPr>
            <a:spLocks noGrp="1"/>
          </p:cNvSpPr>
          <p:nvPr>
            <p:ph type="title"/>
          </p:nvPr>
        </p:nvSpPr>
        <p:spPr/>
        <p:txBody>
          <a:bodyPr/>
          <a:lstStyle/>
          <a:p>
            <a:r>
              <a:rPr lang="en-US" dirty="0"/>
              <a:t>Model selection</a:t>
            </a:r>
          </a:p>
        </p:txBody>
      </p:sp>
      <p:sp>
        <p:nvSpPr>
          <p:cNvPr id="3" name="Content Placeholder 2">
            <a:extLst>
              <a:ext uri="{FF2B5EF4-FFF2-40B4-BE49-F238E27FC236}">
                <a16:creationId xmlns:a16="http://schemas.microsoft.com/office/drawing/2014/main" id="{FE5BC57E-8C56-ECBF-3A5B-666120AB57F6}"/>
              </a:ext>
            </a:extLst>
          </p:cNvPr>
          <p:cNvSpPr>
            <a:spLocks noGrp="1"/>
          </p:cNvSpPr>
          <p:nvPr>
            <p:ph idx="1"/>
          </p:nvPr>
        </p:nvSpPr>
        <p:spPr/>
        <p:txBody>
          <a:bodyPr/>
          <a:lstStyle/>
          <a:p>
            <a:r>
              <a:rPr lang="en-US" dirty="0"/>
              <a:t>Library </a:t>
            </a:r>
            <a:r>
              <a:rPr lang="en-US" dirty="0" err="1"/>
              <a:t>MuMIN</a:t>
            </a:r>
            <a:r>
              <a:rPr lang="en-US" dirty="0"/>
              <a:t>, dredge() function will make a model selection table with all possible combinations of predictor variables from input model.</a:t>
            </a:r>
          </a:p>
          <a:p>
            <a:r>
              <a:rPr lang="en-US" dirty="0"/>
              <a:t>Must set up GLM to fail if there are any NA values, because IC can only be used on models with the exact same data (GLM drops rows with NA in included variables).</a:t>
            </a:r>
          </a:p>
          <a:p>
            <a:r>
              <a:rPr lang="en-US" dirty="0"/>
              <a:t>Can choose IC to use. </a:t>
            </a:r>
          </a:p>
          <a:p>
            <a:pPr marL="0" indent="0">
              <a:buNone/>
            </a:pPr>
            <a:endParaRPr lang="en-US" dirty="0"/>
          </a:p>
          <a:p>
            <a:endParaRPr lang="en-US" dirty="0"/>
          </a:p>
        </p:txBody>
      </p:sp>
    </p:spTree>
    <p:extLst>
      <p:ext uri="{BB962C8B-B14F-4D97-AF65-F5344CB8AC3E}">
        <p14:creationId xmlns:p14="http://schemas.microsoft.com/office/powerpoint/2010/main" val="3016797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A8AB5-C356-E9B2-F417-5CD8C8D00194}"/>
              </a:ext>
            </a:extLst>
          </p:cNvPr>
          <p:cNvSpPr>
            <a:spLocks noGrp="1"/>
          </p:cNvSpPr>
          <p:nvPr>
            <p:ph type="title"/>
          </p:nvPr>
        </p:nvSpPr>
        <p:spPr/>
        <p:txBody>
          <a:bodyPr/>
          <a:lstStyle/>
          <a:p>
            <a:r>
              <a:rPr lang="en-US" dirty="0"/>
              <a:t>Dredge table </a:t>
            </a:r>
          </a:p>
        </p:txBody>
      </p:sp>
      <p:graphicFrame>
        <p:nvGraphicFramePr>
          <p:cNvPr id="4" name="Content Placeholder 3">
            <a:extLst>
              <a:ext uri="{FF2B5EF4-FFF2-40B4-BE49-F238E27FC236}">
                <a16:creationId xmlns:a16="http://schemas.microsoft.com/office/drawing/2014/main" id="{22928A63-2667-2A63-B109-032B02997018}"/>
              </a:ext>
            </a:extLst>
          </p:cNvPr>
          <p:cNvGraphicFramePr>
            <a:graphicFrameLocks noGrp="1"/>
          </p:cNvGraphicFramePr>
          <p:nvPr>
            <p:ph idx="1"/>
            <p:extLst>
              <p:ext uri="{D42A27DB-BD31-4B8C-83A1-F6EECF244321}">
                <p14:modId xmlns:p14="http://schemas.microsoft.com/office/powerpoint/2010/main" val="1711784262"/>
              </p:ext>
            </p:extLst>
          </p:nvPr>
        </p:nvGraphicFramePr>
        <p:xfrm>
          <a:off x="228600" y="990600"/>
          <a:ext cx="8763001" cy="5448303"/>
        </p:xfrm>
        <a:graphic>
          <a:graphicData uri="http://schemas.openxmlformats.org/drawingml/2006/table">
            <a:tbl>
              <a:tblPr>
                <a:tableStyleId>{5C22544A-7EE6-4342-B048-85BDC9FD1C3A}</a:tableStyleId>
              </a:tblPr>
              <a:tblGrid>
                <a:gridCol w="702368">
                  <a:extLst>
                    <a:ext uri="{9D8B030D-6E8A-4147-A177-3AD203B41FA5}">
                      <a16:colId xmlns:a16="http://schemas.microsoft.com/office/drawing/2014/main" val="4186079721"/>
                    </a:ext>
                  </a:extLst>
                </a:gridCol>
                <a:gridCol w="702368">
                  <a:extLst>
                    <a:ext uri="{9D8B030D-6E8A-4147-A177-3AD203B41FA5}">
                      <a16:colId xmlns:a16="http://schemas.microsoft.com/office/drawing/2014/main" val="800001954"/>
                    </a:ext>
                  </a:extLst>
                </a:gridCol>
                <a:gridCol w="702368">
                  <a:extLst>
                    <a:ext uri="{9D8B030D-6E8A-4147-A177-3AD203B41FA5}">
                      <a16:colId xmlns:a16="http://schemas.microsoft.com/office/drawing/2014/main" val="94485646"/>
                    </a:ext>
                  </a:extLst>
                </a:gridCol>
                <a:gridCol w="702368">
                  <a:extLst>
                    <a:ext uri="{9D8B030D-6E8A-4147-A177-3AD203B41FA5}">
                      <a16:colId xmlns:a16="http://schemas.microsoft.com/office/drawing/2014/main" val="2206529593"/>
                    </a:ext>
                  </a:extLst>
                </a:gridCol>
                <a:gridCol w="702368">
                  <a:extLst>
                    <a:ext uri="{9D8B030D-6E8A-4147-A177-3AD203B41FA5}">
                      <a16:colId xmlns:a16="http://schemas.microsoft.com/office/drawing/2014/main" val="3485568977"/>
                    </a:ext>
                  </a:extLst>
                </a:gridCol>
                <a:gridCol w="751649">
                  <a:extLst>
                    <a:ext uri="{9D8B030D-6E8A-4147-A177-3AD203B41FA5}">
                      <a16:colId xmlns:a16="http://schemas.microsoft.com/office/drawing/2014/main" val="2442925796"/>
                    </a:ext>
                  </a:extLst>
                </a:gridCol>
                <a:gridCol w="702368">
                  <a:extLst>
                    <a:ext uri="{9D8B030D-6E8A-4147-A177-3AD203B41FA5}">
                      <a16:colId xmlns:a16="http://schemas.microsoft.com/office/drawing/2014/main" val="3116873771"/>
                    </a:ext>
                  </a:extLst>
                </a:gridCol>
                <a:gridCol w="1196204">
                  <a:extLst>
                    <a:ext uri="{9D8B030D-6E8A-4147-A177-3AD203B41FA5}">
                      <a16:colId xmlns:a16="http://schemas.microsoft.com/office/drawing/2014/main" val="3354770527"/>
                    </a:ext>
                  </a:extLst>
                </a:gridCol>
                <a:gridCol w="1196204">
                  <a:extLst>
                    <a:ext uri="{9D8B030D-6E8A-4147-A177-3AD203B41FA5}">
                      <a16:colId xmlns:a16="http://schemas.microsoft.com/office/drawing/2014/main" val="914312754"/>
                    </a:ext>
                  </a:extLst>
                </a:gridCol>
                <a:gridCol w="852111">
                  <a:extLst>
                    <a:ext uri="{9D8B030D-6E8A-4147-A177-3AD203B41FA5}">
                      <a16:colId xmlns:a16="http://schemas.microsoft.com/office/drawing/2014/main" val="158051888"/>
                    </a:ext>
                  </a:extLst>
                </a:gridCol>
                <a:gridCol w="552625">
                  <a:extLst>
                    <a:ext uri="{9D8B030D-6E8A-4147-A177-3AD203B41FA5}">
                      <a16:colId xmlns:a16="http://schemas.microsoft.com/office/drawing/2014/main" val="27957902"/>
                    </a:ext>
                  </a:extLst>
                </a:gridCol>
              </a:tblGrid>
              <a:tr h="778329">
                <a:tc>
                  <a:txBody>
                    <a:bodyPr/>
                    <a:lstStyle/>
                    <a:p>
                      <a:pPr algn="l" fontAlgn="b">
                        <a:buNone/>
                      </a:pPr>
                      <a:r>
                        <a:rPr lang="en-US" sz="1800" b="0" i="0" u="none" strike="noStrike" dirty="0">
                          <a:solidFill>
                            <a:srgbClr val="000000"/>
                          </a:solidFill>
                          <a:effectLst/>
                          <a:latin typeface="Aptos Narrow" panose="020B0004020202020204" pitchFamily="34" charset="0"/>
                        </a:rPr>
                        <a:t>int</a:t>
                      </a:r>
                    </a:p>
                  </a:txBody>
                  <a:tcPr marL="7620" marR="7620" marT="7620" marB="0" anchor="b"/>
                </a:tc>
                <a:tc>
                  <a:txBody>
                    <a:bodyPr/>
                    <a:lstStyle/>
                    <a:p>
                      <a:pPr algn="l" fontAlgn="b">
                        <a:buNone/>
                      </a:pPr>
                      <a:r>
                        <a:rPr lang="en-US" sz="1800" u="none" strike="noStrike" dirty="0">
                          <a:effectLst/>
                        </a:rPr>
                        <a:t>area</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a:effectLst/>
                        </a:rPr>
                        <a:t>season</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b="0" i="0" u="none" strike="noStrike" dirty="0">
                          <a:solidFill>
                            <a:srgbClr val="000000"/>
                          </a:solidFill>
                          <a:effectLst/>
                          <a:latin typeface="Aptos Narrow" panose="020B0004020202020204" pitchFamily="34" charset="0"/>
                        </a:rPr>
                        <a:t>year</a:t>
                      </a:r>
                    </a:p>
                  </a:txBody>
                  <a:tcPr marL="7620" marR="7620" marT="7620" marB="0" anchor="b"/>
                </a:tc>
                <a:tc>
                  <a:txBody>
                    <a:bodyPr/>
                    <a:lstStyle/>
                    <a:p>
                      <a:pPr algn="l" fontAlgn="b">
                        <a:buNone/>
                      </a:pPr>
                      <a:r>
                        <a:rPr lang="en-US" sz="1800" u="none" strike="noStrike" dirty="0">
                          <a:effectLst/>
                        </a:rPr>
                        <a:t>are:</a:t>
                      </a:r>
                    </a:p>
                    <a:p>
                      <a:pPr algn="l" fontAlgn="b">
                        <a:buNone/>
                      </a:pPr>
                      <a:r>
                        <a:rPr lang="en-US" sz="1800" u="none" strike="noStrike" dirty="0" err="1">
                          <a:effectLst/>
                        </a:rPr>
                        <a:t>ssn</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a:effectLst/>
                        </a:rPr>
                        <a:t>are:</a:t>
                      </a:r>
                    </a:p>
                    <a:p>
                      <a:pPr algn="l" fontAlgn="b">
                        <a:buNone/>
                      </a:pPr>
                      <a:r>
                        <a:rPr lang="en-US" sz="1800" u="none" strike="noStrike" dirty="0">
                          <a:effectLst/>
                        </a:rPr>
                        <a:t>Yer</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err="1">
                          <a:effectLst/>
                        </a:rPr>
                        <a:t>df</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err="1">
                          <a:effectLst/>
                        </a:rPr>
                        <a:t>logLik</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a:effectLst/>
                        </a:rPr>
                        <a:t>BIC</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delta</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weight</a:t>
                      </a:r>
                      <a:endParaRPr lang="en-US" sz="18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31651421"/>
                  </a:ext>
                </a:extLst>
              </a:tr>
              <a:tr h="778329">
                <a:tc>
                  <a:txBody>
                    <a:bodyPr/>
                    <a:lstStyle/>
                    <a:p>
                      <a:pPr algn="r" fontAlgn="b">
                        <a:buNone/>
                      </a:pPr>
                      <a:r>
                        <a:rPr lang="en-US" sz="1800" u="none" strike="noStrike" dirty="0">
                          <a:effectLst/>
                        </a:rPr>
                        <a:t>-0.24</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a:effectLst/>
                        </a:rPr>
                        <a:t>+</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a:effectLst/>
                        </a:rPr>
                        <a:t>+</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37</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-5074.41</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10429.70</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0.00</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1</a:t>
                      </a:r>
                      <a:endParaRPr lang="en-US" sz="18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206741545"/>
                  </a:ext>
                </a:extLst>
              </a:tr>
              <a:tr h="778329">
                <a:tc>
                  <a:txBody>
                    <a:bodyPr/>
                    <a:lstStyle/>
                    <a:p>
                      <a:pPr algn="r" fontAlgn="b">
                        <a:buNone/>
                      </a:pPr>
                      <a:r>
                        <a:rPr lang="en-US" sz="1800" u="none" strike="noStrike">
                          <a:effectLst/>
                        </a:rPr>
                        <a:t>-0.06</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a:effectLst/>
                        </a:rPr>
                        <a:t>+</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34</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-5102.23</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10462.60</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32.88</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0</a:t>
                      </a:r>
                      <a:endParaRPr lang="en-US" sz="18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32324090"/>
                  </a:ext>
                </a:extLst>
              </a:tr>
              <a:tr h="778329">
                <a:tc>
                  <a:txBody>
                    <a:bodyPr/>
                    <a:lstStyle/>
                    <a:p>
                      <a:pPr algn="r" fontAlgn="b">
                        <a:buNone/>
                      </a:pPr>
                      <a:r>
                        <a:rPr lang="en-US" sz="1800" u="none" strike="noStrike">
                          <a:effectLst/>
                        </a:rPr>
                        <a:t>-0.19</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a:effectLst/>
                        </a:rPr>
                        <a:t>+</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31</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-5117.09</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10469.50</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39.82</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0</a:t>
                      </a:r>
                      <a:endParaRPr lang="en-US" sz="18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24710648"/>
                  </a:ext>
                </a:extLst>
              </a:tr>
              <a:tr h="778329">
                <a:tc>
                  <a:txBody>
                    <a:bodyPr/>
                    <a:lstStyle/>
                    <a:p>
                      <a:pPr algn="r" fontAlgn="b">
                        <a:buNone/>
                      </a:pPr>
                      <a:r>
                        <a:rPr lang="en-US" sz="1800" u="none" strike="noStrike">
                          <a:effectLst/>
                        </a:rPr>
                        <a:t>-1.04</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a:effectLst/>
                        </a:rPr>
                        <a:t>+</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65</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-5010.00</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10513.50</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83.78</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0</a:t>
                      </a:r>
                      <a:endParaRPr lang="en-US" sz="18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682566941"/>
                  </a:ext>
                </a:extLst>
              </a:tr>
              <a:tr h="778329">
                <a:tc>
                  <a:txBody>
                    <a:bodyPr/>
                    <a:lstStyle/>
                    <a:p>
                      <a:pPr algn="r" fontAlgn="b">
                        <a:buNone/>
                      </a:pPr>
                      <a:r>
                        <a:rPr lang="en-US" sz="1800" u="none" strike="noStrike">
                          <a:effectLst/>
                        </a:rPr>
                        <a:t>-0.43</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a:effectLst/>
                        </a:rPr>
                        <a:t>+</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33</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-5142.43</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10535.40</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105.67</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0</a:t>
                      </a:r>
                      <a:endParaRPr lang="en-US" sz="18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652504158"/>
                  </a:ext>
                </a:extLst>
              </a:tr>
              <a:tr h="778329">
                <a:tc>
                  <a:txBody>
                    <a:bodyPr/>
                    <a:lstStyle/>
                    <a:p>
                      <a:pPr algn="r" fontAlgn="b">
                        <a:buNone/>
                      </a:pPr>
                      <a:r>
                        <a:rPr lang="en-US" sz="1800" u="none" strike="noStrike">
                          <a:effectLst/>
                        </a:rPr>
                        <a:t>-0.57</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800" u="none" strike="noStrike" dirty="0">
                          <a:effectLst/>
                        </a:rPr>
                        <a:t>+</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30</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a:effectLst/>
                        </a:rPr>
                        <a:t>-5158.52</a:t>
                      </a:r>
                      <a:endParaRPr lang="en-US" sz="18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10544.80</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115.08</a:t>
                      </a:r>
                      <a:endParaRPr lang="en-US" sz="18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800" u="none" strike="noStrike" dirty="0">
                          <a:effectLst/>
                        </a:rPr>
                        <a:t>0</a:t>
                      </a:r>
                      <a:endParaRPr lang="en-US" sz="18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255036944"/>
                  </a:ext>
                </a:extLst>
              </a:tr>
            </a:tbl>
          </a:graphicData>
        </a:graphic>
      </p:graphicFrame>
    </p:spTree>
    <p:extLst>
      <p:ext uri="{BB962C8B-B14F-4D97-AF65-F5344CB8AC3E}">
        <p14:creationId xmlns:p14="http://schemas.microsoft.com/office/powerpoint/2010/main" val="1741996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9E239-1D38-4F89-062D-8D42ABF202BB}"/>
              </a:ext>
            </a:extLst>
          </p:cNvPr>
          <p:cNvSpPr>
            <a:spLocks noGrp="1"/>
          </p:cNvSpPr>
          <p:nvPr>
            <p:ph type="title"/>
          </p:nvPr>
        </p:nvSpPr>
        <p:spPr/>
        <p:txBody>
          <a:bodyPr/>
          <a:lstStyle/>
          <a:p>
            <a:r>
              <a:rPr lang="en-US" dirty="0"/>
              <a:t>Abundance trend</a:t>
            </a:r>
          </a:p>
        </p:txBody>
      </p:sp>
      <p:sp>
        <p:nvSpPr>
          <p:cNvPr id="3" name="Content Placeholder 2">
            <a:extLst>
              <a:ext uri="{FF2B5EF4-FFF2-40B4-BE49-F238E27FC236}">
                <a16:creationId xmlns:a16="http://schemas.microsoft.com/office/drawing/2014/main" id="{0CF548C4-E24C-70C5-68CC-4223E2961DEA}"/>
              </a:ext>
            </a:extLst>
          </p:cNvPr>
          <p:cNvSpPr>
            <a:spLocks noGrp="1"/>
          </p:cNvSpPr>
          <p:nvPr>
            <p:ph idx="1"/>
          </p:nvPr>
        </p:nvSpPr>
        <p:spPr/>
        <p:txBody>
          <a:bodyPr/>
          <a:lstStyle/>
          <a:p>
            <a:r>
              <a:rPr lang="en-US" dirty="0"/>
              <a:t>Make a new data frame from all the catchability variables set to their mean (if numeric) or most common value (categorical)</a:t>
            </a:r>
          </a:p>
          <a:p>
            <a:r>
              <a:rPr lang="en-US" dirty="0"/>
              <a:t>Predict catch for 1 set (=CPUE) for all years, using type=“response” to get the inverse link (original scale)</a:t>
            </a:r>
          </a:p>
        </p:txBody>
      </p:sp>
    </p:spTree>
    <p:extLst>
      <p:ext uri="{BB962C8B-B14F-4D97-AF65-F5344CB8AC3E}">
        <p14:creationId xmlns:p14="http://schemas.microsoft.com/office/powerpoint/2010/main" val="1501107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4032F-1F86-C4B1-ABCB-09F5529284FB}"/>
              </a:ext>
            </a:extLst>
          </p:cNvPr>
          <p:cNvSpPr>
            <a:spLocks noGrp="1"/>
          </p:cNvSpPr>
          <p:nvPr>
            <p:ph type="title"/>
          </p:nvPr>
        </p:nvSpPr>
        <p:spPr/>
        <p:txBody>
          <a:bodyPr/>
          <a:lstStyle/>
          <a:p>
            <a:r>
              <a:rPr lang="en-US" dirty="0"/>
              <a:t>Trends from Negative binomial</a:t>
            </a:r>
          </a:p>
        </p:txBody>
      </p:sp>
      <p:pic>
        <p:nvPicPr>
          <p:cNvPr id="9220" name="Picture 4">
            <a:extLst>
              <a:ext uri="{FF2B5EF4-FFF2-40B4-BE49-F238E27FC236}">
                <a16:creationId xmlns:a16="http://schemas.microsoft.com/office/drawing/2014/main" id="{EE4A25D1-6FC9-ECB9-9F25-DB29E9A1FD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7026" y="1272365"/>
            <a:ext cx="7435397" cy="531099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1B3DC97-3B73-F9D5-4C00-3D1BE5F64EC4}"/>
              </a:ext>
            </a:extLst>
          </p:cNvPr>
          <p:cNvSpPr txBox="1"/>
          <p:nvPr/>
        </p:nvSpPr>
        <p:spPr>
          <a:xfrm>
            <a:off x="7086600" y="5257800"/>
            <a:ext cx="1828800" cy="1200329"/>
          </a:xfrm>
          <a:prstGeom prst="rect">
            <a:avLst/>
          </a:prstGeom>
          <a:noFill/>
        </p:spPr>
        <p:txBody>
          <a:bodyPr wrap="square" rtlCol="0">
            <a:spAutoFit/>
          </a:bodyPr>
          <a:lstStyle/>
          <a:p>
            <a:r>
              <a:rPr lang="en-US" dirty="0"/>
              <a:t>Two areas are the same because there is no interaction</a:t>
            </a:r>
          </a:p>
        </p:txBody>
      </p:sp>
    </p:spTree>
    <p:extLst>
      <p:ext uri="{BB962C8B-B14F-4D97-AF65-F5344CB8AC3E}">
        <p14:creationId xmlns:p14="http://schemas.microsoft.com/office/powerpoint/2010/main" val="382573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B0FE6-9448-F030-DD17-6A53ADE97907}"/>
              </a:ext>
            </a:extLst>
          </p:cNvPr>
          <p:cNvSpPr>
            <a:spLocks noGrp="1"/>
          </p:cNvSpPr>
          <p:nvPr>
            <p:ph type="title"/>
          </p:nvPr>
        </p:nvSpPr>
        <p:spPr/>
        <p:txBody>
          <a:bodyPr/>
          <a:lstStyle/>
          <a:p>
            <a:r>
              <a:rPr lang="en-US" dirty="0"/>
              <a:t>For numeric response variables</a:t>
            </a:r>
          </a:p>
        </p:txBody>
      </p:sp>
      <p:sp>
        <p:nvSpPr>
          <p:cNvPr id="3" name="Content Placeholder 2">
            <a:extLst>
              <a:ext uri="{FF2B5EF4-FFF2-40B4-BE49-F238E27FC236}">
                <a16:creationId xmlns:a16="http://schemas.microsoft.com/office/drawing/2014/main" id="{AC04FDEB-2BCC-8028-8263-D8B275E533CA}"/>
              </a:ext>
            </a:extLst>
          </p:cNvPr>
          <p:cNvSpPr>
            <a:spLocks noGrp="1"/>
          </p:cNvSpPr>
          <p:nvPr>
            <p:ph idx="1"/>
          </p:nvPr>
        </p:nvSpPr>
        <p:spPr/>
        <p:txBody>
          <a:bodyPr/>
          <a:lstStyle/>
          <a:p>
            <a:r>
              <a:rPr lang="en-US" dirty="0"/>
              <a:t>Models that can include non-integer data (e.g. biomass or C/E), and allow plenty or zeros</a:t>
            </a:r>
          </a:p>
          <a:p>
            <a:r>
              <a:rPr lang="en-US" dirty="0"/>
              <a:t>Tweedie</a:t>
            </a:r>
          </a:p>
          <a:p>
            <a:r>
              <a:rPr lang="en-US" dirty="0"/>
              <a:t>Delta-lognormal and delta-gamma </a:t>
            </a:r>
          </a:p>
        </p:txBody>
      </p:sp>
    </p:spTree>
    <p:extLst>
      <p:ext uri="{BB962C8B-B14F-4D97-AF65-F5344CB8AC3E}">
        <p14:creationId xmlns:p14="http://schemas.microsoft.com/office/powerpoint/2010/main" val="1250011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EB401C-FFE2-7AD7-6D84-C2EEFEDEABFC}"/>
                  </a:ext>
                </a:extLst>
              </p:cNvPr>
              <p:cNvSpPr>
                <a:spLocks noGrp="1"/>
              </p:cNvSpPr>
              <p:nvPr>
                <p:ph idx="1"/>
              </p:nvPr>
            </p:nvSpPr>
            <p:spPr>
              <a:xfrm>
                <a:off x="457200" y="533400"/>
                <a:ext cx="8229600" cy="5135563"/>
              </a:xfrm>
            </p:spPr>
            <p:txBody>
              <a:bodyPr vert="horz" wrap="square" lIns="68580" tIns="34290" rIns="68580" bIns="34290" numCol="1" rtlCol="0" anchor="t" anchorCtr="0" compatLnSpc="1">
                <a:prstTxWarp prst="textNoShape">
                  <a:avLst/>
                </a:prstTxWarp>
                <a:normAutofit/>
              </a:bodyPr>
              <a:lstStyle/>
              <a:p>
                <a:pPr marL="0" indent="0">
                  <a:buNone/>
                </a:pPr>
                <a:r>
                  <a:rPr lang="en-GB" b="1" dirty="0"/>
                  <a:t>Tweedie models</a:t>
                </a:r>
                <a:endParaRPr lang="en-US" dirty="0">
                  <a:cs typeface="Calibri" panose="020F0502020204030204"/>
                </a:endParaRPr>
              </a:p>
              <a:p>
                <a:pPr lvl="1"/>
                <a:r>
                  <a:rPr lang="en-GB" dirty="0">
                    <a:cs typeface="Calibri"/>
                  </a:rPr>
                  <a:t>Generalized function similar to a Gamma distribution, except that it allows extra probability mass at zero</a:t>
                </a:r>
              </a:p>
              <a:p>
                <a:pPr lvl="1"/>
                <a:r>
                  <a:rPr lang="en-GB" dirty="0">
                    <a:cs typeface="Calibri"/>
                  </a:rPr>
                  <a:t>Appropriate for continuous data with extra zeros</a:t>
                </a:r>
                <a:endParaRPr lang="en-GB" dirty="0"/>
              </a:p>
              <a:p>
                <a:pPr lvl="1"/>
                <a:r>
                  <a:rPr lang="en-GB" dirty="0"/>
                  <a:t>Use a log link function for the mean, and estimates an index parameter p and a dispersion parameter </a:t>
                </a:r>
                <a:r>
                  <a:rPr lang="el-GR" dirty="0"/>
                  <a:t>Φ</a:t>
                </a:r>
                <a:r>
                  <a:rPr lang="en-GB" dirty="0"/>
                  <a:t>  which determine the shape of the distribution</a:t>
                </a:r>
                <a14:m>
                  <m:oMath xmlns:m="http://schemas.openxmlformats.org/officeDocument/2006/math">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𝜑</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𝜇</m:t>
                        </m:r>
                      </m:e>
                      <m:sup>
                        <m:r>
                          <a:rPr lang="en-US" b="0" i="1" smtClean="0">
                            <a:latin typeface="Cambria Math" panose="02040503050406030204" pitchFamily="18" charset="0"/>
                            <a:ea typeface="Cambria Math" panose="02040503050406030204" pitchFamily="18" charset="0"/>
                          </a:rPr>
                          <m:t>𝑝</m:t>
                        </m:r>
                      </m:sup>
                    </m:sSup>
                  </m:oMath>
                </a14:m>
                <a:br>
                  <a:rPr lang="en-GB" dirty="0">
                    <a:ea typeface="Calibri"/>
                    <a:cs typeface="Calibri"/>
                  </a:rPr>
                </a:br>
                <a:endParaRPr lang="en-GB" dirty="0">
                  <a:ea typeface="Calibri"/>
                  <a:cs typeface="Calibri"/>
                </a:endParaRPr>
              </a:p>
              <a:p>
                <a:pPr lvl="1"/>
                <a:endParaRPr lang="en-GB" dirty="0"/>
              </a:p>
            </p:txBody>
          </p:sp>
        </mc:Choice>
        <mc:Fallback xmlns="">
          <p:sp>
            <p:nvSpPr>
              <p:cNvPr id="3" name="Content Placeholder 2">
                <a:extLst>
                  <a:ext uri="{FF2B5EF4-FFF2-40B4-BE49-F238E27FC236}">
                    <a16:creationId xmlns:a16="http://schemas.microsoft.com/office/drawing/2014/main" id="{49EB401C-FFE2-7AD7-6D84-C2EEFEDEABFC}"/>
                  </a:ext>
                </a:extLst>
              </p:cNvPr>
              <p:cNvSpPr>
                <a:spLocks noGrp="1" noRot="1" noChangeAspect="1" noMove="1" noResize="1" noEditPoints="1" noAdjustHandles="1" noChangeArrowheads="1" noChangeShapeType="1" noTextEdit="1"/>
              </p:cNvSpPr>
              <p:nvPr>
                <p:ph idx="1"/>
              </p:nvPr>
            </p:nvSpPr>
            <p:spPr>
              <a:xfrm>
                <a:off x="457200" y="533400"/>
                <a:ext cx="8229600" cy="5135563"/>
              </a:xfrm>
              <a:blipFill>
                <a:blip r:embed="rId2"/>
                <a:stretch>
                  <a:fillRect l="-2000" t="-1781" r="-222"/>
                </a:stretch>
              </a:blipFill>
            </p:spPr>
            <p:txBody>
              <a:bodyPr/>
              <a:lstStyle/>
              <a:p>
                <a:r>
                  <a:rPr lang="en-US">
                    <a:noFill/>
                  </a:rPr>
                  <a:t> </a:t>
                </a:r>
              </a:p>
            </p:txBody>
          </p:sp>
        </mc:Fallback>
      </mc:AlternateContent>
    </p:spTree>
    <p:extLst>
      <p:ext uri="{BB962C8B-B14F-4D97-AF65-F5344CB8AC3E}">
        <p14:creationId xmlns:p14="http://schemas.microsoft.com/office/powerpoint/2010/main" val="2280458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1EAD-BC4E-D0B4-24D8-ABDFED9A1681}"/>
              </a:ext>
            </a:extLst>
          </p:cNvPr>
          <p:cNvSpPr>
            <a:spLocks noGrp="1"/>
          </p:cNvSpPr>
          <p:nvPr>
            <p:ph type="title"/>
          </p:nvPr>
        </p:nvSpPr>
        <p:spPr/>
        <p:txBody>
          <a:bodyPr/>
          <a:lstStyle/>
          <a:p>
            <a:r>
              <a:rPr lang="en-US" dirty="0"/>
              <a:t>phi=1, mu=1, Tweedie=Poisson</a:t>
            </a:r>
          </a:p>
        </p:txBody>
      </p:sp>
      <p:pic>
        <p:nvPicPr>
          <p:cNvPr id="1026" name="Picture 2">
            <a:extLst>
              <a:ext uri="{FF2B5EF4-FFF2-40B4-BE49-F238E27FC236}">
                <a16:creationId xmlns:a16="http://schemas.microsoft.com/office/drawing/2014/main" id="{A7FECF71-8755-B87D-2504-712C515494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2614" y="1272365"/>
            <a:ext cx="7179810" cy="5128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388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50E24AF9-D5C2-C879-1A4E-FA2D3AF7BE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762000"/>
            <a:ext cx="7254241"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159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54AD4-F134-0E8D-9478-3990A0A576AB}"/>
              </a:ext>
            </a:extLst>
          </p:cNvPr>
          <p:cNvSpPr>
            <a:spLocks noGrp="1"/>
          </p:cNvSpPr>
          <p:nvPr>
            <p:ph type="title"/>
          </p:nvPr>
        </p:nvSpPr>
        <p:spPr/>
        <p:txBody>
          <a:bodyPr/>
          <a:lstStyle/>
          <a:p>
            <a:r>
              <a:rPr lang="en-US" dirty="0"/>
              <a:t>p=1.15, varying mu and phi. </a:t>
            </a:r>
          </a:p>
        </p:txBody>
      </p:sp>
      <p:pic>
        <p:nvPicPr>
          <p:cNvPr id="4098" name="Picture 2">
            <a:extLst>
              <a:ext uri="{FF2B5EF4-FFF2-40B4-BE49-F238E27FC236}">
                <a16:creationId xmlns:a16="http://schemas.microsoft.com/office/drawing/2014/main" id="{E56AE829-034C-FF27-6848-3F372D1D491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576" y="1272365"/>
            <a:ext cx="6400847" cy="45720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06A9236-C514-0E28-0520-C9F55C7BDE39}"/>
              </a:ext>
            </a:extLst>
          </p:cNvPr>
          <p:cNvSpPr txBox="1"/>
          <p:nvPr/>
        </p:nvSpPr>
        <p:spPr>
          <a:xfrm>
            <a:off x="3581400" y="6019800"/>
            <a:ext cx="2133600" cy="369332"/>
          </a:xfrm>
          <a:prstGeom prst="rect">
            <a:avLst/>
          </a:prstGeom>
          <a:noFill/>
        </p:spPr>
        <p:txBody>
          <a:bodyPr wrap="square" rtlCol="0">
            <a:spAutoFit/>
          </a:bodyPr>
          <a:lstStyle/>
          <a:p>
            <a:r>
              <a:rPr lang="en-US" dirty="0"/>
              <a:t>Mu</a:t>
            </a:r>
          </a:p>
        </p:txBody>
      </p:sp>
      <p:sp>
        <p:nvSpPr>
          <p:cNvPr id="5" name="TextBox 4">
            <a:extLst>
              <a:ext uri="{FF2B5EF4-FFF2-40B4-BE49-F238E27FC236}">
                <a16:creationId xmlns:a16="http://schemas.microsoft.com/office/drawing/2014/main" id="{9F2D0FED-68ED-61D9-AC47-E9DBDCA1F207}"/>
              </a:ext>
            </a:extLst>
          </p:cNvPr>
          <p:cNvSpPr txBox="1"/>
          <p:nvPr/>
        </p:nvSpPr>
        <p:spPr>
          <a:xfrm>
            <a:off x="7162800" y="2057400"/>
            <a:ext cx="914400" cy="369332"/>
          </a:xfrm>
          <a:prstGeom prst="rect">
            <a:avLst/>
          </a:prstGeom>
          <a:noFill/>
        </p:spPr>
        <p:txBody>
          <a:bodyPr wrap="square" rtlCol="0">
            <a:spAutoFit/>
          </a:bodyPr>
          <a:lstStyle/>
          <a:p>
            <a:r>
              <a:rPr lang="en-US" dirty="0"/>
              <a:t>phi</a:t>
            </a:r>
          </a:p>
        </p:txBody>
      </p:sp>
    </p:spTree>
    <p:extLst>
      <p:ext uri="{BB962C8B-B14F-4D97-AF65-F5344CB8AC3E}">
        <p14:creationId xmlns:p14="http://schemas.microsoft.com/office/powerpoint/2010/main" val="256395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04CF-39E9-E09D-7276-F132376CE378}"/>
              </a:ext>
            </a:extLst>
          </p:cNvPr>
          <p:cNvSpPr>
            <a:spLocks noGrp="1"/>
          </p:cNvSpPr>
          <p:nvPr>
            <p:ph type="title"/>
          </p:nvPr>
        </p:nvSpPr>
        <p:spPr/>
        <p:txBody>
          <a:bodyPr/>
          <a:lstStyle/>
          <a:p>
            <a:r>
              <a:rPr lang="en-US" dirty="0"/>
              <a:t>Using Tweedie </a:t>
            </a:r>
          </a:p>
        </p:txBody>
      </p:sp>
      <p:sp>
        <p:nvSpPr>
          <p:cNvPr id="3" name="Content Placeholder 2">
            <a:extLst>
              <a:ext uri="{FF2B5EF4-FFF2-40B4-BE49-F238E27FC236}">
                <a16:creationId xmlns:a16="http://schemas.microsoft.com/office/drawing/2014/main" id="{350E41A0-1820-B2A3-1AEE-F5C1F50B3250}"/>
              </a:ext>
            </a:extLst>
          </p:cNvPr>
          <p:cNvSpPr>
            <a:spLocks noGrp="1"/>
          </p:cNvSpPr>
          <p:nvPr>
            <p:ph idx="1"/>
          </p:nvPr>
        </p:nvSpPr>
        <p:spPr/>
        <p:txBody>
          <a:bodyPr/>
          <a:lstStyle/>
          <a:p>
            <a:r>
              <a:rPr lang="en-US" dirty="0"/>
              <a:t>Response is CPUE, zeros are okay</a:t>
            </a:r>
          </a:p>
          <a:p>
            <a:r>
              <a:rPr lang="en-US" dirty="0"/>
              <a:t>Log link, so predict with type=“response”</a:t>
            </a:r>
          </a:p>
          <a:p>
            <a:r>
              <a:rPr lang="en-US" dirty="0"/>
              <a:t>BIC prefers same set of predictor variables</a:t>
            </a:r>
          </a:p>
        </p:txBody>
      </p:sp>
    </p:spTree>
    <p:extLst>
      <p:ext uri="{BB962C8B-B14F-4D97-AF65-F5344CB8AC3E}">
        <p14:creationId xmlns:p14="http://schemas.microsoft.com/office/powerpoint/2010/main" val="3202171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0E822-3763-E75B-EEA8-3307038973AD}"/>
              </a:ext>
            </a:extLst>
          </p:cNvPr>
          <p:cNvSpPr>
            <a:spLocks noGrp="1"/>
          </p:cNvSpPr>
          <p:nvPr>
            <p:ph type="title"/>
          </p:nvPr>
        </p:nvSpPr>
        <p:spPr/>
        <p:txBody>
          <a:bodyPr/>
          <a:lstStyle/>
          <a:p>
            <a:r>
              <a:rPr lang="en-US" dirty="0"/>
              <a:t>Residuals okay</a:t>
            </a:r>
          </a:p>
        </p:txBody>
      </p:sp>
      <p:pic>
        <p:nvPicPr>
          <p:cNvPr id="10244" name="Picture 4">
            <a:extLst>
              <a:ext uri="{FF2B5EF4-FFF2-40B4-BE49-F238E27FC236}">
                <a16:creationId xmlns:a16="http://schemas.microsoft.com/office/drawing/2014/main" id="{2289B96F-AE2D-8682-D959-BE9FE6603AC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576" y="1272365"/>
            <a:ext cx="6400847" cy="4572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38593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585F2-D39F-0EA4-DE07-A1881715546E}"/>
              </a:ext>
            </a:extLst>
          </p:cNvPr>
          <p:cNvSpPr>
            <a:spLocks noGrp="1"/>
          </p:cNvSpPr>
          <p:nvPr>
            <p:ph type="title"/>
          </p:nvPr>
        </p:nvSpPr>
        <p:spPr/>
        <p:txBody>
          <a:bodyPr/>
          <a:lstStyle/>
          <a:p>
            <a:r>
              <a:rPr lang="en-US" dirty="0"/>
              <a:t>Comparing Tweedie and NB2</a:t>
            </a:r>
          </a:p>
        </p:txBody>
      </p:sp>
      <p:pic>
        <p:nvPicPr>
          <p:cNvPr id="5" name="Content Placeholder 4" descr="A graph with red and blue lines&#10;&#10;AI-generated content may be incorrect.">
            <a:extLst>
              <a:ext uri="{FF2B5EF4-FFF2-40B4-BE49-F238E27FC236}">
                <a16:creationId xmlns:a16="http://schemas.microsoft.com/office/drawing/2014/main" id="{396890D1-884C-88AF-0C2F-4277ACDC07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783" y="1219200"/>
            <a:ext cx="8261289" cy="5105400"/>
          </a:xfrm>
        </p:spPr>
      </p:pic>
    </p:spTree>
    <p:extLst>
      <p:ext uri="{BB962C8B-B14F-4D97-AF65-F5344CB8AC3E}">
        <p14:creationId xmlns:p14="http://schemas.microsoft.com/office/powerpoint/2010/main" val="2917803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16964-9DF0-C88D-84F9-FF83C8A45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7F32C-99F8-0302-F179-ADEB35E272B5}"/>
              </a:ext>
            </a:extLst>
          </p:cNvPr>
          <p:cNvSpPr>
            <a:spLocks noGrp="1"/>
          </p:cNvSpPr>
          <p:nvPr>
            <p:ph type="title"/>
          </p:nvPr>
        </p:nvSpPr>
        <p:spPr/>
        <p:txBody>
          <a:bodyPr/>
          <a:lstStyle/>
          <a:p>
            <a:r>
              <a:rPr lang="en-US" dirty="0"/>
              <a:t>Delta models</a:t>
            </a:r>
          </a:p>
        </p:txBody>
      </p:sp>
      <p:sp>
        <p:nvSpPr>
          <p:cNvPr id="3" name="Content Placeholder 2">
            <a:extLst>
              <a:ext uri="{FF2B5EF4-FFF2-40B4-BE49-F238E27FC236}">
                <a16:creationId xmlns:a16="http://schemas.microsoft.com/office/drawing/2014/main" id="{9A1443A0-AADD-EA36-445E-3A5232BB604A}"/>
              </a:ext>
            </a:extLst>
          </p:cNvPr>
          <p:cNvSpPr>
            <a:spLocks noGrp="1"/>
          </p:cNvSpPr>
          <p:nvPr>
            <p:ph idx="1"/>
          </p:nvPr>
        </p:nvSpPr>
        <p:spPr/>
        <p:txBody>
          <a:bodyPr/>
          <a:lstStyle/>
          <a:p>
            <a:r>
              <a:rPr lang="en-US" sz="2800" dirty="0"/>
              <a:t>In fisheries, called a delta model, e.g. delta-lognormal</a:t>
            </a:r>
          </a:p>
          <a:p>
            <a:r>
              <a:rPr lang="en-US" sz="2800" dirty="0"/>
              <a:t>Ecologists call these hurdle models</a:t>
            </a:r>
          </a:p>
          <a:p>
            <a:r>
              <a:rPr lang="en-US" sz="2800" dirty="0"/>
              <a:t>Two part model</a:t>
            </a:r>
          </a:p>
          <a:p>
            <a:pPr lvl="1"/>
            <a:r>
              <a:rPr lang="en-US" sz="2400" dirty="0"/>
              <a:t>Binomial model of presence/absence (year effect p)</a:t>
            </a:r>
          </a:p>
          <a:p>
            <a:pPr lvl="1"/>
            <a:r>
              <a:rPr lang="en-US" sz="2400" dirty="0"/>
              <a:t>Lognormal model for positive observations only  (year effect mu)</a:t>
            </a:r>
          </a:p>
          <a:p>
            <a:r>
              <a:rPr lang="en-US" sz="2800" dirty="0"/>
              <a:t>Model selection, evaluation, testing done separately for the two models</a:t>
            </a:r>
          </a:p>
          <a:p>
            <a:r>
              <a:rPr lang="en-US" sz="2800" dirty="0"/>
              <a:t>Works for intermediate number of zeros</a:t>
            </a:r>
          </a:p>
        </p:txBody>
      </p:sp>
    </p:spTree>
    <p:extLst>
      <p:ext uri="{BB962C8B-B14F-4D97-AF65-F5344CB8AC3E}">
        <p14:creationId xmlns:p14="http://schemas.microsoft.com/office/powerpoint/2010/main" val="33661324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207484" y="152400"/>
            <a:ext cx="9372600" cy="990600"/>
          </a:xfrm>
        </p:spPr>
        <p:txBody>
          <a:bodyPr/>
          <a:lstStyle/>
          <a:p>
            <a:r>
              <a:rPr lang="en-US" dirty="0"/>
              <a:t>Delta lognormal GLM for CPUE</a:t>
            </a:r>
          </a:p>
        </p:txBody>
      </p:sp>
      <mc:AlternateContent xmlns:mc="http://schemas.openxmlformats.org/markup-compatibility/2006" xmlns:a14="http://schemas.microsoft.com/office/drawing/2010/main">
        <mc:Choice Requires="a14">
          <p:sp>
            <p:nvSpPr>
              <p:cNvPr id="33795" name="Content Placeholder 2"/>
              <p:cNvSpPr>
                <a:spLocks noGrp="1"/>
              </p:cNvSpPr>
              <p:nvPr>
                <p:ph idx="1"/>
              </p:nvPr>
            </p:nvSpPr>
            <p:spPr>
              <a:xfrm>
                <a:off x="609600" y="1066800"/>
                <a:ext cx="8001000" cy="4953000"/>
              </a:xfrm>
            </p:spPr>
            <p:txBody>
              <a:bodyPr/>
              <a:lstStyle/>
              <a:p>
                <a:r>
                  <a:rPr lang="en-US" dirty="0"/>
                  <a:t>Model the proportion positive with a </a:t>
                </a:r>
                <a:r>
                  <a:rPr lang="en-US" dirty="0" err="1"/>
                  <a:t>logit</a:t>
                </a:r>
                <a:r>
                  <a:rPr lang="en-US" dirty="0"/>
                  <a:t> link GLM</a:t>
                </a: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a:rPr>
                            <m:t>logit</m:t>
                          </m:r>
                        </m:fName>
                        <m:e>
                          <m:d>
                            <m:dPr>
                              <m:ctrlPr>
                                <a:rPr lang="en-US" b="0" i="1" smtClean="0">
                                  <a:latin typeface="Cambria Math" panose="02040503050406030204" pitchFamily="18" charset="0"/>
                                </a:rPr>
                              </m:ctrlPr>
                            </m:dPr>
                            <m:e>
                              <m:r>
                                <a:rPr lang="en-US" b="0" i="1" smtClean="0">
                                  <a:latin typeface="Cambria Math"/>
                                </a:rPr>
                                <m:t>𝑝</m:t>
                              </m:r>
                            </m:e>
                          </m:d>
                        </m:e>
                      </m:func>
                      <m:r>
                        <a:rPr lang="en-US" b="0" i="1" smtClean="0">
                          <a:latin typeface="Cambria Math"/>
                        </a:rPr>
                        <m:t>=</m:t>
                      </m:r>
                      <m:r>
                        <a:rPr lang="en-US" b="0" i="1" smtClean="0">
                          <a:latin typeface="Cambria Math"/>
                        </a:rPr>
                        <m:t>𝑎</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1</m:t>
                          </m:r>
                        </m:sub>
                      </m:sSub>
                      <m:sSub>
                        <m:sSubPr>
                          <m:ctrlPr>
                            <a:rPr lang="en-US" i="1">
                              <a:latin typeface="Cambria Math" panose="02040503050406030204" pitchFamily="18" charset="0"/>
                            </a:rPr>
                          </m:ctrlPr>
                        </m:sSubPr>
                        <m:e>
                          <m:r>
                            <a:rPr lang="en-US" b="0" i="1" smtClean="0">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𝑏</m:t>
                          </m:r>
                        </m:e>
                        <m:sub>
                          <m:r>
                            <a:rPr lang="en-US" b="0" i="1" smtClean="0">
                              <a:latin typeface="Cambria Math"/>
                            </a:rPr>
                            <m:t>2</m:t>
                          </m:r>
                        </m:sub>
                      </m:sSub>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2</m:t>
                          </m:r>
                        </m:sub>
                      </m:sSub>
                    </m:oMath>
                  </m:oMathPara>
                </a14:m>
                <a:endParaRPr lang="en-US" dirty="0"/>
              </a:p>
              <a:p>
                <a:r>
                  <a:rPr lang="en-US" dirty="0"/>
                  <a:t>Model the positive values as lognormal</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a:latin typeface="Cambria Math"/>
                            </a:rPr>
                            <m:t>log</m:t>
                          </m:r>
                        </m:fName>
                        <m:e>
                          <m:d>
                            <m:dPr>
                              <m:ctrlPr>
                                <a:rPr lang="en-US" i="1">
                                  <a:latin typeface="Cambria Math" panose="02040503050406030204" pitchFamily="18" charset="0"/>
                                </a:rPr>
                              </m:ctrlPr>
                            </m:dPr>
                            <m:e>
                              <m:r>
                                <a:rPr lang="en-US" i="1" smtClean="0">
                                  <a:latin typeface="Cambria Math"/>
                                  <a:ea typeface="Cambria Math"/>
                                </a:rPr>
                                <m:t>𝜇</m:t>
                              </m:r>
                            </m:e>
                          </m:d>
                        </m:e>
                      </m:func>
                      <m:r>
                        <a:rPr lang="en-US" i="1">
                          <a:latin typeface="Cambria Math"/>
                        </a:rPr>
                        <m:t>=</m:t>
                      </m:r>
                      <m:r>
                        <a:rPr lang="en-US" i="1" smtClean="0">
                          <a:latin typeface="Cambria Math"/>
                          <a:ea typeface="Cambria Math"/>
                        </a:rPr>
                        <m:t>𝛼</m:t>
                      </m:r>
                      <m:r>
                        <a:rPr lang="en-US" i="1">
                          <a:latin typeface="Cambria Math"/>
                        </a:rPr>
                        <m:t>+</m:t>
                      </m:r>
                      <m:sSub>
                        <m:sSubPr>
                          <m:ctrlPr>
                            <a:rPr lang="en-US" i="1">
                              <a:latin typeface="Cambria Math" panose="02040503050406030204" pitchFamily="18" charset="0"/>
                            </a:rPr>
                          </m:ctrlPr>
                        </m:sSubPr>
                        <m:e>
                          <m:r>
                            <a:rPr lang="en-US" i="1" smtClean="0">
                              <a:latin typeface="Cambria Math"/>
                              <a:ea typeface="Cambria Math"/>
                            </a:rPr>
                            <m:t>𝛽</m:t>
                          </m:r>
                        </m:e>
                        <m:sub>
                          <m:r>
                            <a:rPr lang="en-US" i="1">
                              <a:latin typeface="Cambria Math"/>
                            </a:rPr>
                            <m:t>1</m:t>
                          </m:r>
                        </m:sub>
                      </m:sSub>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b="0" i="1" smtClean="0">
                          <a:latin typeface="Cambria Math"/>
                        </a:rPr>
                        <m:t>+</m:t>
                      </m:r>
                      <m:r>
                        <a:rPr lang="en-US" i="1">
                          <a:latin typeface="Cambria Math"/>
                          <a:ea typeface="Cambria Math"/>
                        </a:rPr>
                        <m:t>𝜀</m:t>
                      </m:r>
                    </m:oMath>
                  </m:oMathPara>
                </a14:m>
                <a:endParaRPr lang="en-US" dirty="0"/>
              </a:p>
              <a:p>
                <a:r>
                  <a:rPr lang="en-US" dirty="0"/>
                  <a:t> The average CPUE is then the proportion positive times the mean abundance if positive </a:t>
                </a:r>
              </a:p>
              <a:p>
                <a:endParaRPr lang="en-US" dirty="0"/>
              </a:p>
              <a:p>
                <a:pPr marL="0" indent="0">
                  <a:buNone/>
                </a:pPr>
                <a:endParaRPr lang="en-US" dirty="0"/>
              </a:p>
              <a:p>
                <a:pPr marL="0" indent="0">
                  <a:buNone/>
                </a:pPr>
                <a:endParaRPr lang="en-US" dirty="0"/>
              </a:p>
              <a:p>
                <a:endParaRPr lang="en-US" dirty="0"/>
              </a:p>
              <a:p>
                <a:endParaRPr lang="en-US" dirty="0"/>
              </a:p>
            </p:txBody>
          </p:sp>
        </mc:Choice>
        <mc:Fallback xmlns="">
          <p:sp>
            <p:nvSpPr>
              <p:cNvPr id="33795" name="Content Placeholder 2"/>
              <p:cNvSpPr>
                <a:spLocks noGrp="1" noRot="1" noChangeAspect="1" noMove="1" noResize="1" noEditPoints="1" noAdjustHandles="1" noChangeArrowheads="1" noChangeShapeType="1" noTextEdit="1"/>
              </p:cNvSpPr>
              <p:nvPr>
                <p:ph idx="1"/>
              </p:nvPr>
            </p:nvSpPr>
            <p:spPr>
              <a:xfrm>
                <a:off x="609600" y="1066800"/>
                <a:ext cx="8001000" cy="4953000"/>
              </a:xfrm>
              <a:blipFill>
                <a:blip r:embed="rId3"/>
                <a:stretch>
                  <a:fillRect l="-1676" t="-1722" r="-2589"/>
                </a:stretch>
              </a:blipFill>
            </p:spPr>
            <p:txBody>
              <a:bodyPr/>
              <a:lstStyle/>
              <a:p>
                <a:r>
                  <a:rPr lang="en-US">
                    <a:noFill/>
                  </a:rPr>
                  <a:t> </a:t>
                </a:r>
              </a:p>
            </p:txBody>
          </p:sp>
        </mc:Fallback>
      </mc:AlternateContent>
    </p:spTree>
    <p:extLst>
      <p:ext uri="{BB962C8B-B14F-4D97-AF65-F5344CB8AC3E}">
        <p14:creationId xmlns:p14="http://schemas.microsoft.com/office/powerpoint/2010/main" val="39194157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2B136-1C7A-9C45-6445-1CD556FF40C0}"/>
              </a:ext>
            </a:extLst>
          </p:cNvPr>
          <p:cNvSpPr>
            <a:spLocks noGrp="1"/>
          </p:cNvSpPr>
          <p:nvPr>
            <p:ph type="title"/>
          </p:nvPr>
        </p:nvSpPr>
        <p:spPr/>
        <p:txBody>
          <a:bodyPr/>
          <a:lstStyle/>
          <a:p>
            <a:r>
              <a:rPr lang="en-US" dirty="0"/>
              <a:t>Delta lognormal workflow</a:t>
            </a:r>
          </a:p>
        </p:txBody>
      </p:sp>
      <p:sp>
        <p:nvSpPr>
          <p:cNvPr id="3" name="Content Placeholder 2">
            <a:extLst>
              <a:ext uri="{FF2B5EF4-FFF2-40B4-BE49-F238E27FC236}">
                <a16:creationId xmlns:a16="http://schemas.microsoft.com/office/drawing/2014/main" id="{0EC16EB0-1FED-D328-0117-14099FCA4996}"/>
              </a:ext>
            </a:extLst>
          </p:cNvPr>
          <p:cNvSpPr>
            <a:spLocks noGrp="1"/>
          </p:cNvSpPr>
          <p:nvPr>
            <p:ph idx="1"/>
          </p:nvPr>
        </p:nvSpPr>
        <p:spPr/>
        <p:txBody>
          <a:bodyPr/>
          <a:lstStyle/>
          <a:p>
            <a:r>
              <a:rPr lang="en-US" dirty="0"/>
              <a:t>Run logit link binomial on presence/absence </a:t>
            </a:r>
          </a:p>
          <a:p>
            <a:pPr lvl="1"/>
            <a:r>
              <a:rPr lang="en-US" dirty="0"/>
              <a:t>check residuals and find best model, </a:t>
            </a:r>
          </a:p>
          <a:p>
            <a:pPr lvl="1"/>
            <a:r>
              <a:rPr lang="en-US" dirty="0"/>
              <a:t>Predict probability of positive catch (p)</a:t>
            </a:r>
          </a:p>
          <a:p>
            <a:r>
              <a:rPr lang="en-US" dirty="0"/>
              <a:t>Run normal on log(CPUE) for positive sets </a:t>
            </a:r>
          </a:p>
          <a:p>
            <a:pPr lvl="1"/>
            <a:r>
              <a:rPr lang="en-US" dirty="0"/>
              <a:t>check residuals and find best model, </a:t>
            </a:r>
          </a:p>
          <a:p>
            <a:pPr lvl="1"/>
            <a:r>
              <a:rPr lang="en-US" dirty="0"/>
              <a:t>Predict probability of positive catch (p)</a:t>
            </a:r>
          </a:p>
          <a:p>
            <a:pPr lvl="1"/>
            <a:r>
              <a:rPr lang="en-US" dirty="0"/>
              <a:t>Use lognormal mean and variance formulas to get mean and se in original (not log) scale</a:t>
            </a:r>
          </a:p>
          <a:p>
            <a:r>
              <a:rPr lang="en-US" dirty="0"/>
              <a:t>Index calculations</a:t>
            </a:r>
          </a:p>
          <a:p>
            <a:pPr lvl="1"/>
            <a:r>
              <a:rPr lang="en-US" dirty="0"/>
              <a:t>mean CPUE= p*(mean if positive)</a:t>
            </a:r>
          </a:p>
          <a:p>
            <a:pPr lvl="1"/>
            <a:r>
              <a:rPr lang="en-US" dirty="0"/>
              <a:t>Use delta method to get standard error </a:t>
            </a:r>
          </a:p>
        </p:txBody>
      </p:sp>
    </p:spTree>
    <p:extLst>
      <p:ext uri="{BB962C8B-B14F-4D97-AF65-F5344CB8AC3E}">
        <p14:creationId xmlns:p14="http://schemas.microsoft.com/office/powerpoint/2010/main" val="2005485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Converting means and variances between normal and lognormal</a:t>
            </a:r>
          </a:p>
        </p:txBody>
      </p:sp>
      <p:sp>
        <p:nvSpPr>
          <p:cNvPr id="29699" name="Content Placeholder 2"/>
          <p:cNvSpPr>
            <a:spLocks noGrp="1"/>
          </p:cNvSpPr>
          <p:nvPr>
            <p:ph idx="1"/>
          </p:nvPr>
        </p:nvSpPr>
        <p:spPr/>
        <p:txBody>
          <a:bodyPr/>
          <a:lstStyle/>
          <a:p>
            <a:pPr>
              <a:buSzPts val="3200"/>
            </a:pPr>
            <a:r>
              <a:rPr lang="en-US" sz="2800" dirty="0">
                <a:solidFill>
                  <a:srgbClr val="000000"/>
                </a:solidFill>
              </a:rPr>
              <a:t>The lognormal distribution’s parameters are the mean and standard deviation </a:t>
            </a:r>
            <a:r>
              <a:rPr lang="el-GR" sz="2800" dirty="0"/>
              <a:t>σ</a:t>
            </a:r>
            <a:r>
              <a:rPr lang="en-US" sz="2800" baseline="30000" dirty="0"/>
              <a:t> </a:t>
            </a:r>
            <a:r>
              <a:rPr lang="en-US" sz="2800" dirty="0">
                <a:solidFill>
                  <a:srgbClr val="000000"/>
                </a:solidFill>
              </a:rPr>
              <a:t>of the Normal variable x=log(y), sometimes called log-mean and log-sigma</a:t>
            </a:r>
          </a:p>
          <a:p>
            <a:pPr lvl="1">
              <a:buFontTx/>
              <a:buNone/>
            </a:pPr>
            <a:endParaRPr lang="en-US" dirty="0"/>
          </a:p>
          <a:p>
            <a:pPr lvl="1">
              <a:buFontTx/>
              <a:buNone/>
            </a:pPr>
            <a:r>
              <a:rPr lang="en-US" dirty="0"/>
              <a:t>If </a:t>
            </a:r>
            <a:r>
              <a:rPr lang="en-US" i="1" dirty="0"/>
              <a:t>y</a:t>
            </a:r>
            <a:r>
              <a:rPr lang="en-US" dirty="0"/>
              <a:t> is a lognormal variable, then </a:t>
            </a:r>
            <a:r>
              <a:rPr lang="en-US" i="1" dirty="0"/>
              <a:t>x =</a:t>
            </a:r>
            <a:r>
              <a:rPr lang="en-US" dirty="0"/>
              <a:t>log(</a:t>
            </a:r>
            <a:r>
              <a:rPr lang="en-US" i="1" dirty="0"/>
              <a:t>y</a:t>
            </a:r>
            <a:r>
              <a:rPr lang="en-US" dirty="0"/>
              <a:t>) is a Normal variable with mean </a:t>
            </a:r>
            <a:r>
              <a:rPr lang="en-US" dirty="0" err="1"/>
              <a:t>μ</a:t>
            </a:r>
            <a:r>
              <a:rPr lang="en-US" i="1" baseline="-25000" dirty="0" err="1"/>
              <a:t>x</a:t>
            </a:r>
            <a:r>
              <a:rPr lang="en-US" dirty="0"/>
              <a:t> and standard deviation </a:t>
            </a:r>
            <a:r>
              <a:rPr lang="en-US" dirty="0" err="1"/>
              <a:t>σ</a:t>
            </a:r>
            <a:r>
              <a:rPr lang="en-US" i="1" baseline="-25000" dirty="0" err="1"/>
              <a:t>x</a:t>
            </a:r>
            <a:endParaRPr lang="en-US" dirty="0"/>
          </a:p>
          <a:p>
            <a:endParaRPr lang="en-US" dirty="0"/>
          </a:p>
        </p:txBody>
      </p:sp>
      <p:sp>
        <p:nvSpPr>
          <p:cNvPr id="29700" name="Rectangle 3"/>
          <p:cNvSpPr>
            <a:spLocks noChangeArrowheads="1"/>
          </p:cNvSpPr>
          <p:nvPr/>
        </p:nvSpPr>
        <p:spPr bwMode="auto">
          <a:xfrm>
            <a:off x="595800" y="3200402"/>
            <a:ext cx="8167200" cy="3286916"/>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0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02" name="Rectangle 7"/>
          <p:cNvSpPr>
            <a:spLocks noChangeArrowheads="1"/>
          </p:cNvSpPr>
          <p:nvPr/>
        </p:nvSpPr>
        <p:spPr bwMode="auto">
          <a:xfrm>
            <a:off x="0" y="274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03"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04" name="Rectangle 10"/>
          <p:cNvSpPr>
            <a:spLocks noChangeArrowheads="1"/>
          </p:cNvSpPr>
          <p:nvPr/>
        </p:nvSpPr>
        <p:spPr bwMode="auto">
          <a:xfrm>
            <a:off x="0" y="274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05"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06" name="Rectangle 13"/>
          <p:cNvSpPr>
            <a:spLocks noChangeArrowheads="1"/>
          </p:cNvSpPr>
          <p:nvPr/>
        </p:nvSpPr>
        <p:spPr bwMode="auto">
          <a:xfrm>
            <a:off x="0" y="274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07"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9708" name="Object 14"/>
          <p:cNvGraphicFramePr>
            <a:graphicFrameLocks noChangeAspect="1"/>
          </p:cNvGraphicFramePr>
          <p:nvPr>
            <p:extLst>
              <p:ext uri="{D42A27DB-BD31-4B8C-83A1-F6EECF244321}">
                <p14:modId xmlns:p14="http://schemas.microsoft.com/office/powerpoint/2010/main" val="196151552"/>
              </p:ext>
            </p:extLst>
          </p:nvPr>
        </p:nvGraphicFramePr>
        <p:xfrm>
          <a:off x="1439861" y="4816173"/>
          <a:ext cx="1912939" cy="670227"/>
        </p:xfrm>
        <a:graphic>
          <a:graphicData uri="http://schemas.openxmlformats.org/presentationml/2006/ole">
            <mc:AlternateContent xmlns:mc="http://schemas.openxmlformats.org/markup-compatibility/2006">
              <mc:Choice xmlns:v="urn:schemas-microsoft-com:vml" Requires="v">
                <p:oleObj name="Equation" r:id="rId3" imgW="787400" imgH="279400" progId="Equation.3">
                  <p:embed/>
                </p:oleObj>
              </mc:Choice>
              <mc:Fallback>
                <p:oleObj name="Equation" r:id="rId3" imgW="787400" imgH="279400" progId="Equation.3">
                  <p:embed/>
                  <p:pic>
                    <p:nvPicPr>
                      <p:cNvPr id="29708"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9861" y="4816173"/>
                        <a:ext cx="1912939" cy="670227"/>
                      </a:xfrm>
                      <a:prstGeom prst="rect">
                        <a:avLst/>
                      </a:prstGeom>
                      <a:noFill/>
                      <a:ln>
                        <a:noFill/>
                      </a:ln>
                    </p:spPr>
                  </p:pic>
                </p:oleObj>
              </mc:Fallback>
            </mc:AlternateContent>
          </a:graphicData>
        </a:graphic>
      </p:graphicFrame>
      <p:sp>
        <p:nvSpPr>
          <p:cNvPr id="29709" name="Rectangle 16"/>
          <p:cNvSpPr>
            <a:spLocks noChangeArrowheads="1"/>
          </p:cNvSpPr>
          <p:nvPr/>
        </p:nvSpPr>
        <p:spPr bwMode="auto">
          <a:xfrm>
            <a:off x="0" y="274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10" name="Rectangle 1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mc:AlternateContent xmlns:mc="http://schemas.openxmlformats.org/markup-compatibility/2006">
        <mc:Choice xmlns:a14="http://schemas.microsoft.com/office/drawing/2010/main" Requires="a14">
          <p:sp>
            <p:nvSpPr>
              <p:cNvPr id="29711" name="Object 17"/>
              <p:cNvSpPr txBox="1"/>
              <p:nvPr/>
            </p:nvSpPr>
            <p:spPr bwMode="auto">
              <a:xfrm>
                <a:off x="1066800" y="5638800"/>
                <a:ext cx="2743200" cy="944562"/>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bSup>
                        <m:sSubSupPr>
                          <m:ctrlPr>
                            <a:rPr lang="en-US" i="1" smtClean="0">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𝑦</m:t>
                          </m:r>
                        </m:sub>
                        <m:sup>
                          <m:r>
                            <a:rPr lang="en-US" i="1">
                              <a:solidFill>
                                <a:srgbClr val="000000"/>
                              </a:solidFill>
                              <a:latin typeface="Cambria Math" panose="02040503050406030204" pitchFamily="18" charset="0"/>
                            </a:rPr>
                            <m:t>2</m:t>
                          </m:r>
                        </m:sup>
                      </m:sSubSup>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m:t>
                          </m:r>
                        </m:e>
                        <m:sup>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𝜇</m:t>
                              </m:r>
                            </m:e>
                            <m:sub>
                              <m:r>
                                <a:rPr lang="en-US" i="1">
                                  <a:solidFill>
                                    <a:srgbClr val="000000"/>
                                  </a:solidFill>
                                  <a:latin typeface="Cambria Math" panose="02040503050406030204" pitchFamily="18" charset="0"/>
                                </a:rPr>
                                <m:t>𝑥</m:t>
                              </m:r>
                            </m:sub>
                          </m:sSub>
                        </m:sup>
                      </m:sSup>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m:t>
                          </m:r>
                        </m:e>
                        <m:sup>
                          <m:sSubSup>
                            <m:sSubSupPr>
                              <m:ctrlPr>
                                <a:rPr lang="en-US" b="0" i="1" smtClean="0">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𝜎</m:t>
                              </m:r>
                            </m:e>
                            <m:sub>
                              <m:r>
                                <a:rPr lang="en-US" b="0" i="1" smtClean="0">
                                  <a:solidFill>
                                    <a:srgbClr val="000000"/>
                                  </a:solidFill>
                                  <a:latin typeface="Cambria Math" panose="02040503050406030204" pitchFamily="18" charset="0"/>
                                </a:rPr>
                                <m:t>𝑥</m:t>
                              </m:r>
                            </m:sub>
                            <m:sup>
                              <m:r>
                                <a:rPr lang="en-US" i="1">
                                  <a:solidFill>
                                    <a:srgbClr val="000000"/>
                                  </a:solidFill>
                                  <a:latin typeface="Cambria Math" panose="02040503050406030204" pitchFamily="18" charset="0"/>
                                </a:rPr>
                                <m:t>2</m:t>
                              </m:r>
                            </m:sup>
                          </m:sSubSup>
                        </m:sup>
                      </m:sSup>
                      <m:d>
                        <m:dPr>
                          <m:ctrlPr>
                            <a:rPr lang="en-US" i="1">
                              <a:solidFill>
                                <a:srgbClr val="000000"/>
                              </a:solidFill>
                              <a:latin typeface="Cambria Math" panose="02040503050406030204" pitchFamily="18" charset="0"/>
                            </a:rPr>
                          </m:ctrlPr>
                        </m:dPr>
                        <m:e>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m:t>
                              </m:r>
                            </m:e>
                            <m:sup>
                              <m:sSubSup>
                                <m:sSubSupPr>
                                  <m:ctrlPr>
                                    <a:rPr lang="en-US" b="0" i="1" smtClean="0">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𝜎</m:t>
                                  </m:r>
                                </m:e>
                                <m:sub>
                                  <m:r>
                                    <a:rPr lang="en-US" b="0" i="1" smtClean="0">
                                      <a:solidFill>
                                        <a:srgbClr val="000000"/>
                                      </a:solidFill>
                                      <a:latin typeface="Cambria Math" panose="02040503050406030204" pitchFamily="18" charset="0"/>
                                    </a:rPr>
                                    <m:t>𝑥</m:t>
                                  </m:r>
                                </m:sub>
                                <m:sup>
                                  <m:r>
                                    <a:rPr lang="en-US" i="1">
                                      <a:solidFill>
                                        <a:srgbClr val="000000"/>
                                      </a:solidFill>
                                      <a:latin typeface="Cambria Math" panose="02040503050406030204" pitchFamily="18" charset="0"/>
                                    </a:rPr>
                                    <m:t>2</m:t>
                                  </m:r>
                                </m:sup>
                              </m:sSubSup>
                            </m:sup>
                          </m:sSup>
                          <m:r>
                            <a:rPr lang="en-US" i="1">
                              <a:solidFill>
                                <a:srgbClr val="000000"/>
                              </a:solidFill>
                              <a:latin typeface="Cambria Math" panose="02040503050406030204" pitchFamily="18" charset="0"/>
                            </a:rPr>
                            <m:t>−1</m:t>
                          </m:r>
                        </m:e>
                      </m:d>
                    </m:oMath>
                  </m:oMathPara>
                </a14:m>
                <a:endParaRPr lang="en-US" dirty="0"/>
              </a:p>
            </p:txBody>
          </p:sp>
        </mc:Choice>
        <mc:Fallback>
          <p:sp>
            <p:nvSpPr>
              <p:cNvPr id="29711" name="Object 17"/>
              <p:cNvSpPr txBox="1">
                <a:spLocks noRot="1" noChangeAspect="1" noMove="1" noResize="1" noEditPoints="1" noAdjustHandles="1" noChangeArrowheads="1" noChangeShapeType="1" noTextEdit="1"/>
              </p:cNvSpPr>
              <p:nvPr/>
            </p:nvSpPr>
            <p:spPr bwMode="auto">
              <a:xfrm>
                <a:off x="1066800" y="5638800"/>
                <a:ext cx="2743200" cy="944562"/>
              </a:xfrm>
              <a:prstGeom prst="rect">
                <a:avLst/>
              </a:prstGeom>
              <a:blipFill>
                <a:blip r:embed="rId5"/>
                <a:stretch>
                  <a:fillRect/>
                </a:stretch>
              </a:blipFill>
              <a:ln>
                <a:noFill/>
              </a:ln>
            </p:spPr>
            <p:txBody>
              <a:bodyPr/>
              <a:lstStyle/>
              <a:p>
                <a:r>
                  <a:rPr lang="en-US">
                    <a:noFill/>
                  </a:rPr>
                  <a:t> </a:t>
                </a:r>
              </a:p>
            </p:txBody>
          </p:sp>
        </mc:Fallback>
      </mc:AlternateContent>
      <p:sp>
        <p:nvSpPr>
          <p:cNvPr id="29712" name="Rectangle 19"/>
          <p:cNvSpPr>
            <a:spLocks noChangeArrowheads="1"/>
          </p:cNvSpPr>
          <p:nvPr/>
        </p:nvSpPr>
        <p:spPr bwMode="auto">
          <a:xfrm>
            <a:off x="0" y="274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13"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mc:AlternateContent xmlns:mc="http://schemas.openxmlformats.org/markup-compatibility/2006">
        <mc:Choice xmlns:a14="http://schemas.microsoft.com/office/drawing/2010/main" Requires="a14">
          <p:sp>
            <p:nvSpPr>
              <p:cNvPr id="29714" name="Object 20"/>
              <p:cNvSpPr txBox="1"/>
              <p:nvPr/>
            </p:nvSpPr>
            <p:spPr bwMode="auto">
              <a:xfrm>
                <a:off x="4352437" y="4648200"/>
                <a:ext cx="3351702" cy="1035363"/>
              </a:xfrm>
              <a:prstGeom prst="rect">
                <a:avLst/>
              </a:prstGeom>
              <a:noFill/>
              <a:ln>
                <a:noFill/>
              </a:ln>
            </p:spPr>
            <p:txBody>
              <a:bodyPr>
                <a:normAutofit fontScale="70000" lnSpcReduction="20000"/>
              </a:bodyPr>
              <a:lstStyle/>
              <a:p>
                <a:pPr/>
                <a14:m>
                  <m:oMathPara xmlns:m="http://schemas.openxmlformats.org/officeDocument/2006/math">
                    <m:oMathParaPr>
                      <m:jc m:val="left"/>
                    </m:oMathParaPr>
                    <m:oMath xmlns:m="http://schemas.openxmlformats.org/officeDocument/2006/math">
                      <m:sSub>
                        <m:sSubPr>
                          <m:ctrlPr>
                            <a:rPr lang="en-US" sz="2500" i="1" smtClean="0">
                              <a:solidFill>
                                <a:srgbClr val="000000"/>
                              </a:solidFill>
                              <a:latin typeface="Cambria Math" panose="02040503050406030204" pitchFamily="18" charset="0"/>
                            </a:rPr>
                          </m:ctrlPr>
                        </m:sSubPr>
                        <m:e>
                          <m:r>
                            <a:rPr lang="en-US" sz="2500" i="1">
                              <a:solidFill>
                                <a:srgbClr val="000000"/>
                              </a:solidFill>
                              <a:latin typeface="Cambria Math" panose="02040503050406030204" pitchFamily="18" charset="0"/>
                            </a:rPr>
                            <m:t>𝜇</m:t>
                          </m:r>
                        </m:e>
                        <m:sub>
                          <m:r>
                            <a:rPr lang="en-US" sz="2500" i="1">
                              <a:solidFill>
                                <a:srgbClr val="000000"/>
                              </a:solidFill>
                              <a:latin typeface="Cambria Math" panose="02040503050406030204" pitchFamily="18" charset="0"/>
                            </a:rPr>
                            <m:t>𝑥</m:t>
                          </m:r>
                        </m:sub>
                      </m:sSub>
                      <m:r>
                        <a:rPr lang="en-US" sz="2500" i="1">
                          <a:solidFill>
                            <a:srgbClr val="000000"/>
                          </a:solidFill>
                          <a:latin typeface="Cambria Math" panose="02040503050406030204" pitchFamily="18" charset="0"/>
                        </a:rPr>
                        <m:t>=</m:t>
                      </m:r>
                      <m:func>
                        <m:funcPr>
                          <m:ctrlPr>
                            <a:rPr lang="en-US" sz="2500" i="1" smtClean="0">
                              <a:solidFill>
                                <a:srgbClr val="000000"/>
                              </a:solidFill>
                              <a:latin typeface="Cambria Math" panose="02040503050406030204" pitchFamily="18" charset="0"/>
                            </a:rPr>
                          </m:ctrlPr>
                        </m:funcPr>
                        <m:fName>
                          <m:r>
                            <m:rPr>
                              <m:sty m:val="p"/>
                            </m:rPr>
                            <a:rPr lang="en-US" sz="2500" i="0">
                              <a:solidFill>
                                <a:srgbClr val="000000"/>
                              </a:solidFill>
                              <a:latin typeface="Cambria Math" panose="02040503050406030204" pitchFamily="18" charset="0"/>
                            </a:rPr>
                            <m:t>l</m:t>
                          </m:r>
                          <m:r>
                            <a:rPr lang="en-US" sz="2500" b="0" i="1" smtClean="0">
                              <a:solidFill>
                                <a:srgbClr val="000000"/>
                              </a:solidFill>
                              <a:latin typeface="Cambria Math" panose="02040503050406030204" pitchFamily="18" charset="0"/>
                            </a:rPr>
                            <m:t>𝑜𝑔</m:t>
                          </m:r>
                        </m:fName>
                        <m:e>
                          <m:r>
                            <a:rPr lang="en-US" sz="2500" i="1">
                              <a:solidFill>
                                <a:srgbClr val="000000"/>
                              </a:solidFill>
                              <a:latin typeface="Cambria Math" panose="02040503050406030204" pitchFamily="18" charset="0"/>
                            </a:rPr>
                            <m:t>(</m:t>
                          </m:r>
                        </m:e>
                      </m:func>
                      <m:sSub>
                        <m:sSubPr>
                          <m:ctrlPr>
                            <a:rPr lang="en-US" sz="2500" i="1">
                              <a:solidFill>
                                <a:srgbClr val="000000"/>
                              </a:solidFill>
                              <a:latin typeface="Cambria Math" panose="02040503050406030204" pitchFamily="18" charset="0"/>
                            </a:rPr>
                          </m:ctrlPr>
                        </m:sSubPr>
                        <m:e>
                          <m:r>
                            <a:rPr lang="en-US" sz="2500" i="1">
                              <a:solidFill>
                                <a:srgbClr val="000000"/>
                              </a:solidFill>
                              <a:latin typeface="Cambria Math" panose="02040503050406030204" pitchFamily="18" charset="0"/>
                            </a:rPr>
                            <m:t>𝜇</m:t>
                          </m:r>
                        </m:e>
                        <m:sub>
                          <m:r>
                            <a:rPr lang="en-US" sz="2500" i="1">
                              <a:solidFill>
                                <a:srgbClr val="000000"/>
                              </a:solidFill>
                              <a:latin typeface="Cambria Math" panose="02040503050406030204" pitchFamily="18" charset="0"/>
                            </a:rPr>
                            <m:t>𝑦</m:t>
                          </m:r>
                        </m:sub>
                      </m:sSub>
                      <m:r>
                        <a:rPr lang="en-US" sz="2500" i="1">
                          <a:solidFill>
                            <a:srgbClr val="000000"/>
                          </a:solidFill>
                          <a:latin typeface="Cambria Math" panose="02040503050406030204" pitchFamily="18" charset="0"/>
                        </a:rPr>
                        <m:t>)−</m:t>
                      </m:r>
                      <m:f>
                        <m:fPr>
                          <m:ctrlPr>
                            <a:rPr lang="en-US" sz="2500" i="1">
                              <a:solidFill>
                                <a:srgbClr val="000000"/>
                              </a:solidFill>
                              <a:latin typeface="Cambria Math" panose="02040503050406030204" pitchFamily="18" charset="0"/>
                            </a:rPr>
                          </m:ctrlPr>
                        </m:fPr>
                        <m:num>
                          <m:r>
                            <a:rPr lang="en-US" sz="2500" i="1">
                              <a:solidFill>
                                <a:srgbClr val="000000"/>
                              </a:solidFill>
                              <a:latin typeface="Cambria Math" panose="02040503050406030204" pitchFamily="18" charset="0"/>
                            </a:rPr>
                            <m:t>1</m:t>
                          </m:r>
                        </m:num>
                        <m:den>
                          <m:r>
                            <a:rPr lang="en-US" sz="2500" i="1">
                              <a:solidFill>
                                <a:srgbClr val="000000"/>
                              </a:solidFill>
                              <a:latin typeface="Cambria Math" panose="02040503050406030204" pitchFamily="18" charset="0"/>
                            </a:rPr>
                            <m:t>2</m:t>
                          </m:r>
                        </m:den>
                      </m:f>
                      <m:func>
                        <m:funcPr>
                          <m:ctrlPr>
                            <a:rPr lang="en-US" sz="2500" i="1">
                              <a:solidFill>
                                <a:srgbClr val="000000"/>
                              </a:solidFill>
                              <a:latin typeface="Cambria Math" panose="02040503050406030204" pitchFamily="18" charset="0"/>
                            </a:rPr>
                          </m:ctrlPr>
                        </m:funcPr>
                        <m:fName>
                          <m:r>
                            <m:rPr>
                              <m:sty m:val="p"/>
                            </m:rPr>
                            <a:rPr lang="en-US" sz="2500" b="0" i="0" smtClean="0">
                              <a:solidFill>
                                <a:srgbClr val="000000"/>
                              </a:solidFill>
                              <a:latin typeface="Cambria Math" panose="02040503050406030204" pitchFamily="18" charset="0"/>
                            </a:rPr>
                            <m:t>log</m:t>
                          </m:r>
                        </m:fName>
                        <m:e>
                          <m:d>
                            <m:dPr>
                              <m:ctrlPr>
                                <a:rPr lang="en-US" sz="2500" i="1">
                                  <a:solidFill>
                                    <a:srgbClr val="000000"/>
                                  </a:solidFill>
                                  <a:latin typeface="Cambria Math" panose="02040503050406030204" pitchFamily="18" charset="0"/>
                                </a:rPr>
                              </m:ctrlPr>
                            </m:dPr>
                            <m:e>
                              <m:r>
                                <a:rPr lang="en-US" sz="2500" i="1">
                                  <a:solidFill>
                                    <a:srgbClr val="000000"/>
                                  </a:solidFill>
                                  <a:latin typeface="Cambria Math" panose="02040503050406030204" pitchFamily="18" charset="0"/>
                                </a:rPr>
                                <m:t>1+</m:t>
                              </m:r>
                              <m:f>
                                <m:fPr>
                                  <m:ctrlPr>
                                    <a:rPr lang="en-US" sz="2500" i="1">
                                      <a:solidFill>
                                        <a:srgbClr val="000000"/>
                                      </a:solidFill>
                                      <a:latin typeface="Cambria Math" panose="02040503050406030204" pitchFamily="18" charset="0"/>
                                    </a:rPr>
                                  </m:ctrlPr>
                                </m:fPr>
                                <m:num>
                                  <m:sSubSup>
                                    <m:sSubSupPr>
                                      <m:ctrlPr>
                                        <a:rPr lang="en-US" sz="2500" i="1">
                                          <a:solidFill>
                                            <a:srgbClr val="000000"/>
                                          </a:solidFill>
                                          <a:latin typeface="Cambria Math" panose="02040503050406030204" pitchFamily="18" charset="0"/>
                                        </a:rPr>
                                      </m:ctrlPr>
                                    </m:sSubSupPr>
                                    <m:e>
                                      <m:r>
                                        <a:rPr lang="en-US" sz="2500" i="1">
                                          <a:solidFill>
                                            <a:srgbClr val="000000"/>
                                          </a:solidFill>
                                          <a:latin typeface="Cambria Math" panose="02040503050406030204" pitchFamily="18" charset="0"/>
                                        </a:rPr>
                                        <m:t>𝜎</m:t>
                                      </m:r>
                                    </m:e>
                                    <m:sub>
                                      <m:r>
                                        <a:rPr lang="en-US" sz="2500" i="1">
                                          <a:solidFill>
                                            <a:srgbClr val="000000"/>
                                          </a:solidFill>
                                          <a:latin typeface="Cambria Math" panose="02040503050406030204" pitchFamily="18" charset="0"/>
                                        </a:rPr>
                                        <m:t>𝑦</m:t>
                                      </m:r>
                                    </m:sub>
                                    <m:sup>
                                      <m:r>
                                        <a:rPr lang="en-US" sz="2500" i="1">
                                          <a:solidFill>
                                            <a:srgbClr val="000000"/>
                                          </a:solidFill>
                                          <a:latin typeface="Cambria Math" panose="02040503050406030204" pitchFamily="18" charset="0"/>
                                        </a:rPr>
                                        <m:t>2</m:t>
                                      </m:r>
                                    </m:sup>
                                  </m:sSubSup>
                                </m:num>
                                <m:den>
                                  <m:sSubSup>
                                    <m:sSubSupPr>
                                      <m:ctrlPr>
                                        <a:rPr lang="en-US" sz="2500" i="1">
                                          <a:solidFill>
                                            <a:srgbClr val="000000"/>
                                          </a:solidFill>
                                          <a:latin typeface="Cambria Math" panose="02040503050406030204" pitchFamily="18" charset="0"/>
                                        </a:rPr>
                                      </m:ctrlPr>
                                    </m:sSubSupPr>
                                    <m:e>
                                      <m:r>
                                        <a:rPr lang="en-US" sz="2500" i="1">
                                          <a:solidFill>
                                            <a:srgbClr val="000000"/>
                                          </a:solidFill>
                                          <a:latin typeface="Cambria Math" panose="02040503050406030204" pitchFamily="18" charset="0"/>
                                        </a:rPr>
                                        <m:t>𝜇</m:t>
                                      </m:r>
                                    </m:e>
                                    <m:sub>
                                      <m:r>
                                        <a:rPr lang="en-US" sz="2500" i="1">
                                          <a:solidFill>
                                            <a:srgbClr val="000000"/>
                                          </a:solidFill>
                                          <a:latin typeface="Cambria Math" panose="02040503050406030204" pitchFamily="18" charset="0"/>
                                        </a:rPr>
                                        <m:t>𝑦</m:t>
                                      </m:r>
                                    </m:sub>
                                    <m:sup>
                                      <m:r>
                                        <a:rPr lang="en-US" sz="2500" i="1">
                                          <a:solidFill>
                                            <a:srgbClr val="000000"/>
                                          </a:solidFill>
                                          <a:latin typeface="Cambria Math" panose="02040503050406030204" pitchFamily="18" charset="0"/>
                                        </a:rPr>
                                        <m:t>2</m:t>
                                      </m:r>
                                    </m:sup>
                                  </m:sSubSup>
                                </m:den>
                              </m:f>
                            </m:e>
                          </m:d>
                        </m:e>
                      </m:func>
                    </m:oMath>
                  </m:oMathPara>
                </a14:m>
                <a:endParaRPr lang="en-US" dirty="0"/>
              </a:p>
            </p:txBody>
          </p:sp>
        </mc:Choice>
        <mc:Fallback>
          <p:sp>
            <p:nvSpPr>
              <p:cNvPr id="29714" name="Object 20"/>
              <p:cNvSpPr txBox="1">
                <a:spLocks noRot="1" noChangeAspect="1" noMove="1" noResize="1" noEditPoints="1" noAdjustHandles="1" noChangeArrowheads="1" noChangeShapeType="1" noTextEdit="1"/>
              </p:cNvSpPr>
              <p:nvPr/>
            </p:nvSpPr>
            <p:spPr bwMode="auto">
              <a:xfrm>
                <a:off x="4352437" y="4648200"/>
                <a:ext cx="3351702" cy="1035363"/>
              </a:xfrm>
              <a:prstGeom prst="rect">
                <a:avLst/>
              </a:prstGeom>
              <a:blipFill>
                <a:blip r:embed="rId6"/>
                <a:stretch>
                  <a:fillRect/>
                </a:stretch>
              </a:blipFill>
              <a:ln>
                <a:noFill/>
              </a:ln>
            </p:spPr>
            <p:txBody>
              <a:bodyPr/>
              <a:lstStyle/>
              <a:p>
                <a:r>
                  <a:rPr lang="en-US">
                    <a:noFill/>
                  </a:rPr>
                  <a:t> </a:t>
                </a:r>
              </a:p>
            </p:txBody>
          </p:sp>
        </mc:Fallback>
      </mc:AlternateContent>
      <p:sp>
        <p:nvSpPr>
          <p:cNvPr id="29715" name="Rectangle 22"/>
          <p:cNvSpPr>
            <a:spLocks noChangeArrowheads="1"/>
          </p:cNvSpPr>
          <p:nvPr/>
        </p:nvSpPr>
        <p:spPr bwMode="auto">
          <a:xfrm>
            <a:off x="0" y="503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16" name="Rectangle 2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mc:AlternateContent xmlns:mc="http://schemas.openxmlformats.org/markup-compatibility/2006">
        <mc:Choice xmlns:a14="http://schemas.microsoft.com/office/drawing/2010/main" Requires="a14">
          <p:sp>
            <p:nvSpPr>
              <p:cNvPr id="29717" name="Object 23"/>
              <p:cNvSpPr txBox="1"/>
              <p:nvPr/>
            </p:nvSpPr>
            <p:spPr bwMode="auto">
              <a:xfrm>
                <a:off x="4649700" y="5638801"/>
                <a:ext cx="1827300" cy="848518"/>
              </a:xfrm>
              <a:prstGeom prst="rect">
                <a:avLst/>
              </a:prstGeom>
              <a:noFill/>
              <a:ln>
                <a:noFill/>
              </a:ln>
            </p:spPr>
            <p:txBody>
              <a:bodyPr>
                <a:normAutofit fontScale="70000" lnSpcReduction="20000"/>
              </a:bodyPr>
              <a:lstStyle/>
              <a:p>
                <a:pPr/>
                <a14:m>
                  <m:oMathPara xmlns:m="http://schemas.openxmlformats.org/officeDocument/2006/math">
                    <m:oMathParaPr>
                      <m:jc m:val="left"/>
                    </m:oMathParaPr>
                    <m:oMath xmlns:m="http://schemas.openxmlformats.org/officeDocument/2006/math">
                      <m:sSubSup>
                        <m:sSubSupPr>
                          <m:ctrlPr>
                            <a:rPr lang="en-US" sz="2300" i="1" smtClean="0">
                              <a:solidFill>
                                <a:srgbClr val="000000"/>
                              </a:solidFill>
                              <a:latin typeface="Cambria Math" panose="02040503050406030204" pitchFamily="18" charset="0"/>
                            </a:rPr>
                          </m:ctrlPr>
                        </m:sSubSupPr>
                        <m:e>
                          <m:r>
                            <a:rPr lang="en-US" sz="2300" i="1">
                              <a:solidFill>
                                <a:srgbClr val="000000"/>
                              </a:solidFill>
                              <a:latin typeface="Cambria Math" panose="02040503050406030204" pitchFamily="18" charset="0"/>
                            </a:rPr>
                            <m:t>𝜎</m:t>
                          </m:r>
                        </m:e>
                        <m:sub>
                          <m:r>
                            <a:rPr lang="en-US" sz="2300" i="1">
                              <a:solidFill>
                                <a:srgbClr val="000000"/>
                              </a:solidFill>
                              <a:latin typeface="Cambria Math" panose="02040503050406030204" pitchFamily="18" charset="0"/>
                            </a:rPr>
                            <m:t>𝑥</m:t>
                          </m:r>
                        </m:sub>
                        <m:sup>
                          <m:r>
                            <a:rPr lang="en-US" sz="2300" i="1">
                              <a:solidFill>
                                <a:srgbClr val="000000"/>
                              </a:solidFill>
                              <a:latin typeface="Cambria Math" panose="02040503050406030204" pitchFamily="18" charset="0"/>
                            </a:rPr>
                            <m:t>2</m:t>
                          </m:r>
                        </m:sup>
                      </m:sSubSup>
                      <m:r>
                        <a:rPr lang="en-US" sz="2300" i="1">
                          <a:solidFill>
                            <a:srgbClr val="000000"/>
                          </a:solidFill>
                          <a:latin typeface="Cambria Math" panose="02040503050406030204" pitchFamily="18" charset="0"/>
                        </a:rPr>
                        <m:t>=</m:t>
                      </m:r>
                      <m:func>
                        <m:funcPr>
                          <m:ctrlPr>
                            <a:rPr lang="en-US" sz="2300" i="1">
                              <a:solidFill>
                                <a:srgbClr val="000000"/>
                              </a:solidFill>
                              <a:latin typeface="Cambria Math" panose="02040503050406030204" pitchFamily="18" charset="0"/>
                            </a:rPr>
                          </m:ctrlPr>
                        </m:funcPr>
                        <m:fName>
                          <m:r>
                            <m:rPr>
                              <m:sty m:val="p"/>
                            </m:rPr>
                            <a:rPr lang="en-US" sz="2300" i="0">
                              <a:solidFill>
                                <a:srgbClr val="000000"/>
                              </a:solidFill>
                              <a:latin typeface="Cambria Math" panose="02040503050406030204" pitchFamily="18" charset="0"/>
                            </a:rPr>
                            <m:t>l</m:t>
                          </m:r>
                          <m:r>
                            <a:rPr lang="en-US" sz="2300" b="0" i="1" smtClean="0">
                              <a:solidFill>
                                <a:srgbClr val="000000"/>
                              </a:solidFill>
                              <a:latin typeface="Cambria Math" panose="02040503050406030204" pitchFamily="18" charset="0"/>
                            </a:rPr>
                            <m:t>𝑜𝑔</m:t>
                          </m:r>
                        </m:fName>
                        <m:e>
                          <m:d>
                            <m:dPr>
                              <m:ctrlPr>
                                <a:rPr lang="en-US" sz="2300" i="1">
                                  <a:solidFill>
                                    <a:srgbClr val="000000"/>
                                  </a:solidFill>
                                  <a:latin typeface="Cambria Math" panose="02040503050406030204" pitchFamily="18" charset="0"/>
                                </a:rPr>
                              </m:ctrlPr>
                            </m:dPr>
                            <m:e>
                              <m:r>
                                <a:rPr lang="en-US" sz="2300" i="1">
                                  <a:solidFill>
                                    <a:srgbClr val="000000"/>
                                  </a:solidFill>
                                  <a:latin typeface="Cambria Math" panose="02040503050406030204" pitchFamily="18" charset="0"/>
                                </a:rPr>
                                <m:t>1+</m:t>
                              </m:r>
                              <m:f>
                                <m:fPr>
                                  <m:ctrlPr>
                                    <a:rPr lang="en-US" sz="2300" i="1">
                                      <a:solidFill>
                                        <a:srgbClr val="000000"/>
                                      </a:solidFill>
                                      <a:latin typeface="Cambria Math" panose="02040503050406030204" pitchFamily="18" charset="0"/>
                                    </a:rPr>
                                  </m:ctrlPr>
                                </m:fPr>
                                <m:num>
                                  <m:sSubSup>
                                    <m:sSubSupPr>
                                      <m:ctrlPr>
                                        <a:rPr lang="en-US" sz="2300" i="1">
                                          <a:solidFill>
                                            <a:srgbClr val="000000"/>
                                          </a:solidFill>
                                          <a:latin typeface="Cambria Math" panose="02040503050406030204" pitchFamily="18" charset="0"/>
                                        </a:rPr>
                                      </m:ctrlPr>
                                    </m:sSubSupPr>
                                    <m:e>
                                      <m:r>
                                        <a:rPr lang="en-US" sz="2300" i="1">
                                          <a:solidFill>
                                            <a:srgbClr val="000000"/>
                                          </a:solidFill>
                                          <a:latin typeface="Cambria Math" panose="02040503050406030204" pitchFamily="18" charset="0"/>
                                        </a:rPr>
                                        <m:t>𝜎</m:t>
                                      </m:r>
                                    </m:e>
                                    <m:sub>
                                      <m:r>
                                        <a:rPr lang="en-US" sz="2300" i="1">
                                          <a:solidFill>
                                            <a:srgbClr val="000000"/>
                                          </a:solidFill>
                                          <a:latin typeface="Cambria Math" panose="02040503050406030204" pitchFamily="18" charset="0"/>
                                        </a:rPr>
                                        <m:t>𝑦</m:t>
                                      </m:r>
                                    </m:sub>
                                    <m:sup>
                                      <m:r>
                                        <a:rPr lang="en-US" sz="2300" i="1">
                                          <a:solidFill>
                                            <a:srgbClr val="000000"/>
                                          </a:solidFill>
                                          <a:latin typeface="Cambria Math" panose="02040503050406030204" pitchFamily="18" charset="0"/>
                                        </a:rPr>
                                        <m:t>2</m:t>
                                      </m:r>
                                    </m:sup>
                                  </m:sSubSup>
                                </m:num>
                                <m:den>
                                  <m:sSubSup>
                                    <m:sSubSupPr>
                                      <m:ctrlPr>
                                        <a:rPr lang="en-US" sz="2300" i="1">
                                          <a:solidFill>
                                            <a:srgbClr val="000000"/>
                                          </a:solidFill>
                                          <a:latin typeface="Cambria Math" panose="02040503050406030204" pitchFamily="18" charset="0"/>
                                        </a:rPr>
                                      </m:ctrlPr>
                                    </m:sSubSupPr>
                                    <m:e>
                                      <m:r>
                                        <a:rPr lang="en-US" sz="2300" i="1">
                                          <a:solidFill>
                                            <a:srgbClr val="000000"/>
                                          </a:solidFill>
                                          <a:latin typeface="Cambria Math" panose="02040503050406030204" pitchFamily="18" charset="0"/>
                                        </a:rPr>
                                        <m:t>𝜇</m:t>
                                      </m:r>
                                    </m:e>
                                    <m:sub>
                                      <m:r>
                                        <a:rPr lang="en-US" sz="2300" i="1">
                                          <a:solidFill>
                                            <a:srgbClr val="000000"/>
                                          </a:solidFill>
                                          <a:latin typeface="Cambria Math" panose="02040503050406030204" pitchFamily="18" charset="0"/>
                                        </a:rPr>
                                        <m:t>𝑦</m:t>
                                      </m:r>
                                    </m:sub>
                                    <m:sup>
                                      <m:r>
                                        <a:rPr lang="en-US" sz="2300" i="1">
                                          <a:solidFill>
                                            <a:srgbClr val="000000"/>
                                          </a:solidFill>
                                          <a:latin typeface="Cambria Math" panose="02040503050406030204" pitchFamily="18" charset="0"/>
                                        </a:rPr>
                                        <m:t>2</m:t>
                                      </m:r>
                                    </m:sup>
                                  </m:sSubSup>
                                </m:den>
                              </m:f>
                            </m:e>
                          </m:d>
                        </m:e>
                      </m:func>
                    </m:oMath>
                  </m:oMathPara>
                </a14:m>
                <a:endParaRPr lang="en-US" dirty="0"/>
              </a:p>
            </p:txBody>
          </p:sp>
        </mc:Choice>
        <mc:Fallback>
          <p:sp>
            <p:nvSpPr>
              <p:cNvPr id="29717" name="Object 23"/>
              <p:cNvSpPr txBox="1">
                <a:spLocks noRot="1" noChangeAspect="1" noMove="1" noResize="1" noEditPoints="1" noAdjustHandles="1" noChangeArrowheads="1" noChangeShapeType="1" noTextEdit="1"/>
              </p:cNvSpPr>
              <p:nvPr/>
            </p:nvSpPr>
            <p:spPr bwMode="auto">
              <a:xfrm>
                <a:off x="4649700" y="5638801"/>
                <a:ext cx="1827300" cy="848518"/>
              </a:xfrm>
              <a:prstGeom prst="rect">
                <a:avLst/>
              </a:prstGeom>
              <a:blipFill>
                <a:blip r:embed="rId7"/>
                <a:stretch>
                  <a:fillRect/>
                </a:stretch>
              </a:blipFill>
              <a:ln>
                <a:noFill/>
              </a:ln>
            </p:spPr>
            <p:txBody>
              <a:bodyPr/>
              <a:lstStyle/>
              <a:p>
                <a:r>
                  <a:rPr lang="en-US">
                    <a:noFill/>
                  </a:rPr>
                  <a:t> </a:t>
                </a:r>
              </a:p>
            </p:txBody>
          </p:sp>
        </mc:Fallback>
      </mc:AlternateContent>
      <p:sp>
        <p:nvSpPr>
          <p:cNvPr id="29718" name="Rectangle 25"/>
          <p:cNvSpPr>
            <a:spLocks noChangeArrowheads="1"/>
          </p:cNvSpPr>
          <p:nvPr/>
        </p:nvSpPr>
        <p:spPr bwMode="auto">
          <a:xfrm>
            <a:off x="0" y="503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19" name="Rectangle 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9720"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2620092802"/>
              </p:ext>
            </p:extLst>
          </p:nvPr>
        </p:nvGraphicFramePr>
        <p:xfrm>
          <a:off x="3352800" y="2346693"/>
          <a:ext cx="2811850" cy="625109"/>
        </p:xfrm>
        <a:graphic>
          <a:graphicData uri="http://schemas.openxmlformats.org/presentationml/2006/ole">
            <mc:AlternateContent xmlns:mc="http://schemas.openxmlformats.org/markup-compatibility/2006">
              <mc:Choice xmlns:v="urn:schemas-microsoft-com:vml" Requires="v">
                <p:oleObj name="Equation" r:id="rId8" imgW="1015920" imgH="228600" progId="Equation.3">
                  <p:embed/>
                </p:oleObj>
              </mc:Choice>
              <mc:Fallback>
                <p:oleObj name="Equation" r:id="rId8" imgW="1015920" imgH="228600" progId="Equation.3">
                  <p:embed/>
                  <p:pic>
                    <p:nvPicPr>
                      <p:cNvPr id="3" name="Object 2"/>
                      <p:cNvPicPr>
                        <a:picLocks noChangeAspect="1" noChangeArrowheads="1"/>
                      </p:cNvPicPr>
                      <p:nvPr/>
                    </p:nvPicPr>
                    <p:blipFill>
                      <a:blip r:embed="rId9"/>
                      <a:srcRect/>
                      <a:stretch>
                        <a:fillRect/>
                      </a:stretch>
                    </p:blipFill>
                    <p:spPr bwMode="auto">
                      <a:xfrm>
                        <a:off x="3352800" y="2346693"/>
                        <a:ext cx="2811850" cy="62510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4283990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CD761-0F77-7AC2-8A6E-8E32D4ACA90E}"/>
              </a:ext>
            </a:extLst>
          </p:cNvPr>
          <p:cNvSpPr>
            <a:spLocks noGrp="1"/>
          </p:cNvSpPr>
          <p:nvPr>
            <p:ph type="title"/>
          </p:nvPr>
        </p:nvSpPr>
        <p:spPr/>
        <p:txBody>
          <a:bodyPr/>
          <a:lstStyle/>
          <a:p>
            <a:r>
              <a:rPr lang="en-US" dirty="0"/>
              <a:t>Delta method variance (Lo et al. 1992)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27BE8B-0E25-7CC4-4310-B4B73937FE97}"/>
                  </a:ext>
                </a:extLst>
              </p:cNvPr>
              <p:cNvSpPr>
                <a:spLocks noGrp="1"/>
              </p:cNvSpPr>
              <p:nvPr>
                <p:ph idx="1"/>
              </p:nvPr>
            </p:nvSpPr>
            <p:spPr/>
            <p:txBody>
              <a:bodyPr/>
              <a:lstStyle/>
              <a:p>
                <a14:m>
                  <m:oMath xmlns:m="http://schemas.openxmlformats.org/officeDocument/2006/math">
                    <m:sSubSup>
                      <m:sSubSupPr>
                        <m:ctrlPr>
                          <a:rPr lang="en-US" b="0" i="1" smtClean="0">
                            <a:latin typeface="Cambria Math" panose="02040503050406030204" pitchFamily="18" charset="0"/>
                            <a:ea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𝑥</m:t>
                        </m:r>
                      </m:sub>
                      <m:sup>
                        <m:r>
                          <a:rPr lang="en-US" i="1">
                            <a:latin typeface="Cambria Math" panose="02040503050406030204" pitchFamily="18" charset="0"/>
                            <a:ea typeface="Cambria Math" panose="02040503050406030204" pitchFamily="18" charset="0"/>
                          </a:rPr>
                          <m:t>2</m:t>
                        </m:r>
                      </m:sup>
                    </m:sSubSup>
                    <m:sSubSup>
                      <m:sSubSupPr>
                        <m:ctrlPr>
                          <a:rPr lang="en-US" b="0" i="1" smtClean="0">
                            <a:latin typeface="Cambria Math" panose="02040503050406030204" pitchFamily="18" charset="0"/>
                            <a:ea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𝑦</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𝑦</m:t>
                        </m:r>
                      </m:sub>
                      <m:sup>
                        <m:r>
                          <a:rPr lang="en-US" i="1">
                            <a:latin typeface="Cambria Math" panose="02040503050406030204" pitchFamily="18" charset="0"/>
                            <a:ea typeface="Cambria Math" panose="02040503050406030204" pitchFamily="18" charset="0"/>
                          </a:rPr>
                          <m:t>2</m:t>
                        </m:r>
                      </m:sup>
                    </m:sSubSup>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𝑥</m:t>
                        </m:r>
                      </m:sub>
                      <m:sup>
                        <m:r>
                          <a:rPr lang="en-US" i="1">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𝑥</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𝑦</m:t>
                        </m:r>
                      </m:sub>
                    </m:sSub>
                  </m:oMath>
                </a14:m>
                <a:endParaRPr lang="en-US" dirty="0"/>
              </a:p>
              <a:p>
                <a:pPr marL="0" indent="0">
                  <a:buNone/>
                </a:pPr>
                <a:endParaRPr lang="en-US" dirty="0"/>
              </a:p>
              <a:p>
                <a:pPr marL="0" indent="0">
                  <a:buNone/>
                </a:pPr>
                <a:r>
                  <a:rPr lang="en-US" dirty="0"/>
                  <a:t>Lo proposed a version where the covariance between x (probability of positive presence) and y (mean abundance if present) is approximated by the covariance of p and mu across the years. </a:t>
                </a:r>
              </a:p>
            </p:txBody>
          </p:sp>
        </mc:Choice>
        <mc:Fallback xmlns="">
          <p:sp>
            <p:nvSpPr>
              <p:cNvPr id="3" name="Content Placeholder 2">
                <a:extLst>
                  <a:ext uri="{FF2B5EF4-FFF2-40B4-BE49-F238E27FC236}">
                    <a16:creationId xmlns:a16="http://schemas.microsoft.com/office/drawing/2014/main" id="{4027BE8B-0E25-7CC4-4310-B4B73937FE97}"/>
                  </a:ext>
                </a:extLst>
              </p:cNvPr>
              <p:cNvSpPr>
                <a:spLocks noGrp="1" noRot="1" noChangeAspect="1" noMove="1" noResize="1" noEditPoints="1" noAdjustHandles="1" noChangeArrowheads="1" noChangeShapeType="1" noTextEdit="1"/>
              </p:cNvSpPr>
              <p:nvPr>
                <p:ph idx="1"/>
              </p:nvPr>
            </p:nvSpPr>
            <p:spPr>
              <a:blipFill>
                <a:blip r:embed="rId2"/>
                <a:stretch>
                  <a:fillRect l="-1704"/>
                </a:stretch>
              </a:blipFill>
            </p:spPr>
            <p:txBody>
              <a:bodyPr/>
              <a:lstStyle/>
              <a:p>
                <a:r>
                  <a:rPr lang="en-US">
                    <a:noFill/>
                  </a:rPr>
                  <a:t> </a:t>
                </a:r>
              </a:p>
            </p:txBody>
          </p:sp>
        </mc:Fallback>
      </mc:AlternateContent>
    </p:spTree>
    <p:extLst>
      <p:ext uri="{BB962C8B-B14F-4D97-AF65-F5344CB8AC3E}">
        <p14:creationId xmlns:p14="http://schemas.microsoft.com/office/powerpoint/2010/main" val="9435858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8858B-C374-D935-718F-431D05F1593C}"/>
              </a:ext>
            </a:extLst>
          </p:cNvPr>
          <p:cNvSpPr>
            <a:spLocks noGrp="1"/>
          </p:cNvSpPr>
          <p:nvPr>
            <p:ph type="title"/>
          </p:nvPr>
        </p:nvSpPr>
        <p:spPr>
          <a:xfrm>
            <a:off x="609600" y="274637"/>
            <a:ext cx="8229600" cy="487362"/>
          </a:xfrm>
        </p:spPr>
        <p:txBody>
          <a:bodyPr/>
          <a:lstStyle/>
          <a:p>
            <a:r>
              <a:rPr lang="en-US" dirty="0"/>
              <a:t>Binomial </a:t>
            </a:r>
          </a:p>
        </p:txBody>
      </p:sp>
      <p:pic>
        <p:nvPicPr>
          <p:cNvPr id="12290" name="Picture 2">
            <a:extLst>
              <a:ext uri="{FF2B5EF4-FFF2-40B4-BE49-F238E27FC236}">
                <a16:creationId xmlns:a16="http://schemas.microsoft.com/office/drawing/2014/main" id="{EDC5EE56-0B6C-235C-3EA4-BE261EBBE7C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1" y="914401"/>
            <a:ext cx="4267496" cy="304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52C7142-8651-6189-2DDF-7E2052631484}"/>
              </a:ext>
            </a:extLst>
          </p:cNvPr>
          <p:cNvSpPr txBox="1"/>
          <p:nvPr/>
        </p:nvSpPr>
        <p:spPr>
          <a:xfrm>
            <a:off x="5410200" y="1447800"/>
            <a:ext cx="2743200" cy="646331"/>
          </a:xfrm>
          <a:prstGeom prst="rect">
            <a:avLst/>
          </a:prstGeom>
          <a:noFill/>
        </p:spPr>
        <p:txBody>
          <a:bodyPr wrap="square" rtlCol="0">
            <a:spAutoFit/>
          </a:bodyPr>
          <a:lstStyle/>
          <a:p>
            <a:r>
              <a:rPr lang="en-US" dirty="0"/>
              <a:t>Binomial best model does not include year. </a:t>
            </a:r>
          </a:p>
        </p:txBody>
      </p:sp>
      <p:graphicFrame>
        <p:nvGraphicFramePr>
          <p:cNvPr id="6" name="Table 5">
            <a:extLst>
              <a:ext uri="{FF2B5EF4-FFF2-40B4-BE49-F238E27FC236}">
                <a16:creationId xmlns:a16="http://schemas.microsoft.com/office/drawing/2014/main" id="{CB21B25E-496A-6E2D-9E0A-CB2741024516}"/>
              </a:ext>
            </a:extLst>
          </p:cNvPr>
          <p:cNvGraphicFramePr>
            <a:graphicFrameLocks noGrp="1"/>
          </p:cNvGraphicFramePr>
          <p:nvPr>
            <p:extLst>
              <p:ext uri="{D42A27DB-BD31-4B8C-83A1-F6EECF244321}">
                <p14:modId xmlns:p14="http://schemas.microsoft.com/office/powerpoint/2010/main" val="1165440091"/>
              </p:ext>
            </p:extLst>
          </p:nvPr>
        </p:nvGraphicFramePr>
        <p:xfrm>
          <a:off x="609600" y="3962401"/>
          <a:ext cx="8077201" cy="2438398"/>
        </p:xfrm>
        <a:graphic>
          <a:graphicData uri="http://schemas.openxmlformats.org/drawingml/2006/table">
            <a:tbl>
              <a:tblPr>
                <a:tableStyleId>{5C22544A-7EE6-4342-B048-85BDC9FD1C3A}</a:tableStyleId>
              </a:tblPr>
              <a:tblGrid>
                <a:gridCol w="734291">
                  <a:extLst>
                    <a:ext uri="{9D8B030D-6E8A-4147-A177-3AD203B41FA5}">
                      <a16:colId xmlns:a16="http://schemas.microsoft.com/office/drawing/2014/main" val="693707240"/>
                    </a:ext>
                  </a:extLst>
                </a:gridCol>
                <a:gridCol w="734291">
                  <a:extLst>
                    <a:ext uri="{9D8B030D-6E8A-4147-A177-3AD203B41FA5}">
                      <a16:colId xmlns:a16="http://schemas.microsoft.com/office/drawing/2014/main" val="81281681"/>
                    </a:ext>
                  </a:extLst>
                </a:gridCol>
                <a:gridCol w="734291">
                  <a:extLst>
                    <a:ext uri="{9D8B030D-6E8A-4147-A177-3AD203B41FA5}">
                      <a16:colId xmlns:a16="http://schemas.microsoft.com/office/drawing/2014/main" val="3994577792"/>
                    </a:ext>
                  </a:extLst>
                </a:gridCol>
                <a:gridCol w="734291">
                  <a:extLst>
                    <a:ext uri="{9D8B030D-6E8A-4147-A177-3AD203B41FA5}">
                      <a16:colId xmlns:a16="http://schemas.microsoft.com/office/drawing/2014/main" val="1177255776"/>
                    </a:ext>
                  </a:extLst>
                </a:gridCol>
                <a:gridCol w="734291">
                  <a:extLst>
                    <a:ext uri="{9D8B030D-6E8A-4147-A177-3AD203B41FA5}">
                      <a16:colId xmlns:a16="http://schemas.microsoft.com/office/drawing/2014/main" val="4246222390"/>
                    </a:ext>
                  </a:extLst>
                </a:gridCol>
                <a:gridCol w="734291">
                  <a:extLst>
                    <a:ext uri="{9D8B030D-6E8A-4147-A177-3AD203B41FA5}">
                      <a16:colId xmlns:a16="http://schemas.microsoft.com/office/drawing/2014/main" val="3905456603"/>
                    </a:ext>
                  </a:extLst>
                </a:gridCol>
                <a:gridCol w="734291">
                  <a:extLst>
                    <a:ext uri="{9D8B030D-6E8A-4147-A177-3AD203B41FA5}">
                      <a16:colId xmlns:a16="http://schemas.microsoft.com/office/drawing/2014/main" val="1046443686"/>
                    </a:ext>
                  </a:extLst>
                </a:gridCol>
                <a:gridCol w="734291">
                  <a:extLst>
                    <a:ext uri="{9D8B030D-6E8A-4147-A177-3AD203B41FA5}">
                      <a16:colId xmlns:a16="http://schemas.microsoft.com/office/drawing/2014/main" val="1410233997"/>
                    </a:ext>
                  </a:extLst>
                </a:gridCol>
                <a:gridCol w="734291">
                  <a:extLst>
                    <a:ext uri="{9D8B030D-6E8A-4147-A177-3AD203B41FA5}">
                      <a16:colId xmlns:a16="http://schemas.microsoft.com/office/drawing/2014/main" val="2046034006"/>
                    </a:ext>
                  </a:extLst>
                </a:gridCol>
                <a:gridCol w="734291">
                  <a:extLst>
                    <a:ext uri="{9D8B030D-6E8A-4147-A177-3AD203B41FA5}">
                      <a16:colId xmlns:a16="http://schemas.microsoft.com/office/drawing/2014/main" val="3385300569"/>
                    </a:ext>
                  </a:extLst>
                </a:gridCol>
                <a:gridCol w="734291">
                  <a:extLst>
                    <a:ext uri="{9D8B030D-6E8A-4147-A177-3AD203B41FA5}">
                      <a16:colId xmlns:a16="http://schemas.microsoft.com/office/drawing/2014/main" val="1892753360"/>
                    </a:ext>
                  </a:extLst>
                </a:gridCol>
              </a:tblGrid>
              <a:tr h="562708">
                <a:tc>
                  <a:txBody>
                    <a:bodyPr/>
                    <a:lstStyle/>
                    <a:p>
                      <a:pPr algn="l" fontAlgn="b">
                        <a:buNone/>
                      </a:pPr>
                      <a:r>
                        <a:rPr lang="en-US" sz="1400" u="none" strike="noStrike">
                          <a:effectLst/>
                        </a:rPr>
                        <a:t>cnd((Int))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dsp((Int))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cnd(are)</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cnd(ssn)</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cnd(Yer)</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cnd(are:ssn)</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df</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logLik</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BIC</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delta</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weight</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651028444"/>
                  </a:ext>
                </a:extLst>
              </a:tr>
              <a:tr h="312615">
                <a:tc>
                  <a:txBody>
                    <a:bodyPr/>
                    <a:lstStyle/>
                    <a:p>
                      <a:pPr algn="r" fontAlgn="b">
                        <a:buNone/>
                      </a:pPr>
                      <a:r>
                        <a:rPr lang="en-US" sz="1400" u="none" strike="noStrike">
                          <a:effectLst/>
                        </a:rPr>
                        <a:t>1.80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8</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-1088.71</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2238.2</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557821718"/>
                  </a:ext>
                </a:extLst>
              </a:tr>
              <a:tr h="312615">
                <a:tc>
                  <a:txBody>
                    <a:bodyPr/>
                    <a:lstStyle/>
                    <a:p>
                      <a:pPr algn="r" fontAlgn="b">
                        <a:buNone/>
                      </a:pPr>
                      <a:r>
                        <a:rPr lang="en-US" sz="1400" u="none" strike="noStrike">
                          <a:effectLst/>
                        </a:rPr>
                        <a:t>2.15</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5</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-1117.75</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2273.5</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35.29</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600348659"/>
                  </a:ext>
                </a:extLst>
              </a:tr>
              <a:tr h="312615">
                <a:tc>
                  <a:txBody>
                    <a:bodyPr/>
                    <a:lstStyle/>
                    <a:p>
                      <a:pPr algn="r" fontAlgn="b">
                        <a:buNone/>
                      </a:pPr>
                      <a:r>
                        <a:rPr lang="en-US" sz="1400" u="none" strike="noStrike">
                          <a:effectLst/>
                        </a:rPr>
                        <a:t>1.83</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4</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-1139.53</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2309.4</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71.27</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11713876"/>
                  </a:ext>
                </a:extLst>
              </a:tr>
              <a:tr h="312615">
                <a:tc>
                  <a:txBody>
                    <a:bodyPr/>
                    <a:lstStyle/>
                    <a:p>
                      <a:pPr algn="r" fontAlgn="b">
                        <a:buNone/>
                      </a:pPr>
                      <a:r>
                        <a:rPr lang="en-US" sz="1400" u="none" strike="noStrike">
                          <a:effectLst/>
                        </a:rPr>
                        <a:t>1.78</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36</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-1033.07</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2339.5</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101.3</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304416627"/>
                  </a:ext>
                </a:extLst>
              </a:tr>
              <a:tr h="312615">
                <a:tc>
                  <a:txBody>
                    <a:bodyPr/>
                    <a:lstStyle/>
                    <a:p>
                      <a:pPr algn="r" fontAlgn="b">
                        <a:buNone/>
                      </a:pPr>
                      <a:r>
                        <a:rPr lang="en-US" sz="1400" u="none" strike="noStrike">
                          <a:effectLst/>
                        </a:rPr>
                        <a:t>1.32</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2</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-1163.53</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2342.3</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104.09</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149926757"/>
                  </a:ext>
                </a:extLst>
              </a:tr>
              <a:tr h="312615">
                <a:tc>
                  <a:txBody>
                    <a:bodyPr/>
                    <a:lstStyle/>
                    <a:p>
                      <a:pPr algn="r" fontAlgn="b">
                        <a:buNone/>
                      </a:pPr>
                      <a:r>
                        <a:rPr lang="en-US" sz="1400" u="none" strike="noStrike">
                          <a:effectLst/>
                        </a:rPr>
                        <a:t>2.03</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33</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-1060.41</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2371.4</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133.21</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dirty="0">
                          <a:effectLst/>
                        </a:rPr>
                        <a:t>0</a:t>
                      </a:r>
                      <a:endParaRPr lang="en-US" sz="14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909317561"/>
                  </a:ext>
                </a:extLst>
              </a:tr>
            </a:tbl>
          </a:graphicData>
        </a:graphic>
      </p:graphicFrame>
    </p:spTree>
    <p:extLst>
      <p:ext uri="{BB962C8B-B14F-4D97-AF65-F5344CB8AC3E}">
        <p14:creationId xmlns:p14="http://schemas.microsoft.com/office/powerpoint/2010/main" val="11276187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ED4BB-27A8-FC42-2609-3516F8259924}"/>
              </a:ext>
            </a:extLst>
          </p:cNvPr>
          <p:cNvSpPr>
            <a:spLocks noGrp="1"/>
          </p:cNvSpPr>
          <p:nvPr>
            <p:ph type="title"/>
          </p:nvPr>
        </p:nvSpPr>
        <p:spPr/>
        <p:txBody>
          <a:bodyPr/>
          <a:lstStyle/>
          <a:p>
            <a:r>
              <a:rPr lang="en-US" dirty="0"/>
              <a:t>log(CPUE) positive</a:t>
            </a:r>
          </a:p>
        </p:txBody>
      </p:sp>
      <p:pic>
        <p:nvPicPr>
          <p:cNvPr id="13314" name="Picture 2">
            <a:extLst>
              <a:ext uri="{FF2B5EF4-FFF2-40B4-BE49-F238E27FC236}">
                <a16:creationId xmlns:a16="http://schemas.microsoft.com/office/drawing/2014/main" id="{EF4C542E-5D67-26B7-E5BF-5CCF4A81BA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0999" y="838200"/>
            <a:ext cx="4480871" cy="3200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EEEE21DD-6B34-0444-88C4-DAEA02C27916}"/>
              </a:ext>
            </a:extLst>
          </p:cNvPr>
          <p:cNvGraphicFramePr>
            <a:graphicFrameLocks noGrp="1"/>
          </p:cNvGraphicFramePr>
          <p:nvPr>
            <p:extLst>
              <p:ext uri="{D42A27DB-BD31-4B8C-83A1-F6EECF244321}">
                <p14:modId xmlns:p14="http://schemas.microsoft.com/office/powerpoint/2010/main" val="2450350855"/>
              </p:ext>
            </p:extLst>
          </p:nvPr>
        </p:nvGraphicFramePr>
        <p:xfrm>
          <a:off x="457200" y="4108940"/>
          <a:ext cx="7924796" cy="2215660"/>
        </p:xfrm>
        <a:graphic>
          <a:graphicData uri="http://schemas.openxmlformats.org/drawingml/2006/table">
            <a:tbl>
              <a:tblPr>
                <a:tableStyleId>{5C22544A-7EE6-4342-B048-85BDC9FD1C3A}</a:tableStyleId>
              </a:tblPr>
              <a:tblGrid>
                <a:gridCol w="720436">
                  <a:extLst>
                    <a:ext uri="{9D8B030D-6E8A-4147-A177-3AD203B41FA5}">
                      <a16:colId xmlns:a16="http://schemas.microsoft.com/office/drawing/2014/main" val="3037424573"/>
                    </a:ext>
                  </a:extLst>
                </a:gridCol>
                <a:gridCol w="720436">
                  <a:extLst>
                    <a:ext uri="{9D8B030D-6E8A-4147-A177-3AD203B41FA5}">
                      <a16:colId xmlns:a16="http://schemas.microsoft.com/office/drawing/2014/main" val="3306328594"/>
                    </a:ext>
                  </a:extLst>
                </a:gridCol>
                <a:gridCol w="720436">
                  <a:extLst>
                    <a:ext uri="{9D8B030D-6E8A-4147-A177-3AD203B41FA5}">
                      <a16:colId xmlns:a16="http://schemas.microsoft.com/office/drawing/2014/main" val="2375506840"/>
                    </a:ext>
                  </a:extLst>
                </a:gridCol>
                <a:gridCol w="720436">
                  <a:extLst>
                    <a:ext uri="{9D8B030D-6E8A-4147-A177-3AD203B41FA5}">
                      <a16:colId xmlns:a16="http://schemas.microsoft.com/office/drawing/2014/main" val="1702779198"/>
                    </a:ext>
                  </a:extLst>
                </a:gridCol>
                <a:gridCol w="720436">
                  <a:extLst>
                    <a:ext uri="{9D8B030D-6E8A-4147-A177-3AD203B41FA5}">
                      <a16:colId xmlns:a16="http://schemas.microsoft.com/office/drawing/2014/main" val="1210330437"/>
                    </a:ext>
                  </a:extLst>
                </a:gridCol>
                <a:gridCol w="720436">
                  <a:extLst>
                    <a:ext uri="{9D8B030D-6E8A-4147-A177-3AD203B41FA5}">
                      <a16:colId xmlns:a16="http://schemas.microsoft.com/office/drawing/2014/main" val="2137108140"/>
                    </a:ext>
                  </a:extLst>
                </a:gridCol>
                <a:gridCol w="720436">
                  <a:extLst>
                    <a:ext uri="{9D8B030D-6E8A-4147-A177-3AD203B41FA5}">
                      <a16:colId xmlns:a16="http://schemas.microsoft.com/office/drawing/2014/main" val="679517926"/>
                    </a:ext>
                  </a:extLst>
                </a:gridCol>
                <a:gridCol w="720436">
                  <a:extLst>
                    <a:ext uri="{9D8B030D-6E8A-4147-A177-3AD203B41FA5}">
                      <a16:colId xmlns:a16="http://schemas.microsoft.com/office/drawing/2014/main" val="3294397819"/>
                    </a:ext>
                  </a:extLst>
                </a:gridCol>
                <a:gridCol w="720436">
                  <a:extLst>
                    <a:ext uri="{9D8B030D-6E8A-4147-A177-3AD203B41FA5}">
                      <a16:colId xmlns:a16="http://schemas.microsoft.com/office/drawing/2014/main" val="2954231140"/>
                    </a:ext>
                  </a:extLst>
                </a:gridCol>
                <a:gridCol w="720436">
                  <a:extLst>
                    <a:ext uri="{9D8B030D-6E8A-4147-A177-3AD203B41FA5}">
                      <a16:colId xmlns:a16="http://schemas.microsoft.com/office/drawing/2014/main" val="3715260959"/>
                    </a:ext>
                  </a:extLst>
                </a:gridCol>
                <a:gridCol w="720436">
                  <a:extLst>
                    <a:ext uri="{9D8B030D-6E8A-4147-A177-3AD203B41FA5}">
                      <a16:colId xmlns:a16="http://schemas.microsoft.com/office/drawing/2014/main" val="1034245954"/>
                    </a:ext>
                  </a:extLst>
                </a:gridCol>
              </a:tblGrid>
              <a:tr h="511306">
                <a:tc>
                  <a:txBody>
                    <a:bodyPr/>
                    <a:lstStyle/>
                    <a:p>
                      <a:pPr algn="l" fontAlgn="b">
                        <a:buNone/>
                      </a:pPr>
                      <a:r>
                        <a:rPr lang="en-US" sz="1400" u="none" strike="noStrike">
                          <a:effectLst/>
                        </a:rPr>
                        <a:t>cnd((Int))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dsp((Int))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cnd(are)</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cnd(ssn)</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cnd(Yer)</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cnd(are:ssn)</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df</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logLik</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BIC</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delta</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weight</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102735065"/>
                  </a:ext>
                </a:extLst>
              </a:tr>
              <a:tr h="284059">
                <a:tc>
                  <a:txBody>
                    <a:bodyPr/>
                    <a:lstStyle/>
                    <a:p>
                      <a:pPr algn="r" fontAlgn="b">
                        <a:buNone/>
                      </a:pPr>
                      <a:r>
                        <a:rPr lang="en-US" sz="1400" u="none" strike="noStrike">
                          <a:effectLst/>
                        </a:rPr>
                        <a:t>-0.65</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37</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-1932.09</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4132.50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0.00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0.997</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338817728"/>
                  </a:ext>
                </a:extLst>
              </a:tr>
              <a:tr h="284059">
                <a:tc>
                  <a:txBody>
                    <a:bodyPr/>
                    <a:lstStyle/>
                    <a:p>
                      <a:pPr algn="r" fontAlgn="b">
                        <a:buNone/>
                      </a:pPr>
                      <a:r>
                        <a:rPr lang="en-US" sz="1400" u="none" strike="noStrike">
                          <a:effectLst/>
                        </a:rPr>
                        <a:t>-0.59</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34</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-1948.79</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4144.10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11.64</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0.003</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870738917"/>
                  </a:ext>
                </a:extLst>
              </a:tr>
              <a:tr h="284059">
                <a:tc>
                  <a:txBody>
                    <a:bodyPr/>
                    <a:lstStyle/>
                    <a:p>
                      <a:pPr algn="r" fontAlgn="b">
                        <a:buNone/>
                      </a:pPr>
                      <a:r>
                        <a:rPr lang="en-US" sz="1400" u="none" strike="noStrike">
                          <a:effectLst/>
                        </a:rPr>
                        <a:t>-0.69</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33</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-1956.18</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4151.70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19.16</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524242587"/>
                  </a:ext>
                </a:extLst>
              </a:tr>
              <a:tr h="284059">
                <a:tc>
                  <a:txBody>
                    <a:bodyPr/>
                    <a:lstStyle/>
                    <a:p>
                      <a:pPr algn="r" fontAlgn="b">
                        <a:buNone/>
                      </a:pPr>
                      <a:r>
                        <a:rPr lang="en-US" sz="1400" u="none" strike="noStrike">
                          <a:effectLst/>
                        </a:rPr>
                        <a:t>-0.66</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dirty="0">
                          <a:effectLst/>
                        </a:rPr>
                        <a:t>+</a:t>
                      </a:r>
                      <a:endParaRPr lang="en-US" sz="1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31</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-1965.63</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4156.10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23.57</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161176343"/>
                  </a:ext>
                </a:extLst>
              </a:tr>
              <a:tr h="284059">
                <a:tc>
                  <a:txBody>
                    <a:bodyPr/>
                    <a:lstStyle/>
                    <a:p>
                      <a:pPr algn="r" fontAlgn="b">
                        <a:buNone/>
                      </a:pPr>
                      <a:r>
                        <a:rPr lang="en-US" sz="1400" u="none" strike="noStrike">
                          <a:effectLst/>
                        </a:rPr>
                        <a:t>-0.78</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30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-1974.85</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4167.20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34.74</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0</a:t>
                      </a:r>
                      <a:endParaRPr lang="en-US" sz="1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487971750"/>
                  </a:ext>
                </a:extLst>
              </a:tr>
              <a:tr h="284059">
                <a:tc>
                  <a:txBody>
                    <a:bodyPr/>
                    <a:lstStyle/>
                    <a:p>
                      <a:pPr algn="r" fontAlgn="b">
                        <a:buNone/>
                      </a:pPr>
                      <a:r>
                        <a:rPr lang="en-US" sz="1400" u="none" strike="noStrike">
                          <a:effectLst/>
                        </a:rPr>
                        <a:t>-1.23</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dirty="0">
                          <a:effectLst/>
                        </a:rPr>
                        <a:t>+</a:t>
                      </a:r>
                      <a:endParaRPr lang="en-US" sz="1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400" u="none" strike="noStrike">
                          <a:effectLst/>
                        </a:rPr>
                        <a:t>+</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9</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-2094.10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4253.50</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a:effectLst/>
                        </a:rPr>
                        <a:t>120.97</a:t>
                      </a:r>
                      <a:endParaRPr lang="en-US" sz="1400" b="0" i="0" u="none" strike="noStrike">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400" u="none" strike="noStrike" dirty="0">
                          <a:effectLst/>
                        </a:rPr>
                        <a:t>0</a:t>
                      </a:r>
                      <a:endParaRPr lang="en-US" sz="14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46177287"/>
                  </a:ext>
                </a:extLst>
              </a:tr>
            </a:tbl>
          </a:graphicData>
        </a:graphic>
      </p:graphicFrame>
      <p:sp>
        <p:nvSpPr>
          <p:cNvPr id="3" name="TextBox 2">
            <a:extLst>
              <a:ext uri="{FF2B5EF4-FFF2-40B4-BE49-F238E27FC236}">
                <a16:creationId xmlns:a16="http://schemas.microsoft.com/office/drawing/2014/main" id="{7BFC8831-F2AE-FF67-9DAA-345F886C213A}"/>
              </a:ext>
            </a:extLst>
          </p:cNvPr>
          <p:cNvSpPr txBox="1"/>
          <p:nvPr/>
        </p:nvSpPr>
        <p:spPr>
          <a:xfrm>
            <a:off x="5486400" y="1752600"/>
            <a:ext cx="1447800" cy="646331"/>
          </a:xfrm>
          <a:prstGeom prst="rect">
            <a:avLst/>
          </a:prstGeom>
          <a:noFill/>
        </p:spPr>
        <p:txBody>
          <a:bodyPr wrap="square" rtlCol="0">
            <a:spAutoFit/>
          </a:bodyPr>
          <a:lstStyle/>
          <a:p>
            <a:r>
              <a:rPr lang="en-US" dirty="0"/>
              <a:t>Includes year</a:t>
            </a:r>
          </a:p>
        </p:txBody>
      </p:sp>
    </p:spTree>
    <p:extLst>
      <p:ext uri="{BB962C8B-B14F-4D97-AF65-F5344CB8AC3E}">
        <p14:creationId xmlns:p14="http://schemas.microsoft.com/office/powerpoint/2010/main" val="3795357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D2F3C-D172-9377-3ADF-E015FE487398}"/>
              </a:ext>
            </a:extLst>
          </p:cNvPr>
          <p:cNvSpPr>
            <a:spLocks noGrp="1"/>
          </p:cNvSpPr>
          <p:nvPr>
            <p:ph type="title"/>
          </p:nvPr>
        </p:nvSpPr>
        <p:spPr/>
        <p:txBody>
          <a:bodyPr/>
          <a:lstStyle/>
          <a:p>
            <a:r>
              <a:rPr lang="en-US" dirty="0"/>
              <a:t>Combined index</a:t>
            </a:r>
          </a:p>
        </p:txBody>
      </p:sp>
      <p:pic>
        <p:nvPicPr>
          <p:cNvPr id="5" name="Content Placeholder 4" descr="A graph with different colored lines&#10;&#10;AI-generated content may be incorrect.">
            <a:extLst>
              <a:ext uri="{FF2B5EF4-FFF2-40B4-BE49-F238E27FC236}">
                <a16:creationId xmlns:a16="http://schemas.microsoft.com/office/drawing/2014/main" id="{3C9C5ABD-B958-0E0F-5EEC-45484B6248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219200"/>
            <a:ext cx="7891380" cy="4876800"/>
          </a:xfrm>
        </p:spPr>
      </p:pic>
    </p:spTree>
    <p:extLst>
      <p:ext uri="{BB962C8B-B14F-4D97-AF65-F5344CB8AC3E}">
        <p14:creationId xmlns:p14="http://schemas.microsoft.com/office/powerpoint/2010/main" val="3921880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BDF96-7AAC-F915-29C5-FFA5D0266AF2}"/>
              </a:ext>
            </a:extLst>
          </p:cNvPr>
          <p:cNvSpPr>
            <a:spLocks noGrp="1"/>
          </p:cNvSpPr>
          <p:nvPr>
            <p:ph type="title"/>
          </p:nvPr>
        </p:nvSpPr>
        <p:spPr/>
        <p:txBody>
          <a:bodyPr/>
          <a:lstStyle/>
          <a:p>
            <a:r>
              <a:rPr lang="en-US" dirty="0"/>
              <a:t>How to select observation error model</a:t>
            </a:r>
          </a:p>
        </p:txBody>
      </p:sp>
      <p:sp>
        <p:nvSpPr>
          <p:cNvPr id="3" name="Content Placeholder 2">
            <a:extLst>
              <a:ext uri="{FF2B5EF4-FFF2-40B4-BE49-F238E27FC236}">
                <a16:creationId xmlns:a16="http://schemas.microsoft.com/office/drawing/2014/main" id="{D00968FD-9AAE-3E32-AA6C-196065C6B0B1}"/>
              </a:ext>
            </a:extLst>
          </p:cNvPr>
          <p:cNvSpPr>
            <a:spLocks noGrp="1"/>
          </p:cNvSpPr>
          <p:nvPr>
            <p:ph idx="1"/>
          </p:nvPr>
        </p:nvSpPr>
        <p:spPr/>
        <p:txBody>
          <a:bodyPr/>
          <a:lstStyle/>
          <a:p>
            <a:r>
              <a:rPr lang="en-US" dirty="0"/>
              <a:t>I tend to use negative binomial 2 for counts and Tweedie for biomass. </a:t>
            </a:r>
          </a:p>
          <a:p>
            <a:r>
              <a:rPr lang="en-US" dirty="0"/>
              <a:t>Delta-lognormal is common, but a lot of extra work. Useful if you want to have different variables to predict habitat area vs. catch if in habitat area.  (Zero inflated models also work for this)</a:t>
            </a:r>
          </a:p>
          <a:p>
            <a:r>
              <a:rPr lang="en-US" dirty="0"/>
              <a:t>All will give similar results</a:t>
            </a:r>
          </a:p>
          <a:p>
            <a:r>
              <a:rPr lang="en-US" dirty="0"/>
              <a:t>AIC, etc. can’t help, because these models have different response variables (count, CPUE, presence/absence plus CPUE)</a:t>
            </a:r>
          </a:p>
        </p:txBody>
      </p:sp>
    </p:spTree>
    <p:extLst>
      <p:ext uri="{BB962C8B-B14F-4D97-AF65-F5344CB8AC3E}">
        <p14:creationId xmlns:p14="http://schemas.microsoft.com/office/powerpoint/2010/main" val="7263237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BA6BD-6960-892C-A272-3068CE3922BA}"/>
              </a:ext>
            </a:extLst>
          </p:cNvPr>
          <p:cNvSpPr>
            <a:spLocks noGrp="1"/>
          </p:cNvSpPr>
          <p:nvPr>
            <p:ph type="title"/>
          </p:nvPr>
        </p:nvSpPr>
        <p:spPr/>
        <p:txBody>
          <a:bodyPr/>
          <a:lstStyle/>
          <a:p>
            <a:r>
              <a:rPr lang="en-US" dirty="0"/>
              <a:t>Some fine points of CPUE standardization</a:t>
            </a:r>
          </a:p>
        </p:txBody>
      </p:sp>
      <p:sp>
        <p:nvSpPr>
          <p:cNvPr id="3" name="Content Placeholder 2">
            <a:extLst>
              <a:ext uri="{FF2B5EF4-FFF2-40B4-BE49-F238E27FC236}">
                <a16:creationId xmlns:a16="http://schemas.microsoft.com/office/drawing/2014/main" id="{E7694A5E-6479-0EED-03CA-6A22065B38C1}"/>
              </a:ext>
            </a:extLst>
          </p:cNvPr>
          <p:cNvSpPr>
            <a:spLocks noGrp="1"/>
          </p:cNvSpPr>
          <p:nvPr>
            <p:ph idx="1"/>
          </p:nvPr>
        </p:nvSpPr>
        <p:spPr>
          <a:xfrm>
            <a:off x="457200" y="1295400"/>
            <a:ext cx="8229600" cy="4830763"/>
          </a:xfrm>
        </p:spPr>
        <p:txBody>
          <a:bodyPr/>
          <a:lstStyle/>
          <a:p>
            <a:r>
              <a:rPr lang="en-US" dirty="0"/>
              <a:t>How to deal with interactions between variables (</a:t>
            </a:r>
            <a:r>
              <a:rPr lang="en-US" dirty="0" err="1"/>
              <a:t>e.g</a:t>
            </a:r>
            <a:r>
              <a:rPr lang="en-US" dirty="0"/>
              <a:t> area) and Year</a:t>
            </a:r>
          </a:p>
          <a:p>
            <a:r>
              <a:rPr lang="en-US" dirty="0"/>
              <a:t>Treat </a:t>
            </a:r>
            <a:r>
              <a:rPr lang="en-US" b="1" dirty="0"/>
              <a:t>area x year</a:t>
            </a:r>
            <a:r>
              <a:rPr lang="en-US" dirty="0"/>
              <a:t> as a random effect</a:t>
            </a:r>
          </a:p>
          <a:p>
            <a:r>
              <a:rPr lang="en-US" dirty="0"/>
              <a:t> Use GAMs on latitude and longitude to take out the spatial patterns</a:t>
            </a:r>
          </a:p>
          <a:p>
            <a:r>
              <a:rPr lang="en-US" dirty="0"/>
              <a:t>Use geostatistical models to model the spatial patterns</a:t>
            </a:r>
          </a:p>
        </p:txBody>
      </p:sp>
    </p:spTree>
    <p:extLst>
      <p:ext uri="{BB962C8B-B14F-4D97-AF65-F5344CB8AC3E}">
        <p14:creationId xmlns:p14="http://schemas.microsoft.com/office/powerpoint/2010/main" val="34404382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6C6FB-C925-D606-618E-9AD127B4D2C2}"/>
              </a:ext>
            </a:extLst>
          </p:cNvPr>
          <p:cNvSpPr>
            <a:spLocks noGrp="1"/>
          </p:cNvSpPr>
          <p:nvPr>
            <p:ph type="title"/>
          </p:nvPr>
        </p:nvSpPr>
        <p:spPr/>
        <p:txBody>
          <a:bodyPr/>
          <a:lstStyle/>
          <a:p>
            <a:r>
              <a:rPr lang="en-US" dirty="0"/>
              <a:t>Including random effect</a:t>
            </a:r>
          </a:p>
        </p:txBody>
      </p:sp>
      <p:sp>
        <p:nvSpPr>
          <p:cNvPr id="3" name="Content Placeholder 2">
            <a:extLst>
              <a:ext uri="{FF2B5EF4-FFF2-40B4-BE49-F238E27FC236}">
                <a16:creationId xmlns:a16="http://schemas.microsoft.com/office/drawing/2014/main" id="{71E918E1-9AA8-89A5-63A5-E956FDAA6F21}"/>
              </a:ext>
            </a:extLst>
          </p:cNvPr>
          <p:cNvSpPr>
            <a:spLocks noGrp="1"/>
          </p:cNvSpPr>
          <p:nvPr>
            <p:ph idx="1"/>
          </p:nvPr>
        </p:nvSpPr>
        <p:spPr/>
        <p:txBody>
          <a:bodyPr/>
          <a:lstStyle/>
          <a:p>
            <a:r>
              <a:rPr lang="en-US" dirty="0"/>
              <a:t>Each </a:t>
            </a:r>
            <a:r>
              <a:rPr lang="en-US" dirty="0" err="1"/>
              <a:t>area:year</a:t>
            </a:r>
            <a:r>
              <a:rPr lang="en-US" dirty="0"/>
              <a:t> is treated as a random draw of a normal variable with a mean of zero. </a:t>
            </a:r>
          </a:p>
          <a:p>
            <a:r>
              <a:rPr lang="en-US" dirty="0"/>
              <a:t>Thus the estimated year effect is for a “typical” area</a:t>
            </a:r>
          </a:p>
        </p:txBody>
      </p:sp>
    </p:spTree>
    <p:extLst>
      <p:ext uri="{BB962C8B-B14F-4D97-AF65-F5344CB8AC3E}">
        <p14:creationId xmlns:p14="http://schemas.microsoft.com/office/powerpoint/2010/main" val="33474468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98885-5CF6-7B64-CD89-77F87E658B7F}"/>
              </a:ext>
            </a:extLst>
          </p:cNvPr>
          <p:cNvSpPr>
            <a:spLocks noGrp="1"/>
          </p:cNvSpPr>
          <p:nvPr>
            <p:ph type="title"/>
          </p:nvPr>
        </p:nvSpPr>
        <p:spPr/>
        <p:txBody>
          <a:bodyPr/>
          <a:lstStyle/>
          <a:p>
            <a:r>
              <a:rPr lang="en-US" dirty="0"/>
              <a:t>GAM  and </a:t>
            </a:r>
            <a:r>
              <a:rPr lang="en-US" dirty="0" err="1"/>
              <a:t>geostatistics</a:t>
            </a:r>
            <a:endParaRPr lang="en-US" dirty="0"/>
          </a:p>
        </p:txBody>
      </p:sp>
      <p:sp>
        <p:nvSpPr>
          <p:cNvPr id="3" name="Content Placeholder 2">
            <a:extLst>
              <a:ext uri="{FF2B5EF4-FFF2-40B4-BE49-F238E27FC236}">
                <a16:creationId xmlns:a16="http://schemas.microsoft.com/office/drawing/2014/main" id="{4ECF6F80-D5D4-1CE9-AD58-D60A9CBC1022}"/>
              </a:ext>
            </a:extLst>
          </p:cNvPr>
          <p:cNvSpPr>
            <a:spLocks noGrp="1"/>
          </p:cNvSpPr>
          <p:nvPr>
            <p:ph idx="1"/>
          </p:nvPr>
        </p:nvSpPr>
        <p:spPr/>
        <p:txBody>
          <a:bodyPr/>
          <a:lstStyle/>
          <a:p>
            <a:r>
              <a:rPr lang="en-US" dirty="0"/>
              <a:t>GAM (</a:t>
            </a:r>
            <a:r>
              <a:rPr lang="en-US" dirty="0" err="1"/>
              <a:t>mgcv</a:t>
            </a:r>
            <a:r>
              <a:rPr lang="en-US" dirty="0"/>
              <a:t> library)</a:t>
            </a:r>
          </a:p>
          <a:p>
            <a:pPr lvl="1"/>
            <a:r>
              <a:rPr lang="en-US" dirty="0"/>
              <a:t>Make smooth on latitude and longitude</a:t>
            </a:r>
          </a:p>
          <a:p>
            <a:pPr lvl="1"/>
            <a:r>
              <a:rPr lang="en-US" dirty="0"/>
              <a:t>Models pattern of species in space so that the year effect is not affected by where the data happen to be each year. </a:t>
            </a:r>
          </a:p>
          <a:p>
            <a:r>
              <a:rPr lang="en-US" dirty="0"/>
              <a:t>Geostatistical models (</a:t>
            </a:r>
            <a:r>
              <a:rPr lang="en-US" dirty="0" err="1"/>
              <a:t>sdmTMB</a:t>
            </a:r>
            <a:r>
              <a:rPr lang="en-US" dirty="0"/>
              <a:t> library)</a:t>
            </a:r>
          </a:p>
          <a:p>
            <a:pPr lvl="1"/>
            <a:r>
              <a:rPr lang="en-US" dirty="0"/>
              <a:t>Same with more complex model of the correlation as a function of distance</a:t>
            </a:r>
          </a:p>
          <a:p>
            <a:pPr lvl="1"/>
            <a:r>
              <a:rPr lang="en-US" dirty="0"/>
              <a:t>Integrates local density across landscape to get annual index</a:t>
            </a:r>
          </a:p>
          <a:p>
            <a:endParaRPr lang="en-US" dirty="0"/>
          </a:p>
        </p:txBody>
      </p:sp>
    </p:spTree>
    <p:extLst>
      <p:ext uri="{BB962C8B-B14F-4D97-AF65-F5344CB8AC3E}">
        <p14:creationId xmlns:p14="http://schemas.microsoft.com/office/powerpoint/2010/main" val="6027418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68833-2ADF-7185-3D18-93C3B10DDD79}"/>
              </a:ext>
            </a:extLst>
          </p:cNvPr>
          <p:cNvSpPr>
            <a:spLocks noGrp="1"/>
          </p:cNvSpPr>
          <p:nvPr>
            <p:ph type="title"/>
          </p:nvPr>
        </p:nvSpPr>
        <p:spPr/>
        <p:txBody>
          <a:bodyPr/>
          <a:lstStyle/>
          <a:p>
            <a:r>
              <a:rPr lang="en-US" dirty="0"/>
              <a:t>GAM on </a:t>
            </a:r>
            <a:r>
              <a:rPr lang="en-US" dirty="0" err="1"/>
              <a:t>lon</a:t>
            </a:r>
            <a:r>
              <a:rPr lang="en-US" dirty="0"/>
              <a:t>/</a:t>
            </a:r>
            <a:r>
              <a:rPr lang="en-US" dirty="0" err="1"/>
              <a:t>lat</a:t>
            </a:r>
            <a:endParaRPr lang="en-US" dirty="0"/>
          </a:p>
        </p:txBody>
      </p:sp>
      <p:pic>
        <p:nvPicPr>
          <p:cNvPr id="15362" name="Picture 2">
            <a:extLst>
              <a:ext uri="{FF2B5EF4-FFF2-40B4-BE49-F238E27FC236}">
                <a16:creationId xmlns:a16="http://schemas.microsoft.com/office/drawing/2014/main" id="{6784BE0A-C842-A04A-74D4-4563AE6DD9B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576" y="1272365"/>
            <a:ext cx="6400847" cy="4572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7312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lose-up of a fish&#10;&#10;Description automatically generated">
            <a:extLst>
              <a:ext uri="{FF2B5EF4-FFF2-40B4-BE49-F238E27FC236}">
                <a16:creationId xmlns:a16="http://schemas.microsoft.com/office/drawing/2014/main" id="{97CA633A-5A64-4BB7-BA4F-9F3EC84E1B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3576" y="5257800"/>
            <a:ext cx="2190737" cy="1460491"/>
          </a:xfrm>
          <a:prstGeom prst="rect">
            <a:avLst/>
          </a:prstGeom>
        </p:spPr>
      </p:pic>
      <p:sp>
        <p:nvSpPr>
          <p:cNvPr id="2" name="Title 1">
            <a:extLst>
              <a:ext uri="{FF2B5EF4-FFF2-40B4-BE49-F238E27FC236}">
                <a16:creationId xmlns:a16="http://schemas.microsoft.com/office/drawing/2014/main" id="{FE84C7AB-2512-4BB5-8AA6-011E3EA244D8}"/>
              </a:ext>
            </a:extLst>
          </p:cNvPr>
          <p:cNvSpPr>
            <a:spLocks noGrp="1"/>
          </p:cNvSpPr>
          <p:nvPr>
            <p:ph type="title"/>
          </p:nvPr>
        </p:nvSpPr>
        <p:spPr/>
        <p:txBody>
          <a:bodyPr>
            <a:normAutofit fontScale="90000"/>
          </a:bodyPr>
          <a:lstStyle/>
          <a:p>
            <a:r>
              <a:rPr lang="en-US" dirty="0"/>
              <a:t>The bycatch problem in fisheries</a:t>
            </a:r>
          </a:p>
        </p:txBody>
      </p:sp>
      <p:sp>
        <p:nvSpPr>
          <p:cNvPr id="3" name="Content Placeholder 2">
            <a:extLst>
              <a:ext uri="{FF2B5EF4-FFF2-40B4-BE49-F238E27FC236}">
                <a16:creationId xmlns:a16="http://schemas.microsoft.com/office/drawing/2014/main" id="{3EE7AA60-603E-44C9-8B86-AECF8CB80B9F}"/>
              </a:ext>
            </a:extLst>
          </p:cNvPr>
          <p:cNvSpPr>
            <a:spLocks noGrp="1"/>
          </p:cNvSpPr>
          <p:nvPr>
            <p:ph idx="1"/>
          </p:nvPr>
        </p:nvSpPr>
        <p:spPr>
          <a:xfrm>
            <a:off x="228600" y="792162"/>
            <a:ext cx="7086600" cy="5791200"/>
          </a:xfrm>
        </p:spPr>
        <p:txBody>
          <a:bodyPr>
            <a:normAutofit/>
          </a:bodyPr>
          <a:lstStyle/>
          <a:p>
            <a:r>
              <a:rPr lang="en-US" dirty="0"/>
              <a:t>Bycatch: any catch that is unintentional and generally not retained</a:t>
            </a:r>
          </a:p>
          <a:p>
            <a:r>
              <a:rPr lang="en-US" dirty="0"/>
              <a:t>Protected species</a:t>
            </a:r>
          </a:p>
          <a:p>
            <a:endParaRPr lang="en-US" dirty="0"/>
          </a:p>
          <a:p>
            <a:pPr marL="0" indent="0">
              <a:buNone/>
            </a:pPr>
            <a:endParaRPr lang="en-US" dirty="0"/>
          </a:p>
          <a:p>
            <a:r>
              <a:rPr lang="en-US" dirty="0"/>
              <a:t>Prohibited species</a:t>
            </a:r>
          </a:p>
          <a:p>
            <a:endParaRPr lang="en-US" dirty="0"/>
          </a:p>
          <a:p>
            <a:endParaRPr lang="en-US" dirty="0"/>
          </a:p>
          <a:p>
            <a:r>
              <a:rPr lang="en-US" dirty="0"/>
              <a:t>Discards </a:t>
            </a:r>
          </a:p>
        </p:txBody>
      </p:sp>
      <p:pic>
        <p:nvPicPr>
          <p:cNvPr id="4" name="Picture 3">
            <a:extLst>
              <a:ext uri="{FF2B5EF4-FFF2-40B4-BE49-F238E27FC236}">
                <a16:creationId xmlns:a16="http://schemas.microsoft.com/office/drawing/2014/main" id="{25E7571C-8061-4405-AE4C-06766C3224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1907969"/>
            <a:ext cx="2190737" cy="1460492"/>
          </a:xfrm>
          <a:prstGeom prst="rect">
            <a:avLst/>
          </a:prstGeom>
        </p:spPr>
      </p:pic>
      <p:pic>
        <p:nvPicPr>
          <p:cNvPr id="7" name="Picture 6" descr="A shark with a black background&#10;&#10;Description automatically generated">
            <a:extLst>
              <a:ext uri="{FF2B5EF4-FFF2-40B4-BE49-F238E27FC236}">
                <a16:creationId xmlns:a16="http://schemas.microsoft.com/office/drawing/2014/main" id="{900AC587-4357-458C-BA30-80215B05E5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42326" y="3505200"/>
            <a:ext cx="2514124" cy="1678178"/>
          </a:xfrm>
          <a:prstGeom prst="rect">
            <a:avLst/>
          </a:prstGeom>
        </p:spPr>
      </p:pic>
    </p:spTree>
    <p:extLst>
      <p:ext uri="{BB962C8B-B14F-4D97-AF65-F5344CB8AC3E}">
        <p14:creationId xmlns:p14="http://schemas.microsoft.com/office/powerpoint/2010/main" val="9341383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2DD9B-96DF-4A4A-B63B-C2A5CC00DAFD}"/>
              </a:ext>
            </a:extLst>
          </p:cNvPr>
          <p:cNvSpPr>
            <a:spLocks noGrp="1"/>
          </p:cNvSpPr>
          <p:nvPr>
            <p:ph type="title"/>
          </p:nvPr>
        </p:nvSpPr>
        <p:spPr/>
        <p:txBody>
          <a:bodyPr>
            <a:normAutofit fontScale="90000"/>
          </a:bodyPr>
          <a:lstStyle/>
          <a:p>
            <a:r>
              <a:rPr lang="en-US" dirty="0"/>
              <a:t>Total bycatch estimation</a:t>
            </a:r>
          </a:p>
        </p:txBody>
      </p:sp>
      <p:sp>
        <p:nvSpPr>
          <p:cNvPr id="3" name="Content Placeholder 2">
            <a:extLst>
              <a:ext uri="{FF2B5EF4-FFF2-40B4-BE49-F238E27FC236}">
                <a16:creationId xmlns:a16="http://schemas.microsoft.com/office/drawing/2014/main" id="{CEA36D65-6EF1-49C4-A67D-99980F2C7608}"/>
              </a:ext>
            </a:extLst>
          </p:cNvPr>
          <p:cNvSpPr>
            <a:spLocks noGrp="1"/>
          </p:cNvSpPr>
          <p:nvPr>
            <p:ph idx="1"/>
          </p:nvPr>
        </p:nvSpPr>
        <p:spPr>
          <a:xfrm>
            <a:off x="76200" y="838200"/>
            <a:ext cx="3657600" cy="5302711"/>
          </a:xfrm>
        </p:spPr>
        <p:txBody>
          <a:bodyPr>
            <a:normAutofit fontScale="92500" lnSpcReduction="10000"/>
          </a:bodyPr>
          <a:lstStyle/>
          <a:p>
            <a:r>
              <a:rPr lang="en-US" dirty="0"/>
              <a:t>Need good estimates of total bycatch mortality for </a:t>
            </a:r>
          </a:p>
          <a:p>
            <a:pPr lvl="1"/>
            <a:r>
              <a:rPr lang="en-US" dirty="0"/>
              <a:t>endangered species assessments</a:t>
            </a:r>
          </a:p>
          <a:p>
            <a:pPr lvl="1"/>
            <a:r>
              <a:rPr lang="en-US" dirty="0"/>
              <a:t>fishery stock assessments</a:t>
            </a:r>
          </a:p>
          <a:p>
            <a:r>
              <a:rPr lang="en-US" dirty="0"/>
              <a:t>Observer data for bycatch rates</a:t>
            </a:r>
          </a:p>
          <a:p>
            <a:r>
              <a:rPr lang="en-US" dirty="0"/>
              <a:t>Logbooks for total effort</a:t>
            </a:r>
          </a:p>
          <a:p>
            <a:endParaRPr lang="en-US" dirty="0"/>
          </a:p>
        </p:txBody>
      </p:sp>
      <p:pic>
        <p:nvPicPr>
          <p:cNvPr id="4" name="Content Placeholder 4">
            <a:extLst>
              <a:ext uri="{FF2B5EF4-FFF2-40B4-BE49-F238E27FC236}">
                <a16:creationId xmlns:a16="http://schemas.microsoft.com/office/drawing/2014/main" id="{2FC37B4F-FAA1-492D-959B-758D3792D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62400" y="838200"/>
            <a:ext cx="4918328" cy="3321511"/>
          </a:xfrm>
          <a:prstGeom prst="rect">
            <a:avLst/>
          </a:prstGeom>
        </p:spPr>
      </p:pic>
      <p:sp>
        <p:nvSpPr>
          <p:cNvPr id="6" name="TextBox 5">
            <a:extLst>
              <a:ext uri="{FF2B5EF4-FFF2-40B4-BE49-F238E27FC236}">
                <a16:creationId xmlns:a16="http://schemas.microsoft.com/office/drawing/2014/main" id="{BB142BCC-5B4F-4C95-8517-BBE626B90F8E}"/>
              </a:ext>
            </a:extLst>
          </p:cNvPr>
          <p:cNvSpPr txBox="1"/>
          <p:nvPr/>
        </p:nvSpPr>
        <p:spPr>
          <a:xfrm>
            <a:off x="76200" y="6324600"/>
            <a:ext cx="8880728" cy="369332"/>
          </a:xfrm>
          <a:prstGeom prst="rect">
            <a:avLst/>
          </a:prstGeom>
          <a:noFill/>
        </p:spPr>
        <p:txBody>
          <a:bodyPr wrap="square">
            <a:spAutoFit/>
          </a:bodyPr>
          <a:lstStyle/>
          <a:p>
            <a:r>
              <a:rPr lang="en-US" dirty="0"/>
              <a:t>noaa.gov</a:t>
            </a:r>
          </a:p>
        </p:txBody>
      </p:sp>
    </p:spTree>
    <p:extLst>
      <p:ext uri="{BB962C8B-B14F-4D97-AF65-F5344CB8AC3E}">
        <p14:creationId xmlns:p14="http://schemas.microsoft.com/office/powerpoint/2010/main" val="7425154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3F8E8-12C7-4F21-A15C-5C06C349036A}"/>
              </a:ext>
            </a:extLst>
          </p:cNvPr>
          <p:cNvSpPr>
            <a:spLocks noGrp="1"/>
          </p:cNvSpPr>
          <p:nvPr>
            <p:ph type="title"/>
          </p:nvPr>
        </p:nvSpPr>
        <p:spPr/>
        <p:txBody>
          <a:bodyPr>
            <a:normAutofit fontScale="90000"/>
          </a:bodyPr>
          <a:lstStyle/>
          <a:p>
            <a:r>
              <a:rPr lang="en-US" dirty="0"/>
              <a:t>Total bycatch estimation </a:t>
            </a:r>
          </a:p>
        </p:txBody>
      </p:sp>
      <p:graphicFrame>
        <p:nvGraphicFramePr>
          <p:cNvPr id="6" name="Content Placeholder 5">
            <a:extLst>
              <a:ext uri="{FF2B5EF4-FFF2-40B4-BE49-F238E27FC236}">
                <a16:creationId xmlns:a16="http://schemas.microsoft.com/office/drawing/2014/main" id="{DC88BDE8-DE25-4B90-84E8-996B96D1021F}"/>
              </a:ext>
            </a:extLst>
          </p:cNvPr>
          <p:cNvGraphicFramePr>
            <a:graphicFrameLocks noGrp="1"/>
          </p:cNvGraphicFramePr>
          <p:nvPr>
            <p:ph idx="1"/>
          </p:nvPr>
        </p:nvGraphicFramePr>
        <p:xfrm>
          <a:off x="457200" y="838200"/>
          <a:ext cx="8229600" cy="5287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50435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37D0E-DEAF-4546-AD80-50E35195538A}"/>
              </a:ext>
            </a:extLst>
          </p:cNvPr>
          <p:cNvSpPr>
            <a:spLocks noGrp="1"/>
          </p:cNvSpPr>
          <p:nvPr>
            <p:ph type="title"/>
          </p:nvPr>
        </p:nvSpPr>
        <p:spPr/>
        <p:txBody>
          <a:bodyPr>
            <a:normAutofit fontScale="90000"/>
          </a:bodyPr>
          <a:lstStyle/>
          <a:p>
            <a:r>
              <a:rPr lang="en-US" dirty="0"/>
              <a:t>Kinds of estimation </a:t>
            </a:r>
            <a:r>
              <a:rPr lang="en-US" dirty="0" err="1"/>
              <a:t>mothods</a:t>
            </a:r>
            <a:endParaRPr lang="en-US" dirty="0"/>
          </a:p>
        </p:txBody>
      </p:sp>
      <p:sp>
        <p:nvSpPr>
          <p:cNvPr id="3" name="Content Placeholder 2">
            <a:extLst>
              <a:ext uri="{FF2B5EF4-FFF2-40B4-BE49-F238E27FC236}">
                <a16:creationId xmlns:a16="http://schemas.microsoft.com/office/drawing/2014/main" id="{63B0A3F8-86CE-4CC4-AB8B-0EC1C63AD406}"/>
              </a:ext>
            </a:extLst>
          </p:cNvPr>
          <p:cNvSpPr>
            <a:spLocks noGrp="1"/>
          </p:cNvSpPr>
          <p:nvPr>
            <p:ph idx="1"/>
          </p:nvPr>
        </p:nvSpPr>
        <p:spPr>
          <a:xfrm>
            <a:off x="457200" y="1066800"/>
            <a:ext cx="8077200" cy="5059363"/>
          </a:xfrm>
        </p:spPr>
        <p:txBody>
          <a:bodyPr/>
          <a:lstStyle/>
          <a:p>
            <a:r>
              <a:rPr lang="en-US" dirty="0"/>
              <a:t>Design-based estimators </a:t>
            </a:r>
          </a:p>
          <a:p>
            <a:pPr lvl="1"/>
            <a:r>
              <a:rPr lang="en-US" dirty="0"/>
              <a:t>directly from data</a:t>
            </a:r>
          </a:p>
          <a:p>
            <a:r>
              <a:rPr lang="en-US" dirty="0"/>
              <a:t>Model-based methods </a:t>
            </a:r>
          </a:p>
          <a:p>
            <a:pPr lvl="1"/>
            <a:r>
              <a:rPr lang="en-US" dirty="0"/>
              <a:t>prediction from a statistical model</a:t>
            </a:r>
          </a:p>
        </p:txBody>
      </p:sp>
    </p:spTree>
    <p:extLst>
      <p:ext uri="{BB962C8B-B14F-4D97-AF65-F5344CB8AC3E}">
        <p14:creationId xmlns:p14="http://schemas.microsoft.com/office/powerpoint/2010/main" val="34825999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up of a fish&#10;&#10;Description automatically generated">
            <a:extLst>
              <a:ext uri="{FF2B5EF4-FFF2-40B4-BE49-F238E27FC236}">
                <a16:creationId xmlns:a16="http://schemas.microsoft.com/office/drawing/2014/main" id="{A156156A-C57E-35B7-5250-87D6BEBE38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05600" y="5289554"/>
            <a:ext cx="2190737" cy="1460491"/>
          </a:xfrm>
          <a:prstGeom prst="rect">
            <a:avLst/>
          </a:prstGeom>
        </p:spPr>
      </p:pic>
      <p:sp>
        <p:nvSpPr>
          <p:cNvPr id="2" name="Title 1">
            <a:extLst>
              <a:ext uri="{FF2B5EF4-FFF2-40B4-BE49-F238E27FC236}">
                <a16:creationId xmlns:a16="http://schemas.microsoft.com/office/drawing/2014/main" id="{2F391650-81DE-4879-B4FE-3C2ADA7D7D11}"/>
              </a:ext>
            </a:extLst>
          </p:cNvPr>
          <p:cNvSpPr>
            <a:spLocks noGrp="1"/>
          </p:cNvSpPr>
          <p:nvPr>
            <p:ph type="title"/>
          </p:nvPr>
        </p:nvSpPr>
        <p:spPr/>
        <p:txBody>
          <a:bodyPr>
            <a:normAutofit fontScale="90000"/>
          </a:bodyPr>
          <a:lstStyle/>
          <a:p>
            <a:r>
              <a:rPr lang="en-US"/>
              <a:t>Stratified ratio estimator (design-based)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E4C337-7143-4455-A1F7-4173847F4187}"/>
                  </a:ext>
                </a:extLst>
              </p:cNvPr>
              <p:cNvSpPr>
                <a:spLocks noGrp="1"/>
              </p:cNvSpPr>
              <p:nvPr>
                <p:ph idx="1"/>
              </p:nvPr>
            </p:nvSpPr>
            <p:spPr/>
            <p:txBody>
              <a:bodyPr>
                <a:normAutofit/>
              </a:bodyPr>
              <a:lstStyle/>
              <a:p>
                <a:r>
                  <a:rPr lang="en-US" dirty="0">
                    <a:solidFill>
                      <a:srgbClr val="333333"/>
                    </a:solidFill>
                    <a:effectLst/>
                    <a:latin typeface="Times New Roman" panose="02020603050405020304" pitchFamily="18" charset="0"/>
                    <a:ea typeface="Times New Roman" panose="02020603050405020304" pitchFamily="18" charset="0"/>
                  </a:rPr>
                  <a:t>stratum= area, year, season, gear etc. in observer program sampling design</a:t>
                </a:r>
              </a:p>
              <a:p>
                <a:pPr marL="0" indent="0">
                  <a:buNone/>
                </a:pPr>
                <a:endParaRPr lang="en-US" dirty="0">
                  <a:solidFill>
                    <a:srgbClr val="333333"/>
                  </a:solidFill>
                  <a:latin typeface="Times New Roman" panose="02020603050405020304" pitchFamily="18" charset="0"/>
                  <a:ea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rgbClr val="333333"/>
                          </a:solidFill>
                          <a:latin typeface="Cambria Math" panose="02040503050406030204" pitchFamily="18" charset="0"/>
                        </a:rPr>
                        <m:t>𝑅𝑎𝑡𝑖</m:t>
                      </m:r>
                      <m:sSub>
                        <m:sSubPr>
                          <m:ctrlPr>
                            <a:rPr lang="en-US" b="0" i="1" smtClean="0">
                              <a:solidFill>
                                <a:srgbClr val="333333"/>
                              </a:solidFill>
                              <a:latin typeface="Cambria Math" panose="02040503050406030204" pitchFamily="18" charset="0"/>
                            </a:rPr>
                          </m:ctrlPr>
                        </m:sSubPr>
                        <m:e>
                          <m:r>
                            <a:rPr lang="en-US" b="0" i="1" smtClean="0">
                              <a:solidFill>
                                <a:srgbClr val="333333"/>
                              </a:solidFill>
                              <a:latin typeface="Cambria Math" panose="02040503050406030204" pitchFamily="18" charset="0"/>
                            </a:rPr>
                            <m:t>𝑜</m:t>
                          </m:r>
                        </m:e>
                        <m:sub>
                          <m:r>
                            <a:rPr lang="en-US" b="0" i="1" smtClean="0">
                              <a:solidFill>
                                <a:srgbClr val="333333"/>
                              </a:solidFill>
                              <a:latin typeface="Cambria Math" panose="02040503050406030204" pitchFamily="18" charset="0"/>
                            </a:rPr>
                            <m:t>𝑠</m:t>
                          </m:r>
                        </m:sub>
                      </m:sSub>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𝑜𝑏𝑠𝑒𝑟𝑣𝑒𝑑</m:t>
                          </m:r>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 </m:t>
                          </m:r>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𝑏𝑦𝑐𝑎𝑡𝑐</m:t>
                          </m:r>
                          <m:sSub>
                            <m:sSubPr>
                              <m:ctrlP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h</m:t>
                              </m:r>
                            </m:e>
                            <m:sub>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𝑠</m:t>
                              </m:r>
                            </m:sub>
                          </m:sSub>
                        </m:num>
                        <m:den>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𝑜𝑏𝑠𝑒𝑟𝑣𝑒𝑟𝑒𝑑</m:t>
                          </m:r>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 </m:t>
                          </m:r>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𝑒𝑓𝑓𝑜𝑟</m:t>
                          </m:r>
                          <m:sSub>
                            <m:sSubPr>
                              <m:ctrlP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𝑡</m:t>
                              </m:r>
                            </m:e>
                            <m:sub>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𝑠</m:t>
                              </m:r>
                            </m:sub>
                          </m:sSub>
                        </m:den>
                      </m:f>
                    </m:oMath>
                  </m:oMathPara>
                </a14:m>
                <a:endParaRPr lang="en-US" dirty="0">
                  <a:solidFill>
                    <a:srgbClr val="333333"/>
                  </a:solidFill>
                  <a:latin typeface="Times New Roman" panose="02020603050405020304" pitchFamily="18" charset="0"/>
                  <a:ea typeface="Times New Roman" panose="02020603050405020304" pitchFamily="18" charset="0"/>
                </a:endParaRPr>
              </a:p>
              <a:p>
                <a:pPr marL="0" indent="0">
                  <a:buNone/>
                </a:pPr>
                <a:endParaRPr lang="en-US" dirty="0">
                  <a:solidFill>
                    <a:srgbClr val="333333"/>
                  </a:solidFill>
                  <a:latin typeface="Times New Roman" panose="02020603050405020304" pitchFamily="18" charset="0"/>
                  <a:ea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i="1" smtClean="0">
                          <a:solidFill>
                            <a:srgbClr val="333333"/>
                          </a:solidFill>
                          <a:effectLst/>
                          <a:latin typeface="Cambria Math" panose="02040503050406030204" pitchFamily="18" charset="0"/>
                        </a:rPr>
                        <m:t>𝐵</m:t>
                      </m:r>
                      <m:r>
                        <a:rPr lang="en-US" b="0" i="1" smtClean="0">
                          <a:solidFill>
                            <a:srgbClr val="333333"/>
                          </a:solidFill>
                          <a:effectLst/>
                          <a:latin typeface="Cambria Math" panose="02040503050406030204" pitchFamily="18" charset="0"/>
                        </a:rPr>
                        <m:t>𝑦𝑐𝑎𝑡𝑐h</m:t>
                      </m:r>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𝑠𝑢</m:t>
                      </m:r>
                      <m:sSub>
                        <m:sSubPr>
                          <m:ctrlPr>
                            <a:rPr lang="en-US" b="0" i="1" smtClean="0">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b>
                          <m:r>
                            <a:rPr lang="en-US" b="0" i="1" smtClean="0">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𝑠𝑡𝑟𝑎𝑡𝑎</m:t>
                          </m:r>
                        </m:sub>
                      </m:sSub>
                      <m:d>
                        <m:dPr>
                          <m:ctrlPr>
                            <a:rPr lang="en-US" b="0" i="1" smtClean="0">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0" i="1" smtClean="0">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𝑟𝑎𝑡𝑖</m:t>
                          </m:r>
                          <m:sSub>
                            <m:sSubPr>
                              <m:ctrlPr>
                                <a:rPr lang="en-US" b="0" i="1" smtClean="0">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𝑜</m:t>
                              </m:r>
                            </m:e>
                            <m:sub>
                              <m:r>
                                <a:rPr lang="en-US" b="0" i="1" smtClean="0">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𝑠</m:t>
                              </m:r>
                            </m:sub>
                          </m:sSub>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𝑒𝑓𝑓𝑜𝑟</m:t>
                          </m:r>
                          <m:sSub>
                            <m:sSubPr>
                              <m:ctrlP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𝑡</m:t>
                              </m:r>
                            </m:e>
                            <m:sub>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𝑠</m:t>
                              </m:r>
                            </m:sub>
                          </m:sSub>
                        </m:e>
                      </m:d>
                    </m:oMath>
                  </m:oMathPara>
                </a14:m>
                <a:endParaRPr lang="en-US" dirty="0">
                  <a:solidFill>
                    <a:srgbClr val="333333"/>
                  </a:solidFill>
                  <a:latin typeface="Times New Roman" panose="02020603050405020304" pitchFamily="18" charset="0"/>
                  <a:ea typeface="Times New Roman" panose="02020603050405020304" pitchFamily="18" charset="0"/>
                </a:endParaRPr>
              </a:p>
              <a:p>
                <a:pPr marL="0" indent="0">
                  <a:buNone/>
                </a:pPr>
                <a:endParaRPr lang="en-US" dirty="0">
                  <a:solidFill>
                    <a:srgbClr val="333333"/>
                  </a:solidFill>
                  <a:latin typeface="Times New Roman" panose="02020603050405020304" pitchFamily="18" charset="0"/>
                  <a:ea typeface="Times New Roman" panose="02020603050405020304" pitchFamily="18" charset="0"/>
                </a:endParaRPr>
              </a:p>
              <a:p>
                <a:r>
                  <a:rPr lang="en-US" dirty="0">
                    <a:solidFill>
                      <a:srgbClr val="333333"/>
                    </a:solidFill>
                    <a:latin typeface="Times New Roman" panose="02020603050405020304" pitchFamily="18" charset="0"/>
                    <a:ea typeface="Times New Roman" panose="02020603050405020304" pitchFamily="18" charset="0"/>
                  </a:rPr>
                  <a:t>Ad hoc methods to fill in unsampled strata</a:t>
                </a:r>
              </a:p>
              <a:p>
                <a:pPr lvl="1"/>
                <a:r>
                  <a:rPr lang="en-US" dirty="0">
                    <a:solidFill>
                      <a:srgbClr val="333333"/>
                    </a:solidFill>
                    <a:latin typeface="Times New Roman" panose="02020603050405020304" pitchFamily="18" charset="0"/>
                    <a:ea typeface="Times New Roman" panose="02020603050405020304" pitchFamily="18" charset="0"/>
                  </a:rPr>
                  <a:t>e.g. pool strata with no observer samples</a:t>
                </a:r>
              </a:p>
              <a:p>
                <a:pPr marL="457200" lvl="1" indent="0">
                  <a:buNone/>
                </a:pPr>
                <a:endParaRPr lang="en-US" dirty="0">
                  <a:solidFill>
                    <a:srgbClr val="333333"/>
                  </a:solidFill>
                  <a:latin typeface="Times New Roman" panose="02020603050405020304" pitchFamily="18" charset="0"/>
                  <a:ea typeface="Times New Roman" panose="02020603050405020304" pitchFamily="18" charset="0"/>
                </a:endParaRPr>
              </a:p>
              <a:p>
                <a:pPr marL="0" indent="0">
                  <a:buNone/>
                </a:pPr>
                <a:endParaRPr lang="en-US" sz="2000" dirty="0">
                  <a:solidFill>
                    <a:srgbClr val="333333"/>
                  </a:solidFill>
                  <a:effectLst/>
                  <a:latin typeface="Times New Roman" panose="02020603050405020304" pitchFamily="18" charset="0"/>
                  <a:ea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B9E4C337-7143-4455-A1F7-4173847F4187}"/>
                  </a:ext>
                </a:extLst>
              </p:cNvPr>
              <p:cNvSpPr>
                <a:spLocks noGrp="1" noRot="1" noChangeAspect="1" noMove="1" noResize="1" noEditPoints="1" noAdjustHandles="1" noChangeArrowheads="1" noChangeShapeType="1" noTextEdit="1"/>
              </p:cNvSpPr>
              <p:nvPr>
                <p:ph idx="1"/>
              </p:nvPr>
            </p:nvSpPr>
            <p:spPr>
              <a:blipFill>
                <a:blip r:embed="rId3"/>
                <a:stretch>
                  <a:fillRect l="-1481" t="-1544" b="-2969"/>
                </a:stretch>
              </a:blipFill>
            </p:spPr>
            <p:txBody>
              <a:bodyPr/>
              <a:lstStyle/>
              <a:p>
                <a:r>
                  <a:rPr lang="en-US">
                    <a:noFill/>
                  </a:rPr>
                  <a:t> </a:t>
                </a:r>
              </a:p>
            </p:txBody>
          </p:sp>
        </mc:Fallback>
      </mc:AlternateContent>
    </p:spTree>
    <p:extLst>
      <p:ext uri="{BB962C8B-B14F-4D97-AF65-F5344CB8AC3E}">
        <p14:creationId xmlns:p14="http://schemas.microsoft.com/office/powerpoint/2010/main" val="25700530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1D253B-FCB5-4E46-8F04-770330C3733A}"/>
              </a:ext>
            </a:extLst>
          </p:cNvPr>
          <p:cNvSpPr>
            <a:spLocks noGrp="1"/>
          </p:cNvSpPr>
          <p:nvPr>
            <p:ph type="title"/>
          </p:nvPr>
        </p:nvSpPr>
        <p:spPr/>
        <p:txBody>
          <a:bodyPr>
            <a:normAutofit fontScale="90000"/>
          </a:bodyPr>
          <a:lstStyle/>
          <a:p>
            <a:r>
              <a:rPr lang="en-US" dirty="0"/>
              <a:t>Model based estimation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AE6DCCEB-AA4C-4ADE-AFCC-2ACCB69DE158}"/>
                  </a:ext>
                </a:extLst>
              </p:cNvPr>
              <p:cNvSpPr>
                <a:spLocks noGrp="1"/>
              </p:cNvSpPr>
              <p:nvPr>
                <p:ph idx="1"/>
              </p:nvPr>
            </p:nvSpPr>
            <p:spPr>
              <a:xfrm>
                <a:off x="76200" y="762000"/>
                <a:ext cx="8991600" cy="5364163"/>
              </a:xfrm>
            </p:spPr>
            <p:txBody>
              <a:bodyPr/>
              <a:lstStyle/>
              <a:p>
                <a:r>
                  <a:rPr lang="en-US" dirty="0"/>
                  <a:t>Uses a generalized linear model to estimate predicted bycatch rate (bycatch/effort) per stratum by set or trip</a:t>
                </a:r>
              </a:p>
              <a:p>
                <a:pPr marL="0" indent="0">
                  <a:buNone/>
                </a:pPr>
                <a:r>
                  <a:rPr lang="en-US" i="1" dirty="0"/>
                  <a:t>	Log(mean rate)= </a:t>
                </a:r>
                <a:r>
                  <a:rPr lang="en-US" i="1" dirty="0" err="1"/>
                  <a:t>year+season+area+depth</a:t>
                </a:r>
                <a:endParaRPr lang="en-US" i="1" dirty="0"/>
              </a:p>
              <a:p>
                <a:r>
                  <a:rPr lang="en-US" dirty="0"/>
                  <a:t>Use model predicted bycatch rate in expansion</a:t>
                </a:r>
              </a:p>
              <a:p>
                <a:pPr marL="0" indent="0">
                  <a:buNone/>
                </a:pPr>
                <a:endParaRPr lang="en-US" dirty="0"/>
              </a:p>
              <a:p>
                <a:pPr marL="0" indent="0">
                  <a:buNone/>
                </a:pPr>
                <a:r>
                  <a:rPr lang="en-US" dirty="0">
                    <a:solidFill>
                      <a:srgbClr val="333333"/>
                    </a:solidFill>
                  </a:rPr>
                  <a:t> </a:t>
                </a:r>
                <a14:m>
                  <m:oMath xmlns:m="http://schemas.openxmlformats.org/officeDocument/2006/math">
                    <m:r>
                      <a:rPr lang="en-US" i="1" smtClean="0">
                        <a:solidFill>
                          <a:srgbClr val="333333"/>
                        </a:solidFill>
                        <a:latin typeface="Cambria Math" panose="02040503050406030204" pitchFamily="18" charset="0"/>
                      </a:rPr>
                      <m:t>𝐵𝑦𝑐𝑎𝑡𝑐h</m:t>
                    </m:r>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𝑠𝑢</m:t>
                    </m:r>
                    <m:sSub>
                      <m:sSubPr>
                        <m:ctrlP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𝑚</m:t>
                        </m:r>
                      </m:e>
                      <m:sub>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𝑠𝑡𝑟𝑎𝑡𝑎</m:t>
                        </m:r>
                      </m:sub>
                    </m:sSub>
                    <m:d>
                      <m:dPr>
                        <m:ctrlP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𝑝𝑟𝑒𝑑𝑖𝑐𝑡𝑒𝑑</m:t>
                            </m:r>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 </m:t>
                            </m:r>
                            <m:r>
                              <a:rPr lang="en-US" b="0" i="1" smtClean="0">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𝑟𝑎𝑡𝑒</m:t>
                            </m:r>
                          </m:e>
                          <m:sub>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𝑠</m:t>
                            </m:r>
                          </m:sub>
                        </m:sSub>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𝑒𝑓𝑓𝑜𝑟</m:t>
                        </m:r>
                        <m:sSub>
                          <m:sSubPr>
                            <m:ctrlP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𝑡</m:t>
                            </m:r>
                          </m:e>
                          <m:sub>
                            <m:r>
                              <a:rPr lang="en-US" i="1">
                                <a:solidFill>
                                  <a:srgbClr val="333333"/>
                                </a:solidFill>
                                <a:latin typeface="Cambria Math" panose="02040503050406030204" pitchFamily="18" charset="0"/>
                                <a:ea typeface="Times New Roman" panose="02020603050405020304" pitchFamily="18" charset="0"/>
                                <a:cs typeface="Times New Roman" panose="02020603050405020304" pitchFamily="18" charset="0"/>
                              </a:rPr>
                              <m:t>𝑠</m:t>
                            </m:r>
                          </m:sub>
                        </m:sSub>
                      </m:e>
                    </m:d>
                  </m:oMath>
                </a14:m>
                <a:endParaRPr lang="en-US" dirty="0"/>
              </a:p>
              <a:p>
                <a:pPr marL="0" indent="0">
                  <a:buNone/>
                </a:pPr>
                <a:endParaRPr lang="en-US" dirty="0"/>
              </a:p>
              <a:p>
                <a:pPr marL="0" indent="0">
                  <a:buNone/>
                </a:pPr>
                <a:endParaRPr lang="en-US" dirty="0"/>
              </a:p>
              <a:p>
                <a:pPr marL="0" indent="0">
                  <a:buNone/>
                </a:pPr>
                <a:endParaRPr lang="en-US" dirty="0"/>
              </a:p>
              <a:p>
                <a:endParaRPr lang="en-US" dirty="0"/>
              </a:p>
              <a:p>
                <a:pPr marL="0" indent="0">
                  <a:buNone/>
                </a:pPr>
                <a:endParaRPr lang="en-US" dirty="0"/>
              </a:p>
              <a:p>
                <a:pPr marL="0" indent="0">
                  <a:buNone/>
                </a:pPr>
                <a:endParaRPr lang="en-US" dirty="0"/>
              </a:p>
            </p:txBody>
          </p:sp>
        </mc:Choice>
        <mc:Fallback xmlns="">
          <p:sp>
            <p:nvSpPr>
              <p:cNvPr id="6" name="Content Placeholder 5">
                <a:extLst>
                  <a:ext uri="{FF2B5EF4-FFF2-40B4-BE49-F238E27FC236}">
                    <a16:creationId xmlns:a16="http://schemas.microsoft.com/office/drawing/2014/main" id="{AE6DCCEB-AA4C-4ADE-AFCC-2ACCB69DE158}"/>
                  </a:ext>
                </a:extLst>
              </p:cNvPr>
              <p:cNvSpPr>
                <a:spLocks noGrp="1" noRot="1" noChangeAspect="1" noMove="1" noResize="1" noEditPoints="1" noAdjustHandles="1" noChangeArrowheads="1" noChangeShapeType="1" noTextEdit="1"/>
              </p:cNvSpPr>
              <p:nvPr>
                <p:ph idx="1"/>
              </p:nvPr>
            </p:nvSpPr>
            <p:spPr>
              <a:xfrm>
                <a:off x="76200" y="762000"/>
                <a:ext cx="8991600" cy="5364163"/>
              </a:xfrm>
              <a:blipFill>
                <a:blip r:embed="rId2"/>
                <a:stretch>
                  <a:fillRect l="-1559" t="-1477" r="-2034"/>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B286F1B6-75AF-4A94-8833-6ECD222D7025}"/>
              </a:ext>
            </a:extLst>
          </p:cNvPr>
          <p:cNvSpPr txBox="1"/>
          <p:nvPr/>
        </p:nvSpPr>
        <p:spPr>
          <a:xfrm>
            <a:off x="6324600" y="6400800"/>
            <a:ext cx="2667000" cy="369332"/>
          </a:xfrm>
          <a:prstGeom prst="rect">
            <a:avLst/>
          </a:prstGeom>
          <a:noFill/>
        </p:spPr>
        <p:txBody>
          <a:bodyPr wrap="square" rtlCol="0">
            <a:spAutoFit/>
          </a:bodyPr>
          <a:lstStyle/>
          <a:p>
            <a:r>
              <a:rPr lang="en-US" dirty="0"/>
              <a:t>Babcock et al 2018 </a:t>
            </a:r>
          </a:p>
        </p:txBody>
      </p:sp>
      <p:pic>
        <p:nvPicPr>
          <p:cNvPr id="7" name="Picture 6">
            <a:extLst>
              <a:ext uri="{FF2B5EF4-FFF2-40B4-BE49-F238E27FC236}">
                <a16:creationId xmlns:a16="http://schemas.microsoft.com/office/drawing/2014/main" id="{E0E17A17-EA15-41A9-ABDD-5C4E0F0A30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5283201"/>
            <a:ext cx="2362200" cy="1574799"/>
          </a:xfrm>
          <a:prstGeom prst="rect">
            <a:avLst/>
          </a:prstGeom>
        </p:spPr>
      </p:pic>
    </p:spTree>
    <p:extLst>
      <p:ext uri="{BB962C8B-B14F-4D97-AF65-F5344CB8AC3E}">
        <p14:creationId xmlns:p14="http://schemas.microsoft.com/office/powerpoint/2010/main" val="38338575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91650-81DE-4879-B4FE-3C2ADA7D7D11}"/>
              </a:ext>
            </a:extLst>
          </p:cNvPr>
          <p:cNvSpPr>
            <a:spLocks noGrp="1"/>
          </p:cNvSpPr>
          <p:nvPr>
            <p:ph type="title"/>
          </p:nvPr>
        </p:nvSpPr>
        <p:spPr/>
        <p:txBody>
          <a:bodyPr>
            <a:normAutofit fontScale="90000"/>
          </a:bodyPr>
          <a:lstStyle/>
          <a:p>
            <a:r>
              <a:rPr lang="en-US" dirty="0"/>
              <a:t>Stratified ratio estimator variance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E4C337-7143-4455-A1F7-4173847F4187}"/>
                  </a:ext>
                </a:extLst>
              </p:cNvPr>
              <p:cNvSpPr>
                <a:spLocks noGrp="1"/>
              </p:cNvSpPr>
              <p:nvPr>
                <p:ph idx="1"/>
              </p:nvPr>
            </p:nvSpPr>
            <p:spPr/>
            <p:txBody>
              <a:bodyPr>
                <a:normAutofit/>
              </a:bodyPr>
              <a:lstStyle/>
              <a:p>
                <a14:m>
                  <m:oMath xmlns:m="http://schemas.openxmlformats.org/officeDocument/2006/math">
                    <m:sSub>
                      <m:sSubPr>
                        <m:ctrlPr>
                          <a:rPr lang="en-US" i="1" smtClean="0">
                            <a:solidFill>
                              <a:srgbClr val="333333"/>
                            </a:solidFill>
                            <a:effectLst/>
                            <a:latin typeface="Cambria Math" panose="02040503050406030204" pitchFamily="18" charset="0"/>
                          </a:rPr>
                        </m:ctrlPr>
                      </m:sSubPr>
                      <m:e>
                        <m:acc>
                          <m:accPr>
                            <m:chr m:val="̂"/>
                            <m:ctrlPr>
                              <a:rPr lang="en-US" i="1">
                                <a:solidFill>
                                  <a:srgbClr val="333333"/>
                                </a:solidFill>
                                <a:effectLst/>
                                <a:latin typeface="Cambria Math" panose="02040503050406030204" pitchFamily="18" charset="0"/>
                              </a:rPr>
                            </m:ctrlPr>
                          </m:accPr>
                          <m:e>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𝑅</m:t>
                            </m:r>
                          </m:e>
                        </m:acc>
                      </m:e>
                      <m:sub>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m:t>
                    </m:r>
                    <m:f>
                      <m:fPr>
                        <m:type m:val="skw"/>
                        <m:ctrlPr>
                          <a:rPr lang="en-US" i="1">
                            <a:solidFill>
                              <a:srgbClr val="333333"/>
                            </a:solidFill>
                            <a:effectLst/>
                            <a:latin typeface="Cambria Math" panose="02040503050406030204" pitchFamily="18" charset="0"/>
                          </a:rPr>
                        </m:ctrlPr>
                      </m:fPr>
                      <m:num>
                        <m:sSub>
                          <m:sSubPr>
                            <m:ctrlPr>
                              <a:rPr lang="en-US" i="1">
                                <a:solidFill>
                                  <a:srgbClr val="333333"/>
                                </a:solidFill>
                                <a:effectLst/>
                                <a:latin typeface="Cambria Math" panose="02040503050406030204" pitchFamily="18" charset="0"/>
                              </a:rPr>
                            </m:ctrlPr>
                          </m:sSubPr>
                          <m:e>
                            <m:acc>
                              <m:accPr>
                                <m:chr m:val="̅"/>
                                <m:ctrlPr>
                                  <a:rPr lang="en-US" i="1">
                                    <a:solidFill>
                                      <a:srgbClr val="333333"/>
                                    </a:solidFill>
                                    <a:effectLst/>
                                    <a:latin typeface="Cambria Math" panose="02040503050406030204" pitchFamily="18" charset="0"/>
                                  </a:rPr>
                                </m:ctrlPr>
                              </m:accPr>
                              <m:e>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𝑐</m:t>
                                </m:r>
                              </m:e>
                            </m:acc>
                          </m:e>
                          <m:sub>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num>
                      <m:den>
                        <m:sSub>
                          <m:sSubPr>
                            <m:ctrlPr>
                              <a:rPr lang="en-US" i="1">
                                <a:solidFill>
                                  <a:srgbClr val="333333"/>
                                </a:solidFill>
                                <a:effectLst/>
                                <a:latin typeface="Cambria Math" panose="02040503050406030204" pitchFamily="18" charset="0"/>
                              </a:rPr>
                            </m:ctrlPr>
                          </m:sSubPr>
                          <m:e>
                            <m:acc>
                              <m:accPr>
                                <m:chr m:val="̅"/>
                                <m:ctrlPr>
                                  <a:rPr lang="en-US" i="1">
                                    <a:solidFill>
                                      <a:srgbClr val="333333"/>
                                    </a:solidFill>
                                    <a:effectLst/>
                                    <a:latin typeface="Cambria Math" panose="02040503050406030204" pitchFamily="18" charset="0"/>
                                  </a:rPr>
                                </m:ctrlPr>
                              </m:accPr>
                              <m:e>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𝑒</m:t>
                                </m:r>
                              </m:e>
                            </m:acc>
                          </m:e>
                          <m:sub>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den>
                    </m:f>
                  </m:oMath>
                </a14:m>
                <a:r>
                  <a:rPr lang="en-US" dirty="0">
                    <a:solidFill>
                      <a:srgbClr val="333333"/>
                    </a:solidFill>
                    <a:effectLst/>
                    <a:latin typeface="Times New Roman" panose="02020603050405020304" pitchFamily="18" charset="0"/>
                    <a:ea typeface="Times New Roman" panose="02020603050405020304" pitchFamily="18" charset="0"/>
                  </a:rPr>
                  <a:t> is the observed catch/effort ratio in stratum </a:t>
                </a:r>
                <a:r>
                  <a:rPr lang="en-US" i="1" dirty="0" err="1">
                    <a:solidFill>
                      <a:srgbClr val="333333"/>
                    </a:solidFill>
                    <a:effectLst/>
                    <a:latin typeface="Times New Roman" panose="02020603050405020304" pitchFamily="18" charset="0"/>
                    <a:ea typeface="Times New Roman" panose="02020603050405020304" pitchFamily="18" charset="0"/>
                  </a:rPr>
                  <a:t>i</a:t>
                </a:r>
                <a:endParaRPr lang="en-US" sz="4800" i="1" dirty="0"/>
              </a:p>
              <a:p>
                <a:r>
                  <a:rPr lang="en-US" dirty="0">
                    <a:solidFill>
                      <a:srgbClr val="333333"/>
                    </a:solidFill>
                    <a:effectLst/>
                    <a:latin typeface="Times New Roman" panose="02020603050405020304" pitchFamily="18" charset="0"/>
                    <a:ea typeface="Times New Roman" panose="02020603050405020304" pitchFamily="18" charset="0"/>
                  </a:rPr>
                  <a:t> Total catch </a:t>
                </a:r>
                <a14:m>
                  <m:oMath xmlns:m="http://schemas.openxmlformats.org/officeDocument/2006/math">
                    <m:acc>
                      <m:accPr>
                        <m:chr m:val="̂"/>
                        <m:ctrlPr>
                          <a:rPr lang="en-US" i="1" smtClean="0">
                            <a:solidFill>
                              <a:srgbClr val="333333"/>
                            </a:solidFill>
                            <a:effectLst/>
                            <a:latin typeface="Cambria Math" panose="02040503050406030204" pitchFamily="18" charset="0"/>
                          </a:rPr>
                        </m:ctrlPr>
                      </m:accPr>
                      <m:e>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𝐶</m:t>
                        </m:r>
                      </m:e>
                    </m:acc>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ctrlPr>
                          <a:rPr lang="en-US" i="1">
                            <a:solidFill>
                              <a:srgbClr val="333333"/>
                            </a:solidFill>
                            <a:effectLst/>
                            <a:latin typeface="Cambria Math" panose="02040503050406030204" pitchFamily="18" charset="0"/>
                          </a:rPr>
                        </m:ctrlPr>
                      </m:naryPr>
                      <m:sub>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𝑛</m:t>
                        </m:r>
                      </m:sup>
                      <m:e>
                        <m:sSub>
                          <m:sSubPr>
                            <m:ctrlPr>
                              <a:rPr lang="en-US" i="1">
                                <a:solidFill>
                                  <a:srgbClr val="333333"/>
                                </a:solidFill>
                                <a:effectLst/>
                                <a:latin typeface="Cambria Math" panose="02040503050406030204" pitchFamily="18" charset="0"/>
                              </a:rPr>
                            </m:ctrlPr>
                          </m:sSubPr>
                          <m:e>
                            <m:acc>
                              <m:accPr>
                                <m:chr m:val="̂"/>
                                <m:ctrlPr>
                                  <a:rPr lang="en-US" i="1">
                                    <a:solidFill>
                                      <a:srgbClr val="333333"/>
                                    </a:solidFill>
                                    <a:effectLst/>
                                    <a:latin typeface="Cambria Math" panose="02040503050406030204" pitchFamily="18" charset="0"/>
                                  </a:rPr>
                                </m:ctrlPr>
                              </m:accPr>
                              <m:e>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𝑅</m:t>
                                </m:r>
                              </m:e>
                            </m:acc>
                          </m:e>
                          <m:sub>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sSub>
                          <m:sSubPr>
                            <m:ctrlPr>
                              <a:rPr lang="en-US" i="1">
                                <a:solidFill>
                                  <a:srgbClr val="333333"/>
                                </a:solidFill>
                                <a:effectLst/>
                                <a:latin typeface="Cambria Math" panose="02040503050406030204" pitchFamily="18" charset="0"/>
                              </a:rPr>
                            </m:ctrlPr>
                          </m:sSubPr>
                          <m:e>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en-US" i="1">
                                <a:solidFill>
                                  <a:srgbClr val="333333"/>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nary>
                  </m:oMath>
                </a14:m>
                <a:endParaRPr lang="en-US" dirty="0">
                  <a:solidFill>
                    <a:srgbClr val="333333"/>
                  </a:solidFill>
                  <a:latin typeface="Times New Roman" panose="02020603050405020304" pitchFamily="18" charset="0"/>
                  <a:ea typeface="Times New Roman" panose="02020603050405020304" pitchFamily="18" charset="0"/>
                </a:endParaRPr>
              </a:p>
              <a:p>
                <a:r>
                  <a:rPr lang="en-US" dirty="0">
                    <a:solidFill>
                      <a:srgbClr val="333333"/>
                    </a:solidFill>
                    <a:latin typeface="Times New Roman" panose="02020603050405020304" pitchFamily="18" charset="0"/>
                    <a:ea typeface="Times New Roman" panose="02020603050405020304" pitchFamily="18" charset="0"/>
                  </a:rPr>
                  <a:t>Variance decreases with fraction sampled (f)</a:t>
                </a:r>
                <a:r>
                  <a:rPr lang="en-US" dirty="0">
                    <a:solidFill>
                      <a:srgbClr val="333333"/>
                    </a:solidFill>
                    <a:ea typeface="Times New Roman" panose="02020603050405020304" pitchFamily="18" charset="0"/>
                  </a:rPr>
                  <a:t> </a:t>
                </a:r>
                <a14:m>
                  <m:oMath xmlns:m="http://schemas.openxmlformats.org/officeDocument/2006/math">
                    <m:r>
                      <a:rPr lang="en-US" i="1">
                        <a:solidFill>
                          <a:srgbClr val="333333"/>
                        </a:solidFill>
                        <a:latin typeface="Cambria Math" panose="02040503050406030204" pitchFamily="18" charset="0"/>
                        <a:ea typeface="Times New Roman" panose="02020603050405020304" pitchFamily="18" charset="0"/>
                      </a:rPr>
                      <m:t>𝑉</m:t>
                    </m:r>
                    <m:d>
                      <m:dPr>
                        <m:ctrlPr>
                          <a:rPr lang="en-US" i="1">
                            <a:solidFill>
                              <a:srgbClr val="333333"/>
                            </a:solidFill>
                            <a:latin typeface="Cambria Math" panose="02040503050406030204" pitchFamily="18" charset="0"/>
                            <a:ea typeface="Times New Roman" panose="02020603050405020304" pitchFamily="18" charset="0"/>
                          </a:rPr>
                        </m:ctrlPr>
                      </m:dPr>
                      <m:e>
                        <m:acc>
                          <m:accPr>
                            <m:chr m:val="̂"/>
                            <m:ctrlPr>
                              <a:rPr lang="en-US" i="1">
                                <a:solidFill>
                                  <a:srgbClr val="333333"/>
                                </a:solidFill>
                                <a:latin typeface="Cambria Math" panose="02040503050406030204" pitchFamily="18" charset="0"/>
                                <a:ea typeface="Times New Roman" panose="02020603050405020304" pitchFamily="18" charset="0"/>
                              </a:rPr>
                            </m:ctrlPr>
                          </m:accPr>
                          <m:e>
                            <m:r>
                              <a:rPr lang="en-US" i="1">
                                <a:solidFill>
                                  <a:srgbClr val="333333"/>
                                </a:solidFill>
                                <a:latin typeface="Cambria Math" panose="02040503050406030204" pitchFamily="18" charset="0"/>
                                <a:ea typeface="Times New Roman" panose="02020603050405020304" pitchFamily="18" charset="0"/>
                              </a:rPr>
                              <m:t>𝐶</m:t>
                            </m:r>
                          </m:e>
                        </m:acc>
                      </m:e>
                    </m:d>
                    <m:r>
                      <a:rPr lang="en-US" i="1">
                        <a:solidFill>
                          <a:srgbClr val="333333"/>
                        </a:solidFill>
                        <a:latin typeface="Cambria Math" panose="02040503050406030204" pitchFamily="18" charset="0"/>
                        <a:ea typeface="Times New Roman" panose="02020603050405020304" pitchFamily="18" charset="0"/>
                      </a:rPr>
                      <m:t>=</m:t>
                    </m:r>
                    <m:nary>
                      <m:naryPr>
                        <m:chr m:val="∑"/>
                        <m:limLoc m:val="undOvr"/>
                        <m:ctrlPr>
                          <a:rPr lang="en-US" i="1">
                            <a:solidFill>
                              <a:srgbClr val="333333"/>
                            </a:solidFill>
                            <a:latin typeface="Cambria Math" panose="02040503050406030204" pitchFamily="18" charset="0"/>
                            <a:ea typeface="Times New Roman" panose="02020603050405020304" pitchFamily="18" charset="0"/>
                          </a:rPr>
                        </m:ctrlPr>
                      </m:naryPr>
                      <m:sub>
                        <m:r>
                          <a:rPr lang="en-US" i="1">
                            <a:solidFill>
                              <a:srgbClr val="333333"/>
                            </a:solidFill>
                            <a:latin typeface="Cambria Math" panose="02040503050406030204" pitchFamily="18" charset="0"/>
                            <a:ea typeface="Times New Roman" panose="02020603050405020304" pitchFamily="18" charset="0"/>
                          </a:rPr>
                          <m:t>𝑖</m:t>
                        </m:r>
                        <m:r>
                          <a:rPr lang="en-US" i="1">
                            <a:solidFill>
                              <a:srgbClr val="333333"/>
                            </a:solidFill>
                            <a:latin typeface="Cambria Math" panose="02040503050406030204" pitchFamily="18" charset="0"/>
                            <a:ea typeface="Times New Roman" panose="02020603050405020304" pitchFamily="18" charset="0"/>
                          </a:rPr>
                          <m:t>=1</m:t>
                        </m:r>
                      </m:sub>
                      <m:sup>
                        <m:r>
                          <a:rPr lang="en-US" i="1">
                            <a:solidFill>
                              <a:srgbClr val="333333"/>
                            </a:solidFill>
                            <a:latin typeface="Cambria Math" panose="02040503050406030204" pitchFamily="18" charset="0"/>
                            <a:ea typeface="Times New Roman" panose="02020603050405020304" pitchFamily="18" charset="0"/>
                          </a:rPr>
                          <m:t>𝑛</m:t>
                        </m:r>
                      </m:sup>
                      <m:e>
                        <m:sSubSup>
                          <m:sSubSupPr>
                            <m:ctrlPr>
                              <a:rPr lang="en-US" i="1">
                                <a:solidFill>
                                  <a:srgbClr val="333333"/>
                                </a:solidFill>
                                <a:latin typeface="Cambria Math" panose="02040503050406030204" pitchFamily="18" charset="0"/>
                                <a:ea typeface="Times New Roman" panose="02020603050405020304" pitchFamily="18" charset="0"/>
                              </a:rPr>
                            </m:ctrlPr>
                          </m:sSubSupPr>
                          <m:e>
                            <m:r>
                              <a:rPr lang="en-US" i="1">
                                <a:solidFill>
                                  <a:srgbClr val="333333"/>
                                </a:solidFill>
                                <a:latin typeface="Cambria Math" panose="02040503050406030204" pitchFamily="18" charset="0"/>
                                <a:ea typeface="Times New Roman" panose="02020603050405020304" pitchFamily="18" charset="0"/>
                              </a:rPr>
                              <m:t>𝐸</m:t>
                            </m:r>
                          </m:e>
                          <m:sub>
                            <m:r>
                              <a:rPr lang="en-US" i="1">
                                <a:solidFill>
                                  <a:srgbClr val="333333"/>
                                </a:solidFill>
                                <a:latin typeface="Cambria Math" panose="02040503050406030204" pitchFamily="18" charset="0"/>
                                <a:ea typeface="Times New Roman" panose="02020603050405020304" pitchFamily="18" charset="0"/>
                              </a:rPr>
                              <m:t>𝑖</m:t>
                            </m:r>
                          </m:sub>
                          <m:sup>
                            <m:r>
                              <a:rPr lang="en-US" i="1">
                                <a:solidFill>
                                  <a:srgbClr val="333333"/>
                                </a:solidFill>
                                <a:latin typeface="Cambria Math" panose="02040503050406030204" pitchFamily="18" charset="0"/>
                                <a:ea typeface="Times New Roman" panose="02020603050405020304" pitchFamily="18" charset="0"/>
                              </a:rPr>
                              <m:t>2</m:t>
                            </m:r>
                          </m:sup>
                        </m:sSubSup>
                        <m:f>
                          <m:fPr>
                            <m:ctrlPr>
                              <a:rPr lang="en-US" i="1">
                                <a:solidFill>
                                  <a:srgbClr val="333333"/>
                                </a:solidFill>
                                <a:latin typeface="Cambria Math" panose="02040503050406030204" pitchFamily="18" charset="0"/>
                                <a:ea typeface="Times New Roman" panose="02020603050405020304" pitchFamily="18" charset="0"/>
                              </a:rPr>
                            </m:ctrlPr>
                          </m:fPr>
                          <m:num>
                            <m:d>
                              <m:dPr>
                                <m:ctrlPr>
                                  <a:rPr lang="en-US" i="1">
                                    <a:solidFill>
                                      <a:srgbClr val="333333"/>
                                    </a:solidFill>
                                    <a:latin typeface="Cambria Math" panose="02040503050406030204" pitchFamily="18" charset="0"/>
                                    <a:ea typeface="Times New Roman" panose="02020603050405020304" pitchFamily="18" charset="0"/>
                                  </a:rPr>
                                </m:ctrlPr>
                              </m:dPr>
                              <m:e>
                                <m:r>
                                  <a:rPr lang="en-US" i="1">
                                    <a:solidFill>
                                      <a:srgbClr val="333333"/>
                                    </a:solidFill>
                                    <a:latin typeface="Cambria Math" panose="02040503050406030204" pitchFamily="18" charset="0"/>
                                    <a:ea typeface="Times New Roman" panose="02020603050405020304" pitchFamily="18" charset="0"/>
                                  </a:rPr>
                                  <m:t>1−</m:t>
                                </m:r>
                                <m:r>
                                  <a:rPr lang="en-US" i="1">
                                    <a:solidFill>
                                      <a:srgbClr val="333333"/>
                                    </a:solidFill>
                                    <a:latin typeface="Cambria Math" panose="02040503050406030204" pitchFamily="18" charset="0"/>
                                    <a:ea typeface="Times New Roman" panose="02020603050405020304" pitchFamily="18" charset="0"/>
                                  </a:rPr>
                                  <m:t>𝑓</m:t>
                                </m:r>
                              </m:e>
                            </m:d>
                          </m:num>
                          <m:den>
                            <m:r>
                              <a:rPr lang="en-US" i="1">
                                <a:solidFill>
                                  <a:srgbClr val="333333"/>
                                </a:solidFill>
                                <a:latin typeface="Cambria Math" panose="02040503050406030204" pitchFamily="18" charset="0"/>
                                <a:ea typeface="Times New Roman" panose="02020603050405020304" pitchFamily="18" charset="0"/>
                              </a:rPr>
                              <m:t>𝑛</m:t>
                            </m:r>
                          </m:den>
                        </m:f>
                        <m:r>
                          <a:rPr lang="en-US" i="1">
                            <a:solidFill>
                              <a:srgbClr val="333333"/>
                            </a:solidFill>
                            <a:latin typeface="Cambria Math" panose="02040503050406030204" pitchFamily="18" charset="0"/>
                            <a:ea typeface="Times New Roman" panose="02020603050405020304" pitchFamily="18" charset="0"/>
                          </a:rPr>
                          <m:t> (</m:t>
                        </m:r>
                        <m:sSubSup>
                          <m:sSubSupPr>
                            <m:ctrlPr>
                              <a:rPr lang="en-US" i="1">
                                <a:solidFill>
                                  <a:srgbClr val="333333"/>
                                </a:solidFill>
                                <a:latin typeface="Cambria Math" panose="02040503050406030204" pitchFamily="18" charset="0"/>
                                <a:ea typeface="Times New Roman" panose="02020603050405020304" pitchFamily="18" charset="0"/>
                              </a:rPr>
                            </m:ctrlPr>
                          </m:sSubSupPr>
                          <m:e>
                            <m:r>
                              <a:rPr lang="en-US" i="1">
                                <a:solidFill>
                                  <a:srgbClr val="333333"/>
                                </a:solidFill>
                                <a:latin typeface="Cambria Math" panose="02040503050406030204" pitchFamily="18" charset="0"/>
                                <a:ea typeface="Times New Roman" panose="02020603050405020304" pitchFamily="18" charset="0"/>
                              </a:rPr>
                              <m:t>𝑠</m:t>
                            </m:r>
                          </m:e>
                          <m:sub>
                            <m:r>
                              <a:rPr lang="en-US" i="1">
                                <a:solidFill>
                                  <a:srgbClr val="333333"/>
                                </a:solidFill>
                                <a:latin typeface="Cambria Math" panose="02040503050406030204" pitchFamily="18" charset="0"/>
                                <a:ea typeface="Times New Roman" panose="02020603050405020304" pitchFamily="18" charset="0"/>
                              </a:rPr>
                              <m:t>𝑐</m:t>
                            </m:r>
                            <m:r>
                              <a:rPr lang="en-US" i="1">
                                <a:solidFill>
                                  <a:srgbClr val="333333"/>
                                </a:solidFill>
                                <a:latin typeface="Cambria Math" panose="02040503050406030204" pitchFamily="18" charset="0"/>
                                <a:ea typeface="Times New Roman" panose="02020603050405020304" pitchFamily="18" charset="0"/>
                              </a:rPr>
                              <m:t>+</m:t>
                            </m:r>
                          </m:sub>
                          <m:sup>
                            <m:r>
                              <a:rPr lang="en-US" i="1">
                                <a:solidFill>
                                  <a:srgbClr val="333333"/>
                                </a:solidFill>
                                <a:latin typeface="Cambria Math" panose="02040503050406030204" pitchFamily="18" charset="0"/>
                                <a:ea typeface="Times New Roman" panose="02020603050405020304" pitchFamily="18" charset="0"/>
                              </a:rPr>
                              <m:t>2</m:t>
                            </m:r>
                          </m:sup>
                        </m:sSubSup>
                      </m:e>
                    </m:nary>
                    <m:sSup>
                      <m:sSupPr>
                        <m:ctrlPr>
                          <a:rPr lang="en-US" i="1">
                            <a:solidFill>
                              <a:srgbClr val="333333"/>
                            </a:solidFill>
                            <a:latin typeface="Cambria Math" panose="02040503050406030204" pitchFamily="18" charset="0"/>
                            <a:ea typeface="Times New Roman" panose="02020603050405020304" pitchFamily="18" charset="0"/>
                          </a:rPr>
                        </m:ctrlPr>
                      </m:sSupPr>
                      <m:e>
                        <m:sSub>
                          <m:sSubPr>
                            <m:ctrlPr>
                              <a:rPr lang="en-US" i="1">
                                <a:solidFill>
                                  <a:srgbClr val="333333"/>
                                </a:solidFill>
                                <a:latin typeface="Cambria Math" panose="02040503050406030204" pitchFamily="18" charset="0"/>
                                <a:ea typeface="Times New Roman" panose="02020603050405020304" pitchFamily="18" charset="0"/>
                              </a:rPr>
                            </m:ctrlPr>
                          </m:sSubPr>
                          <m:e>
                            <m:acc>
                              <m:accPr>
                                <m:chr m:val="̂"/>
                                <m:ctrlPr>
                                  <a:rPr lang="en-US" i="1">
                                    <a:solidFill>
                                      <a:srgbClr val="333333"/>
                                    </a:solidFill>
                                    <a:latin typeface="Cambria Math" panose="02040503050406030204" pitchFamily="18" charset="0"/>
                                    <a:ea typeface="Times New Roman" panose="02020603050405020304" pitchFamily="18" charset="0"/>
                                  </a:rPr>
                                </m:ctrlPr>
                              </m:accPr>
                              <m:e>
                                <m:r>
                                  <a:rPr lang="en-US" i="1">
                                    <a:solidFill>
                                      <a:srgbClr val="333333"/>
                                    </a:solidFill>
                                    <a:latin typeface="Cambria Math" panose="02040503050406030204" pitchFamily="18" charset="0"/>
                                    <a:ea typeface="Times New Roman" panose="02020603050405020304" pitchFamily="18" charset="0"/>
                                  </a:rPr>
                                  <m:t>𝑅</m:t>
                                </m:r>
                              </m:e>
                            </m:acc>
                          </m:e>
                          <m:sub>
                            <m:r>
                              <a:rPr lang="en-US" i="1">
                                <a:solidFill>
                                  <a:srgbClr val="333333"/>
                                </a:solidFill>
                                <a:latin typeface="Cambria Math" panose="02040503050406030204" pitchFamily="18" charset="0"/>
                                <a:ea typeface="Times New Roman" panose="02020603050405020304" pitchFamily="18" charset="0"/>
                              </a:rPr>
                              <m:t>𝑖</m:t>
                            </m:r>
                          </m:sub>
                        </m:sSub>
                      </m:e>
                      <m:sup>
                        <m:r>
                          <a:rPr lang="en-US" i="1">
                            <a:solidFill>
                              <a:srgbClr val="333333"/>
                            </a:solidFill>
                            <a:latin typeface="Cambria Math" panose="02040503050406030204" pitchFamily="18" charset="0"/>
                            <a:ea typeface="Times New Roman" panose="02020603050405020304" pitchFamily="18" charset="0"/>
                          </a:rPr>
                          <m:t>2</m:t>
                        </m:r>
                      </m:sup>
                    </m:sSup>
                    <m:sSubSup>
                      <m:sSubSupPr>
                        <m:ctrlPr>
                          <a:rPr lang="en-US" i="1">
                            <a:solidFill>
                              <a:srgbClr val="333333"/>
                            </a:solidFill>
                            <a:latin typeface="Cambria Math" panose="02040503050406030204" pitchFamily="18" charset="0"/>
                            <a:ea typeface="Times New Roman" panose="02020603050405020304" pitchFamily="18" charset="0"/>
                          </a:rPr>
                        </m:ctrlPr>
                      </m:sSubSupPr>
                      <m:e>
                        <m:r>
                          <a:rPr lang="en-US" i="1">
                            <a:solidFill>
                              <a:srgbClr val="333333"/>
                            </a:solidFill>
                            <a:latin typeface="Cambria Math" panose="02040503050406030204" pitchFamily="18" charset="0"/>
                            <a:ea typeface="Times New Roman" panose="02020603050405020304" pitchFamily="18" charset="0"/>
                          </a:rPr>
                          <m:t>𝑠</m:t>
                        </m:r>
                      </m:e>
                      <m:sub>
                        <m:r>
                          <a:rPr lang="en-US" i="1">
                            <a:solidFill>
                              <a:srgbClr val="333333"/>
                            </a:solidFill>
                            <a:latin typeface="Cambria Math" panose="02040503050406030204" pitchFamily="18" charset="0"/>
                            <a:ea typeface="Times New Roman" panose="02020603050405020304" pitchFamily="18" charset="0"/>
                          </a:rPr>
                          <m:t>𝑒</m:t>
                        </m:r>
                      </m:sub>
                      <m:sup>
                        <m:r>
                          <a:rPr lang="en-US" i="1">
                            <a:solidFill>
                              <a:srgbClr val="333333"/>
                            </a:solidFill>
                            <a:latin typeface="Cambria Math" panose="02040503050406030204" pitchFamily="18" charset="0"/>
                            <a:ea typeface="Times New Roman" panose="02020603050405020304" pitchFamily="18" charset="0"/>
                          </a:rPr>
                          <m:t>2</m:t>
                        </m:r>
                      </m:sup>
                    </m:sSubSup>
                    <m:r>
                      <a:rPr lang="en-US" i="1">
                        <a:solidFill>
                          <a:srgbClr val="333333"/>
                        </a:solidFill>
                        <a:latin typeface="Cambria Math" panose="02040503050406030204" pitchFamily="18" charset="0"/>
                        <a:ea typeface="Times New Roman" panose="02020603050405020304" pitchFamily="18" charset="0"/>
                      </a:rPr>
                      <m:t>−2</m:t>
                    </m:r>
                    <m:sSub>
                      <m:sSubPr>
                        <m:ctrlPr>
                          <a:rPr lang="en-US" i="1">
                            <a:solidFill>
                              <a:srgbClr val="333333"/>
                            </a:solidFill>
                            <a:latin typeface="Cambria Math" panose="02040503050406030204" pitchFamily="18" charset="0"/>
                            <a:ea typeface="Times New Roman" panose="02020603050405020304" pitchFamily="18" charset="0"/>
                          </a:rPr>
                        </m:ctrlPr>
                      </m:sSubPr>
                      <m:e>
                        <m:acc>
                          <m:accPr>
                            <m:chr m:val="̂"/>
                            <m:ctrlPr>
                              <a:rPr lang="en-US" i="1">
                                <a:solidFill>
                                  <a:srgbClr val="333333"/>
                                </a:solidFill>
                                <a:latin typeface="Cambria Math" panose="02040503050406030204" pitchFamily="18" charset="0"/>
                                <a:ea typeface="Times New Roman" panose="02020603050405020304" pitchFamily="18" charset="0"/>
                              </a:rPr>
                            </m:ctrlPr>
                          </m:accPr>
                          <m:e>
                            <m:r>
                              <a:rPr lang="en-US" i="1">
                                <a:solidFill>
                                  <a:srgbClr val="333333"/>
                                </a:solidFill>
                                <a:latin typeface="Cambria Math" panose="02040503050406030204" pitchFamily="18" charset="0"/>
                                <a:ea typeface="Times New Roman" panose="02020603050405020304" pitchFamily="18" charset="0"/>
                              </a:rPr>
                              <m:t>𝑅</m:t>
                            </m:r>
                          </m:e>
                        </m:acc>
                      </m:e>
                      <m:sub>
                        <m:r>
                          <a:rPr lang="en-US" i="1">
                            <a:solidFill>
                              <a:srgbClr val="333333"/>
                            </a:solidFill>
                            <a:latin typeface="Cambria Math" panose="02040503050406030204" pitchFamily="18" charset="0"/>
                            <a:ea typeface="Times New Roman" panose="02020603050405020304" pitchFamily="18" charset="0"/>
                          </a:rPr>
                          <m:t>𝑖</m:t>
                        </m:r>
                      </m:sub>
                    </m:sSub>
                    <m:sSub>
                      <m:sSubPr>
                        <m:ctrlPr>
                          <a:rPr lang="en-US" i="1">
                            <a:solidFill>
                              <a:srgbClr val="333333"/>
                            </a:solidFill>
                            <a:latin typeface="Cambria Math" panose="02040503050406030204" pitchFamily="18" charset="0"/>
                            <a:ea typeface="Times New Roman" panose="02020603050405020304" pitchFamily="18" charset="0"/>
                          </a:rPr>
                        </m:ctrlPr>
                      </m:sSubPr>
                      <m:e>
                        <m:r>
                          <a:rPr lang="en-US" i="1">
                            <a:solidFill>
                              <a:srgbClr val="333333"/>
                            </a:solidFill>
                            <a:latin typeface="Cambria Math" panose="02040503050406030204" pitchFamily="18" charset="0"/>
                            <a:ea typeface="Times New Roman" panose="02020603050405020304" pitchFamily="18" charset="0"/>
                          </a:rPr>
                          <m:t>𝑠</m:t>
                        </m:r>
                      </m:e>
                      <m:sub>
                        <m:r>
                          <a:rPr lang="en-US" i="1">
                            <a:solidFill>
                              <a:srgbClr val="333333"/>
                            </a:solidFill>
                            <a:latin typeface="Cambria Math" panose="02040503050406030204" pitchFamily="18" charset="0"/>
                            <a:ea typeface="Times New Roman" panose="02020603050405020304" pitchFamily="18" charset="0"/>
                          </a:rPr>
                          <m:t>𝑐𝑒</m:t>
                        </m:r>
                      </m:sub>
                    </m:sSub>
                    <m:r>
                      <a:rPr lang="en-US" i="1">
                        <a:solidFill>
                          <a:srgbClr val="333333"/>
                        </a:solidFill>
                        <a:latin typeface="Cambria Math" panose="02040503050406030204" pitchFamily="18" charset="0"/>
                        <a:ea typeface="Times New Roman" panose="02020603050405020304" pitchFamily="18" charset="0"/>
                      </a:rPr>
                      <m:t>)</m:t>
                    </m:r>
                  </m:oMath>
                </a14:m>
                <a:endParaRPr lang="en-US" dirty="0">
                  <a:solidFill>
                    <a:srgbClr val="333333"/>
                  </a:solidFill>
                  <a:latin typeface="Times New Roman" panose="02020603050405020304" pitchFamily="18" charset="0"/>
                  <a:ea typeface="Times New Roman" panose="02020603050405020304" pitchFamily="18" charset="0"/>
                </a:endParaRPr>
              </a:p>
              <a:p>
                <a:r>
                  <a:rPr lang="en-US" dirty="0">
                    <a:solidFill>
                      <a:srgbClr val="333333"/>
                    </a:solidFill>
                    <a:latin typeface="Times New Roman" panose="02020603050405020304" pitchFamily="18" charset="0"/>
                    <a:ea typeface="Times New Roman" panose="02020603050405020304" pitchFamily="18" charset="0"/>
                  </a:rPr>
                  <a:t>Built in finite sample correction</a:t>
                </a:r>
              </a:p>
              <a:p>
                <a:pPr marL="0" indent="0">
                  <a:buNone/>
                </a:pPr>
                <a:endParaRPr lang="en-US" sz="2000" dirty="0">
                  <a:solidFill>
                    <a:srgbClr val="333333"/>
                  </a:solidFill>
                  <a:effectLst/>
                  <a:latin typeface="Times New Roman" panose="02020603050405020304" pitchFamily="18" charset="0"/>
                  <a:ea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B9E4C337-7143-4455-A1F7-4173847F4187}"/>
                  </a:ext>
                </a:extLst>
              </p:cNvPr>
              <p:cNvSpPr>
                <a:spLocks noGrp="1" noRot="1" noChangeAspect="1" noMove="1" noResize="1" noEditPoints="1" noAdjustHandles="1" noChangeArrowheads="1" noChangeShapeType="1" noTextEdit="1"/>
              </p:cNvSpPr>
              <p:nvPr>
                <p:ph idx="1"/>
              </p:nvPr>
            </p:nvSpPr>
            <p:spPr>
              <a:blipFill>
                <a:blip r:embed="rId2"/>
                <a:stretch>
                  <a:fillRect l="-1704" t="-461"/>
                </a:stretch>
              </a:blipFill>
            </p:spPr>
            <p:txBody>
              <a:bodyPr/>
              <a:lstStyle/>
              <a:p>
                <a:r>
                  <a:rPr lang="en-US">
                    <a:noFill/>
                  </a:rPr>
                  <a:t> </a:t>
                </a:r>
              </a:p>
            </p:txBody>
          </p:sp>
        </mc:Fallback>
      </mc:AlternateContent>
    </p:spTree>
    <p:extLst>
      <p:ext uri="{BB962C8B-B14F-4D97-AF65-F5344CB8AC3E}">
        <p14:creationId xmlns:p14="http://schemas.microsoft.com/office/powerpoint/2010/main" val="27814252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27513-69BA-4F09-8DB5-0B1D0CD5A45A}"/>
              </a:ext>
            </a:extLst>
          </p:cNvPr>
          <p:cNvSpPr>
            <a:spLocks noGrp="1"/>
          </p:cNvSpPr>
          <p:nvPr>
            <p:ph type="title"/>
          </p:nvPr>
        </p:nvSpPr>
        <p:spPr/>
        <p:txBody>
          <a:bodyPr>
            <a:normAutofit fontScale="90000"/>
          </a:bodyPr>
          <a:lstStyle/>
          <a:p>
            <a:r>
              <a:rPr lang="en-US" dirty="0"/>
              <a:t>Pooling</a:t>
            </a:r>
          </a:p>
        </p:txBody>
      </p:sp>
      <p:sp>
        <p:nvSpPr>
          <p:cNvPr id="4" name="Content Placeholder 2">
            <a:extLst>
              <a:ext uri="{FF2B5EF4-FFF2-40B4-BE49-F238E27FC236}">
                <a16:creationId xmlns:a16="http://schemas.microsoft.com/office/drawing/2014/main" id="{0EC1389C-6AE5-49AA-8B5E-B297B88D36A3}"/>
              </a:ext>
            </a:extLst>
          </p:cNvPr>
          <p:cNvSpPr txBox="1">
            <a:spLocks/>
          </p:cNvSpPr>
          <p:nvPr/>
        </p:nvSpPr>
        <p:spPr>
          <a:xfrm>
            <a:off x="304800" y="1371600"/>
            <a:ext cx="4114800" cy="4805363"/>
          </a:xfrm>
          <a:prstGeom prst="rect">
            <a:avLst/>
          </a:prstGeom>
        </p:spPr>
        <p:txBody>
          <a:bodyPr vert="horz" lIns="91440" tIns="45720" rIns="91440" bIns="45720" rtlCol="0" anchor="t">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cs typeface="Calibri"/>
              </a:rPr>
              <a:t>If a stratum has too few observation, then the bycatch ratio must be imputed</a:t>
            </a:r>
          </a:p>
          <a:p>
            <a:r>
              <a:rPr lang="en-GB" dirty="0">
                <a:cs typeface="Calibri"/>
              </a:rPr>
              <a:t>Estimate bycatch pooled across all areas, allocate fraction to area 3 based on relative total effort</a:t>
            </a:r>
          </a:p>
          <a:p>
            <a:endParaRPr lang="en-GB" dirty="0">
              <a:cs typeface="Calibri"/>
            </a:endParaRPr>
          </a:p>
        </p:txBody>
      </p:sp>
      <p:sp>
        <p:nvSpPr>
          <p:cNvPr id="9" name="Rectangle: Rounded Corners 8">
            <a:extLst>
              <a:ext uri="{FF2B5EF4-FFF2-40B4-BE49-F238E27FC236}">
                <a16:creationId xmlns:a16="http://schemas.microsoft.com/office/drawing/2014/main" id="{7050C967-4993-4B2E-85EA-7362DFA99A91}"/>
              </a:ext>
            </a:extLst>
          </p:cNvPr>
          <p:cNvSpPr/>
          <p:nvPr/>
        </p:nvSpPr>
        <p:spPr>
          <a:xfrm>
            <a:off x="4953001" y="2209800"/>
            <a:ext cx="1905000" cy="853225"/>
          </a:xfrm>
          <a:prstGeom prst="roundRect">
            <a:avLst/>
          </a:prstGeom>
          <a:solidFill>
            <a:schemeClr val="accent5">
              <a:lumMod val="20000"/>
              <a:lumOff val="8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Calibri"/>
              </a:rPr>
              <a:t>Area 1</a:t>
            </a:r>
            <a:br>
              <a:rPr lang="en-US" dirty="0">
                <a:solidFill>
                  <a:schemeClr val="tx1"/>
                </a:solidFill>
                <a:cs typeface="Calibri"/>
              </a:rPr>
            </a:br>
            <a:endParaRPr lang="en-US" dirty="0">
              <a:solidFill>
                <a:schemeClr val="tx1"/>
              </a:solidFill>
              <a:cs typeface="Calibri"/>
            </a:endParaRPr>
          </a:p>
          <a:p>
            <a:pPr algn="ctr"/>
            <a:r>
              <a:rPr lang="en-US" dirty="0">
                <a:solidFill>
                  <a:schemeClr val="tx1"/>
                </a:solidFill>
                <a:cs typeface="Calibri"/>
              </a:rPr>
              <a:t>95 samples</a:t>
            </a:r>
          </a:p>
        </p:txBody>
      </p:sp>
      <p:sp>
        <p:nvSpPr>
          <p:cNvPr id="10" name="Rectangle: Rounded Corners 9">
            <a:extLst>
              <a:ext uri="{FF2B5EF4-FFF2-40B4-BE49-F238E27FC236}">
                <a16:creationId xmlns:a16="http://schemas.microsoft.com/office/drawing/2014/main" id="{473F5A01-5198-4E04-893A-BE6FA7F77432}"/>
              </a:ext>
            </a:extLst>
          </p:cNvPr>
          <p:cNvSpPr/>
          <p:nvPr/>
        </p:nvSpPr>
        <p:spPr>
          <a:xfrm>
            <a:off x="4953001" y="3185375"/>
            <a:ext cx="1905000" cy="853225"/>
          </a:xfrm>
          <a:prstGeom prst="roundRect">
            <a:avLst/>
          </a:prstGeom>
          <a:solidFill>
            <a:schemeClr val="accent5">
              <a:lumMod val="20000"/>
              <a:lumOff val="8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Calibri"/>
              </a:rPr>
              <a:t>Area 2</a:t>
            </a:r>
          </a:p>
          <a:p>
            <a:pPr algn="ctr"/>
            <a:endParaRPr lang="en-US" dirty="0">
              <a:solidFill>
                <a:schemeClr val="tx1"/>
              </a:solidFill>
              <a:cs typeface="Calibri"/>
            </a:endParaRPr>
          </a:p>
          <a:p>
            <a:pPr algn="ctr"/>
            <a:r>
              <a:rPr lang="en-US" dirty="0">
                <a:solidFill>
                  <a:schemeClr val="tx1"/>
                </a:solidFill>
                <a:cs typeface="Calibri"/>
              </a:rPr>
              <a:t>26 samples</a:t>
            </a:r>
          </a:p>
        </p:txBody>
      </p:sp>
      <p:sp>
        <p:nvSpPr>
          <p:cNvPr id="11" name="Rectangle: Rounded Corners 10">
            <a:extLst>
              <a:ext uri="{FF2B5EF4-FFF2-40B4-BE49-F238E27FC236}">
                <a16:creationId xmlns:a16="http://schemas.microsoft.com/office/drawing/2014/main" id="{637B4587-9184-495B-A254-2FDBB8D3F20F}"/>
              </a:ext>
            </a:extLst>
          </p:cNvPr>
          <p:cNvSpPr/>
          <p:nvPr/>
        </p:nvSpPr>
        <p:spPr>
          <a:xfrm>
            <a:off x="4976554" y="4163291"/>
            <a:ext cx="1905000" cy="853225"/>
          </a:xfrm>
          <a:prstGeom prst="roundRect">
            <a:avLst/>
          </a:prstGeom>
          <a:solidFill>
            <a:schemeClr val="accent2">
              <a:lumMod val="40000"/>
              <a:lumOff val="6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000000"/>
                </a:solidFill>
                <a:cs typeface="Calibri"/>
              </a:rPr>
              <a:t>Area 3</a:t>
            </a:r>
          </a:p>
          <a:p>
            <a:pPr algn="ctr"/>
            <a:endParaRPr lang="en-US" dirty="0">
              <a:solidFill>
                <a:srgbClr val="000000"/>
              </a:solidFill>
              <a:cs typeface="Calibri"/>
            </a:endParaRPr>
          </a:p>
          <a:p>
            <a:pPr algn="ctr"/>
            <a:r>
              <a:rPr lang="en-US" dirty="0">
                <a:solidFill>
                  <a:srgbClr val="000000"/>
                </a:solidFill>
                <a:cs typeface="Calibri"/>
              </a:rPr>
              <a:t>0 samples</a:t>
            </a:r>
          </a:p>
        </p:txBody>
      </p:sp>
      <p:sp>
        <p:nvSpPr>
          <p:cNvPr id="12" name="Right Brace 11">
            <a:extLst>
              <a:ext uri="{FF2B5EF4-FFF2-40B4-BE49-F238E27FC236}">
                <a16:creationId xmlns:a16="http://schemas.microsoft.com/office/drawing/2014/main" id="{7CA26853-D17A-48E4-A26A-29B4DF541A5A}"/>
              </a:ext>
            </a:extLst>
          </p:cNvPr>
          <p:cNvSpPr/>
          <p:nvPr/>
        </p:nvSpPr>
        <p:spPr>
          <a:xfrm>
            <a:off x="7239000" y="4191000"/>
            <a:ext cx="152400" cy="853225"/>
          </a:xfrm>
          <a:prstGeom prst="rightBrace">
            <a:avLst/>
          </a:prstGeom>
          <a:no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F2DACDD4-9377-4477-9F3A-82F37A36BBB5}"/>
              </a:ext>
            </a:extLst>
          </p:cNvPr>
          <p:cNvSpPr txBox="1"/>
          <p:nvPr/>
        </p:nvSpPr>
        <p:spPr>
          <a:xfrm>
            <a:off x="7620000" y="4432946"/>
            <a:ext cx="1371600" cy="646331"/>
          </a:xfrm>
          <a:prstGeom prst="rect">
            <a:avLst/>
          </a:prstGeom>
          <a:noFill/>
        </p:spPr>
        <p:txBody>
          <a:bodyPr wrap="square" rtlCol="0">
            <a:spAutoFit/>
          </a:bodyPr>
          <a:lstStyle/>
          <a:p>
            <a:r>
              <a:rPr lang="en-US" dirty="0"/>
              <a:t>Use pooled estimate</a:t>
            </a:r>
          </a:p>
        </p:txBody>
      </p:sp>
      <p:sp>
        <p:nvSpPr>
          <p:cNvPr id="14" name="Right Brace 13">
            <a:extLst>
              <a:ext uri="{FF2B5EF4-FFF2-40B4-BE49-F238E27FC236}">
                <a16:creationId xmlns:a16="http://schemas.microsoft.com/office/drawing/2014/main" id="{E4572119-66F4-4CFE-8AEB-CBD71F8A160C}"/>
              </a:ext>
            </a:extLst>
          </p:cNvPr>
          <p:cNvSpPr/>
          <p:nvPr/>
        </p:nvSpPr>
        <p:spPr>
          <a:xfrm>
            <a:off x="7162800" y="2347175"/>
            <a:ext cx="381000" cy="1615225"/>
          </a:xfrm>
          <a:prstGeom prst="rightBrace">
            <a:avLst/>
          </a:prstGeom>
          <a:no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842FA2BF-6515-4B9C-84D1-5E88FE46E85C}"/>
              </a:ext>
            </a:extLst>
          </p:cNvPr>
          <p:cNvSpPr txBox="1"/>
          <p:nvPr/>
        </p:nvSpPr>
        <p:spPr>
          <a:xfrm>
            <a:off x="7543800" y="2831621"/>
            <a:ext cx="1600200" cy="646331"/>
          </a:xfrm>
          <a:prstGeom prst="rect">
            <a:avLst/>
          </a:prstGeom>
          <a:noFill/>
        </p:spPr>
        <p:txBody>
          <a:bodyPr wrap="square" rtlCol="0">
            <a:spAutoFit/>
          </a:bodyPr>
          <a:lstStyle/>
          <a:p>
            <a:r>
              <a:rPr lang="en-US" dirty="0"/>
              <a:t>Use </a:t>
            </a:r>
            <a:r>
              <a:rPr lang="en-US" dirty="0" err="1"/>
              <a:t>unpooled</a:t>
            </a:r>
            <a:r>
              <a:rPr lang="en-US" dirty="0"/>
              <a:t> estimate</a:t>
            </a:r>
          </a:p>
        </p:txBody>
      </p:sp>
    </p:spTree>
    <p:extLst>
      <p:ext uri="{BB962C8B-B14F-4D97-AF65-F5344CB8AC3E}">
        <p14:creationId xmlns:p14="http://schemas.microsoft.com/office/powerpoint/2010/main" val="29961481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F788-437F-4FED-8D4D-E8E30E6E90F2}"/>
              </a:ext>
            </a:extLst>
          </p:cNvPr>
          <p:cNvSpPr>
            <a:spLocks noGrp="1"/>
          </p:cNvSpPr>
          <p:nvPr>
            <p:ph type="title"/>
          </p:nvPr>
        </p:nvSpPr>
        <p:spPr/>
        <p:txBody>
          <a:bodyPr>
            <a:normAutofit fontScale="90000"/>
          </a:bodyPr>
          <a:lstStyle/>
          <a:p>
            <a:r>
              <a:rPr lang="en-US" dirty="0"/>
              <a:t>Semi-automate the process</a:t>
            </a:r>
          </a:p>
        </p:txBody>
      </p:sp>
      <p:sp>
        <p:nvSpPr>
          <p:cNvPr id="3" name="Content Placeholder 2">
            <a:extLst>
              <a:ext uri="{FF2B5EF4-FFF2-40B4-BE49-F238E27FC236}">
                <a16:creationId xmlns:a16="http://schemas.microsoft.com/office/drawing/2014/main" id="{D22D2AB2-0633-4AC2-AE16-42F4CA187DC3}"/>
              </a:ext>
            </a:extLst>
          </p:cNvPr>
          <p:cNvSpPr>
            <a:spLocks noGrp="1"/>
          </p:cNvSpPr>
          <p:nvPr>
            <p:ph idx="1"/>
          </p:nvPr>
        </p:nvSpPr>
        <p:spPr>
          <a:xfrm>
            <a:off x="457200" y="838200"/>
            <a:ext cx="8610600" cy="5287963"/>
          </a:xfrm>
        </p:spPr>
        <p:txBody>
          <a:bodyPr/>
          <a:lstStyle/>
          <a:p>
            <a:r>
              <a:rPr lang="en-US" dirty="0"/>
              <a:t>https://github.com/ebabcock/BycatchEstimator</a:t>
            </a:r>
          </a:p>
        </p:txBody>
      </p:sp>
      <p:pic>
        <p:nvPicPr>
          <p:cNvPr id="5" name="Picture 4">
            <a:extLst>
              <a:ext uri="{FF2B5EF4-FFF2-40B4-BE49-F238E27FC236}">
                <a16:creationId xmlns:a16="http://schemas.microsoft.com/office/drawing/2014/main" id="{50B84347-FB67-424E-B208-6CD1E345D1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900" y="1981200"/>
            <a:ext cx="7696200" cy="4329113"/>
          </a:xfrm>
          <a:prstGeom prst="rect">
            <a:avLst/>
          </a:prstGeom>
        </p:spPr>
      </p:pic>
      <p:sp>
        <p:nvSpPr>
          <p:cNvPr id="6" name="TextBox 5">
            <a:extLst>
              <a:ext uri="{FF2B5EF4-FFF2-40B4-BE49-F238E27FC236}">
                <a16:creationId xmlns:a16="http://schemas.microsoft.com/office/drawing/2014/main" id="{3E0DA5F6-F61E-4E82-BA9F-41AC3847070F}"/>
              </a:ext>
            </a:extLst>
          </p:cNvPr>
          <p:cNvSpPr txBox="1"/>
          <p:nvPr/>
        </p:nvSpPr>
        <p:spPr>
          <a:xfrm>
            <a:off x="6508262" y="6398696"/>
            <a:ext cx="2667000" cy="369332"/>
          </a:xfrm>
          <a:prstGeom prst="rect">
            <a:avLst/>
          </a:prstGeom>
          <a:noFill/>
        </p:spPr>
        <p:txBody>
          <a:bodyPr wrap="square" rtlCol="0">
            <a:spAutoFit/>
          </a:bodyPr>
          <a:lstStyle/>
          <a:p>
            <a:r>
              <a:rPr lang="en-US" dirty="0"/>
              <a:t>Babcock et al 2022</a:t>
            </a:r>
          </a:p>
        </p:txBody>
      </p:sp>
    </p:spTree>
    <p:extLst>
      <p:ext uri="{BB962C8B-B14F-4D97-AF65-F5344CB8AC3E}">
        <p14:creationId xmlns:p14="http://schemas.microsoft.com/office/powerpoint/2010/main" val="3422645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C9D5F-5ACB-6161-1352-A56D0E858888}"/>
              </a:ext>
            </a:extLst>
          </p:cNvPr>
          <p:cNvSpPr>
            <a:spLocks noGrp="1"/>
          </p:cNvSpPr>
          <p:nvPr>
            <p:ph type="title"/>
          </p:nvPr>
        </p:nvSpPr>
        <p:spPr/>
        <p:txBody>
          <a:bodyPr/>
          <a:lstStyle/>
          <a:p>
            <a:r>
              <a:rPr lang="en-US" dirty="0"/>
              <a:t>For BUM simulation</a:t>
            </a:r>
          </a:p>
        </p:txBody>
      </p:sp>
      <p:pic>
        <p:nvPicPr>
          <p:cNvPr id="16386" name="Picture 2">
            <a:extLst>
              <a:ext uri="{FF2B5EF4-FFF2-40B4-BE49-F238E27FC236}">
                <a16:creationId xmlns:a16="http://schemas.microsoft.com/office/drawing/2014/main" id="{BA5015E5-9276-6AE3-9799-74D8059274B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576" y="1272365"/>
            <a:ext cx="6400847" cy="45720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79CD00A-2ADC-AD5C-7F51-0090B4AC3C1D}"/>
              </a:ext>
            </a:extLst>
          </p:cNvPr>
          <p:cNvSpPr txBox="1"/>
          <p:nvPr/>
        </p:nvSpPr>
        <p:spPr>
          <a:xfrm>
            <a:off x="762000" y="6031597"/>
            <a:ext cx="6096000" cy="369332"/>
          </a:xfrm>
          <a:prstGeom prst="rect">
            <a:avLst/>
          </a:prstGeom>
          <a:noFill/>
        </p:spPr>
        <p:txBody>
          <a:bodyPr wrap="square">
            <a:spAutoFit/>
          </a:bodyPr>
          <a:lstStyle/>
          <a:p>
            <a:r>
              <a:rPr lang="en-US" dirty="0"/>
              <a:t>https://ebabcock.github.io/BycatchEstimator/</a:t>
            </a:r>
          </a:p>
        </p:txBody>
      </p:sp>
    </p:spTree>
    <p:extLst>
      <p:ext uri="{BB962C8B-B14F-4D97-AF65-F5344CB8AC3E}">
        <p14:creationId xmlns:p14="http://schemas.microsoft.com/office/powerpoint/2010/main" val="1313859477"/>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12351</TotalTime>
  <Words>2410</Words>
  <Application>Microsoft Office PowerPoint</Application>
  <PresentationFormat>On-screen Show (4:3)</PresentationFormat>
  <Paragraphs>459</Paragraphs>
  <Slides>55</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4" baseType="lpstr">
      <vt:lpstr>Albertus Extra Bold</vt:lpstr>
      <vt:lpstr>Aptos Narrow</vt:lpstr>
      <vt:lpstr>Arial</vt:lpstr>
      <vt:lpstr>Calibri</vt:lpstr>
      <vt:lpstr>Calibri Light</vt:lpstr>
      <vt:lpstr>Cambria Math</vt:lpstr>
      <vt:lpstr>Times New Roman</vt:lpstr>
      <vt:lpstr>Default Design</vt:lpstr>
      <vt:lpstr>Equation</vt:lpstr>
      <vt:lpstr>Catch, effort, CPUE, and bycatch</vt:lpstr>
      <vt:lpstr>Model based methods</vt:lpstr>
      <vt:lpstr>Catch per unit effort (CPUE) data</vt:lpstr>
      <vt:lpstr>CPUE models</vt:lpstr>
      <vt:lpstr>Hoyle et al. Good Practices</vt:lpstr>
      <vt:lpstr>Longline fishery simulator</vt:lpstr>
      <vt:lpstr>Generalized linear models</vt:lpstr>
      <vt:lpstr>GLM characteristics</vt:lpstr>
      <vt:lpstr>Variance vs. mean</vt:lpstr>
      <vt:lpstr>Model set up </vt:lpstr>
      <vt:lpstr>GLM standardization workflow</vt:lpstr>
      <vt:lpstr>BUM data</vt:lpstr>
      <vt:lpstr>For integer response</vt:lpstr>
      <vt:lpstr>Poisson vs. NB with same mean</vt:lpstr>
      <vt:lpstr>PowerPoint Presentation</vt:lpstr>
      <vt:lpstr>Offsets for Poisson, NB1, NB2</vt:lpstr>
      <vt:lpstr>Model diagnostics – quantile residuals from DHARMa</vt:lpstr>
      <vt:lpstr>Model diagnostics – DHARMa residuals</vt:lpstr>
      <vt:lpstr>Bad residuals: Poisson</vt:lpstr>
      <vt:lpstr>Best: NB2</vt:lpstr>
      <vt:lpstr>Model selection</vt:lpstr>
      <vt:lpstr>Dredge table </vt:lpstr>
      <vt:lpstr>Abundance trend</vt:lpstr>
      <vt:lpstr>Trends from Negative binomial</vt:lpstr>
      <vt:lpstr>For numeric response variables</vt:lpstr>
      <vt:lpstr>PowerPoint Presentation</vt:lpstr>
      <vt:lpstr>phi=1, mu=1, Tweedie=Poisson</vt:lpstr>
      <vt:lpstr>PowerPoint Presentation</vt:lpstr>
      <vt:lpstr>p=1.15, varying mu and phi. </vt:lpstr>
      <vt:lpstr>Using Tweedie </vt:lpstr>
      <vt:lpstr>Residuals okay</vt:lpstr>
      <vt:lpstr>Comparing Tweedie and NB2</vt:lpstr>
      <vt:lpstr>Delta models</vt:lpstr>
      <vt:lpstr>Delta lognormal GLM for CPUE</vt:lpstr>
      <vt:lpstr>Delta lognormal workflow</vt:lpstr>
      <vt:lpstr>Converting means and variances between normal and lognormal</vt:lpstr>
      <vt:lpstr>Delta method variance (Lo et al. 1992)</vt:lpstr>
      <vt:lpstr>Binomial </vt:lpstr>
      <vt:lpstr>log(CPUE) positive</vt:lpstr>
      <vt:lpstr>Combined index</vt:lpstr>
      <vt:lpstr>How to select observation error model</vt:lpstr>
      <vt:lpstr>Some fine points of CPUE standardization</vt:lpstr>
      <vt:lpstr>Including random effect</vt:lpstr>
      <vt:lpstr>GAM  and geostatistics</vt:lpstr>
      <vt:lpstr>GAM on lon/lat</vt:lpstr>
      <vt:lpstr>The bycatch problem in fisheries</vt:lpstr>
      <vt:lpstr>Total bycatch estimation</vt:lpstr>
      <vt:lpstr>Total bycatch estimation </vt:lpstr>
      <vt:lpstr>Kinds of estimation mothods</vt:lpstr>
      <vt:lpstr>Stratified ratio estimator (design-based)</vt:lpstr>
      <vt:lpstr>Model based estimation</vt:lpstr>
      <vt:lpstr>Stratified ratio estimator variance</vt:lpstr>
      <vt:lpstr>Pooling</vt:lpstr>
      <vt:lpstr>Semi-automate the process</vt:lpstr>
      <vt:lpstr>For BUM simulation</vt:lpstr>
    </vt:vector>
  </TitlesOfParts>
  <Company>Wildlife Conservation Society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Rebecca Cerroni</dc:creator>
  <cp:lastModifiedBy>Babcock, Elizabeth A</cp:lastModifiedBy>
  <cp:revision>634</cp:revision>
  <dcterms:created xsi:type="dcterms:W3CDTF">2002-07-02T19:54:08Z</dcterms:created>
  <dcterms:modified xsi:type="dcterms:W3CDTF">2025-11-06T15:51:27Z</dcterms:modified>
</cp:coreProperties>
</file>