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29"/>
  </p:notesMasterIdLst>
  <p:handoutMasterIdLst>
    <p:handoutMasterId r:id="rId30"/>
  </p:handoutMasterIdLst>
  <p:sldIdLst>
    <p:sldId id="297" r:id="rId2"/>
    <p:sldId id="298" r:id="rId3"/>
    <p:sldId id="313" r:id="rId4"/>
    <p:sldId id="448" r:id="rId5"/>
    <p:sldId id="299" r:id="rId6"/>
    <p:sldId id="300" r:id="rId7"/>
    <p:sldId id="301" r:id="rId8"/>
    <p:sldId id="303" r:id="rId9"/>
    <p:sldId id="302" r:id="rId10"/>
    <p:sldId id="304" r:id="rId11"/>
    <p:sldId id="307" r:id="rId12"/>
    <p:sldId id="308" r:id="rId13"/>
    <p:sldId id="306" r:id="rId14"/>
    <p:sldId id="305" r:id="rId15"/>
    <p:sldId id="309" r:id="rId16"/>
    <p:sldId id="310" r:id="rId17"/>
    <p:sldId id="311" r:id="rId18"/>
    <p:sldId id="312" r:id="rId19"/>
    <p:sldId id="444" r:id="rId20"/>
    <p:sldId id="445" r:id="rId21"/>
    <p:sldId id="340" r:id="rId22"/>
    <p:sldId id="447" r:id="rId23"/>
    <p:sldId id="314" r:id="rId24"/>
    <p:sldId id="446" r:id="rId25"/>
    <p:sldId id="449" r:id="rId26"/>
    <p:sldId id="450" r:id="rId27"/>
    <p:sldId id="451" r:id="rId2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590" autoAdjust="0"/>
  </p:normalViewPr>
  <p:slideViewPr>
    <p:cSldViewPr>
      <p:cViewPr>
        <p:scale>
          <a:sx n="108" d="100"/>
          <a:sy n="108" d="100"/>
        </p:scale>
        <p:origin x="730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14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44E1A066-3641-409E-B440-E03BE1A0AA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3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DB41E0A9-D23A-4D9E-8E36-829A8A18E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2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62168-CA75-4DCB-ACA1-3CBE51E9B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D0444-4EDE-4B38-A1B6-1736318DBC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321D8-A24E-4B03-8586-27459BEAE9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44912-138E-4802-853F-B984A9F1B8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CEF9F-1C92-4FF0-B96A-F7A26EAD5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4A5D3-C54B-4997-83E3-9432E83EEA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65590-C750-4EBE-B003-8C25E87E5E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96C32-B7AF-4AD0-8CF7-595A42FA59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90EA9-603D-4EE5-A1C2-41766C3D9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161DC-BD25-4CCF-BE89-96EEE98F5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DD1C5-1327-4575-9025-19C1051F18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665C853-9B71-41A6-85AE-FF9CB414E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263BF0B-CADE-419C-AB13-4AA4FFFE67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0E6B2F-18C5-4BBA-93EB-6AAC223AF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90D7465-2649-45B4-818D-D0220884C5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73B23E-588F-4102-9F6B-DE52C387C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5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57D645-5CE9-4EB9-B8B2-706EBA74EC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haddonm.github.io/URMQMF/surplus-production-models.html#uncertaint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/>
          <a:lstStyle/>
          <a:p>
            <a:r>
              <a:rPr lang="en-US" sz="3600" dirty="0"/>
              <a:t>MBE 713: Marine Population Dynamics</a:t>
            </a:r>
            <a:br>
              <a:rPr lang="en-US" sz="3600" dirty="0"/>
            </a:br>
            <a:r>
              <a:rPr lang="en-US" sz="3600" dirty="0"/>
              <a:t>Lecture 3: Exponential population growth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7000" y="4038600"/>
            <a:ext cx="4343400" cy="1189241"/>
          </a:xfrm>
        </p:spPr>
        <p:txBody>
          <a:bodyPr/>
          <a:lstStyle/>
          <a:p>
            <a:pPr algn="l"/>
            <a:r>
              <a:rPr lang="en-US" dirty="0"/>
              <a:t>Elizabeth A. Babcock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3124200" y="31242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endParaRPr lang="en-US" sz="2400">
              <a:latin typeface="Albertus Extra Bold" pitchFamily="34" charset="0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" y="4953000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993F-4F1A-0519-C2F3-A3E037AD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limits populations?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14CB5-634D-0041-5D1E-09CC54FC1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Density dependence*</a:t>
            </a:r>
            <a:r>
              <a:rPr lang="en-US" dirty="0"/>
              <a:t> means that as the population grows larger, the population growth rate decreases, e.g.</a:t>
            </a:r>
          </a:p>
          <a:p>
            <a:pPr lvl="1"/>
            <a:r>
              <a:rPr lang="en-US" dirty="0"/>
              <a:t>Higher mortality rates at higher populations, </a:t>
            </a:r>
          </a:p>
          <a:p>
            <a:pPr lvl="1"/>
            <a:r>
              <a:rPr lang="en-US" dirty="0"/>
              <a:t>Lower growth at higher populations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* Also called </a:t>
            </a:r>
            <a:r>
              <a:rPr lang="en-US" b="1" dirty="0"/>
              <a:t>compensation</a:t>
            </a:r>
          </a:p>
        </p:txBody>
      </p:sp>
    </p:spTree>
    <p:extLst>
      <p:ext uri="{BB962C8B-B14F-4D97-AF65-F5344CB8AC3E}">
        <p14:creationId xmlns:p14="http://schemas.microsoft.com/office/powerpoint/2010/main" val="22186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5C8F-2609-928A-979A-8408055D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Olive’s ridley Costa Rica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1AD14-2F09-CE2B-6F3C-B17ABB0BF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122" y="990599"/>
            <a:ext cx="2401078" cy="5135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Higher population means new females arriving at nesting sites dig up old nests. Eggs produced per female decreases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DEE468A-7177-A84F-EB64-C673493BE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668" y="1026366"/>
            <a:ext cx="6048312" cy="453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8AB9B5-C291-7756-9A83-8DD55465A9F9}"/>
              </a:ext>
            </a:extLst>
          </p:cNvPr>
          <p:cNvSpPr txBox="1"/>
          <p:nvPr/>
        </p:nvSpPr>
        <p:spPr>
          <a:xfrm>
            <a:off x="4547118" y="580299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https://www.crcdaily.com/p/the-incredible-sea-turtle-arribadas</a:t>
            </a:r>
          </a:p>
        </p:txBody>
      </p:sp>
    </p:spTree>
    <p:extLst>
      <p:ext uri="{BB962C8B-B14F-4D97-AF65-F5344CB8AC3E}">
        <p14:creationId xmlns:p14="http://schemas.microsoft.com/office/powerpoint/2010/main" val="28924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E52C-5795-CF1B-5CFE-65C4BFE5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EA18-529E-310C-2238-0B72CED0E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2808D-6AF2-BEB5-24E0-2F6ADEC62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94657"/>
            <a:ext cx="8305800" cy="5135563"/>
          </a:xfrm>
        </p:spPr>
        <p:txBody>
          <a:bodyPr/>
          <a:lstStyle/>
          <a:p>
            <a:r>
              <a:rPr lang="en-US" dirty="0"/>
              <a:t>Pacific salmon and other fish also have nest disruption at high density</a:t>
            </a:r>
          </a:p>
          <a:p>
            <a:r>
              <a:rPr lang="en-US" dirty="0"/>
              <a:t>Many species expanded into worse habitat at higher population sizes, leading to slower growth, or more mortality  (Ideal free distribution)</a:t>
            </a:r>
          </a:p>
          <a:p>
            <a:r>
              <a:rPr lang="en-US" dirty="0"/>
              <a:t>Animals starve if they eat all their food species (e.g. grazing animals)</a:t>
            </a:r>
          </a:p>
          <a:p>
            <a:r>
              <a:rPr lang="en-US" dirty="0"/>
              <a:t>Limits in refugia from predators, e.g. for reef fish.  </a:t>
            </a:r>
          </a:p>
          <a:p>
            <a:r>
              <a:rPr lang="en-US" dirty="0"/>
              <a:t>More diseases or parasites with higher abundance- shown in fish in marine reserves</a:t>
            </a:r>
          </a:p>
        </p:txBody>
      </p:sp>
    </p:spTree>
    <p:extLst>
      <p:ext uri="{BB962C8B-B14F-4D97-AF65-F5344CB8AC3E}">
        <p14:creationId xmlns:p14="http://schemas.microsoft.com/office/powerpoint/2010/main" val="317017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B1D3-D1CF-D1A2-0B55-25B63ECC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model density dependence?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A0E64-23A0-0FDA-F0CB-DC3F3A2BD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Carrying capacity</a:t>
            </a:r>
            <a:r>
              <a:rPr lang="en-US" dirty="0"/>
              <a:t> (K) is the hypothetical population that a habitat can support </a:t>
            </a:r>
          </a:p>
          <a:p>
            <a:r>
              <a:rPr lang="en-US" dirty="0"/>
              <a:t>Assume the population growth rate (r) decreases as a fraction of the maximum growth rate r</a:t>
            </a:r>
            <a:r>
              <a:rPr lang="en-US" baseline="-25000" dirty="0"/>
              <a:t>m</a:t>
            </a:r>
            <a:r>
              <a:rPr lang="en-US" dirty="0"/>
              <a:t> the population approaches K. </a:t>
            </a:r>
          </a:p>
        </p:txBody>
      </p:sp>
    </p:spTree>
    <p:extLst>
      <p:ext uri="{BB962C8B-B14F-4D97-AF65-F5344CB8AC3E}">
        <p14:creationId xmlns:p14="http://schemas.microsoft.com/office/powerpoint/2010/main" val="9209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B705-B9F6-B79A-F38E-2B79C5F7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way to model carrying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7CB50-E31D-B874-1AC8-9BB5191E8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90601"/>
            <a:ext cx="8153400" cy="1600200"/>
          </a:xfrm>
        </p:spPr>
        <p:txBody>
          <a:bodyPr/>
          <a:lstStyle/>
          <a:p>
            <a:r>
              <a:rPr lang="en-US" dirty="0"/>
              <a:t>Assume that the growth rate does not change with density, but all animals after animal K die.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4E8CE3A-D329-423E-FE40-CD88E2C32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74" y="2732298"/>
            <a:ext cx="4434826" cy="316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81D165A-8F92-FE5E-6D08-C1C7E7382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791410"/>
            <a:ext cx="4352063" cy="310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19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B660-BD3A-33FB-BDD4-242CD37F8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decrease in 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F8F60B-24EF-7336-657E-F350681E87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25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FB69-BD9E-FCA7-73B7-1F4B541E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numbers with constant r</a:t>
            </a:r>
            <a:r>
              <a:rPr lang="en-US" baseline="-25000" dirty="0"/>
              <a:t>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16E4C8-61EB-7190-E28D-B4B88D286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70475" y="1752600"/>
            <a:ext cx="8773525" cy="3113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9791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2BC4BAAF-1634-0C7B-9305-606C8CAF72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7467601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71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C611AAD4-307D-1047-BF7B-615584909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13"/>
            <a:ext cx="9144000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87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B063EB4-9D2B-4B39-3159-BD7403408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0"/>
            <a:ext cx="7818150" cy="558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049542-F792-FC3E-F6A9-F6419CB62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051" y="609600"/>
            <a:ext cx="2495898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58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BA34-F64B-988C-AB2F-2D53B3FE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sustainable yield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10A8E-3E5B-04F3-B9B7-03980B225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The population is most productive at half the carrying capacity</a:t>
                </a:r>
              </a:p>
              <a:p>
                <a:r>
                  <a:rPr lang="en-US" sz="2800" dirty="0"/>
                  <a:t>The population can be kept at K/2 by removing animals at a rate of r/2</a:t>
                </a:r>
              </a:p>
              <a:p>
                <a:r>
                  <a:rPr lang="en-US" sz="2800" dirty="0"/>
                  <a:t>This leads to the idea that, for fisheries or harvested species, maximum sustainable yield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𝑀𝑆𝑌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𝑟𝐾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This is a common fisheries management reference point, either target (ICCAT) or limit (USA), although it is widely debunked as not precautionary enough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10A8E-3E5B-04F3-B9B7-03980B225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06" r="-1407" b="-8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92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FE5A-7494-15A7-2DB1-36EA051B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model in fisheries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8375A-4E94-84DC-0C12-D2EF6494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53" y="861218"/>
            <a:ext cx="8229600" cy="5135563"/>
          </a:xfrm>
        </p:spPr>
        <p:txBody>
          <a:bodyPr/>
          <a:lstStyle/>
          <a:p>
            <a:r>
              <a:rPr lang="en-US" dirty="0"/>
              <a:t>The logistic population growth model is the simplest population dynamics model used for fisheries management. </a:t>
            </a:r>
          </a:p>
          <a:p>
            <a:pPr lvl="1"/>
            <a:r>
              <a:rPr lang="en-US" dirty="0"/>
              <a:t>Called Schaefer Surplus Production model</a:t>
            </a:r>
          </a:p>
          <a:p>
            <a:r>
              <a:rPr lang="en-US" dirty="0"/>
              <a:t>Modern assessments tend to use the discrete time version, and often use biomass rather than N in the equation. </a:t>
            </a:r>
          </a:p>
          <a:p>
            <a:r>
              <a:rPr lang="en-US" dirty="0"/>
              <a:t>Fisheries scientists confusingly use r to mean the intrinsic population growth rate in either continuous time (r</a:t>
            </a:r>
            <a:r>
              <a:rPr lang="en-US" baseline="-25000" dirty="0"/>
              <a:t>m</a:t>
            </a:r>
            <a:r>
              <a:rPr lang="en-US" dirty="0"/>
              <a:t>) or discrete time (R</a:t>
            </a:r>
            <a:r>
              <a:rPr lang="en-US" baseline="-25000" dirty="0"/>
              <a:t>m</a:t>
            </a:r>
            <a:r>
              <a:rPr lang="en-US" dirty="0"/>
              <a:t>), for either numbers or biomass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310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C8A3-B3E3-CA5C-B617-E3FD5B2F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time version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145FD-8078-9CB9-587A-775D7EF7A8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 or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 in biomass, the model incorporates growth in body size. However, r is the same if the population age structure is stable (McAllister et al. 2002). This is sometimes called a biomass dynamics model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Again, r should be Rm using correct ecology notation, but it is r in fisheries terminology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145FD-8078-9CB9-587A-775D7EF7A8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r="-1778" b="-1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75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8CF4-6C28-C894-0D83-2B9E98905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mortality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DD5ABC-2D98-5B82-DEAE-83820375B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discrete time version, it is easy to add mortality events, such as a harmful algal bloom, hurricane, or a fishery with a different catch every year.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Ct  is the number killed in addition to the natural mortality rate built into r.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DD5ABC-2D98-5B82-DEAE-83820375B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066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DEF4-E311-FB55-E320-31894BF5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time series of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617E5-53B6-B564-FE51-F3117402F0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Start with known or estimated abundance in first time period (N</a:t>
                </a:r>
                <a:r>
                  <a:rPr lang="en-US" baseline="-25000" dirty="0"/>
                  <a:t>0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Calculate numbers in each year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Allows model to track changes in abundance caused by different catch mortality in each year.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This is a dynamic time series model, so must be calculated in a loop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617E5-53B6-B564-FE51-F3117402F0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1407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6368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91E1E5E-FCAD-364C-6858-8585F9AD71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06" y="609600"/>
            <a:ext cx="7862094" cy="561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439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7E26-F6B5-10DE-1759-3026EB552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model to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71292-2D0C-A834-3740-4B9FBB7719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02" y="841238"/>
                <a:ext cx="8763000" cy="5135563"/>
              </a:xfrm>
            </p:spPr>
            <p:txBody>
              <a:bodyPr/>
              <a:lstStyle/>
              <a:p>
                <a:r>
                  <a:rPr lang="en-US" dirty="0"/>
                  <a:t>Assume you have a series of relative abundance estimates, for example from a survey, called an index (I</a:t>
                </a:r>
                <a:r>
                  <a:rPr lang="en-US" baseline="-25000" dirty="0"/>
                  <a:t>t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Assume sampling error so that the index is an uncertain estimate of the real population.</a:t>
                </a:r>
              </a:p>
              <a:p>
                <a:endParaRPr lang="en-US" dirty="0"/>
              </a:p>
              <a:p>
                <a:r>
                  <a:rPr lang="en-US" dirty="0"/>
                  <a:t>The parameter q is a constant of proportionality</a:t>
                </a:r>
              </a:p>
              <a:p>
                <a:r>
                  <a:rPr lang="en-US" dirty="0"/>
                  <a:t>In practice we usually calculate this using the lognormal,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normal distributed error and</a:t>
                </a:r>
              </a:p>
              <a:p>
                <a:r>
                  <a:rPr lang="en-US" dirty="0"/>
                  <a:t>Use maximum likelihood to find best estimates or parameters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71292-2D0C-A834-3740-4B9FBB771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02" y="841238"/>
                <a:ext cx="8763000" cy="5135563"/>
              </a:xfrm>
              <a:blipFill>
                <a:blip r:embed="rId2"/>
                <a:stretch>
                  <a:fillRect l="-1391" t="-1544" r="-2434" b="-2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A2BED3-B39F-60A9-60F2-59B40D4837D2}"/>
                  </a:ext>
                </a:extLst>
              </p:cNvPr>
              <p:cNvSpPr txBox="1"/>
              <p:nvPr/>
            </p:nvSpPr>
            <p:spPr>
              <a:xfrm>
                <a:off x="1981200" y="3429000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A2BED3-B39F-60A9-60F2-59B40D483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429000"/>
                <a:ext cx="4572000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80D0EF-0BAC-442E-D444-B9BEFBE294DD}"/>
                  </a:ext>
                </a:extLst>
              </p:cNvPr>
              <p:cNvSpPr txBox="1"/>
              <p:nvPr/>
            </p:nvSpPr>
            <p:spPr>
              <a:xfrm>
                <a:off x="1447800" y="5410200"/>
                <a:ext cx="4572000" cy="822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𝑞𝑁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80D0EF-0BAC-442E-D444-B9BEFBE29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5410200"/>
                <a:ext cx="4572000" cy="8224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067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log transformation of lognormal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95800"/>
            <a:ext cx="8229600" cy="2209800"/>
          </a:xfrm>
        </p:spPr>
        <p:txBody>
          <a:bodyPr>
            <a:normAutofit/>
          </a:bodyPr>
          <a:lstStyle/>
          <a:p>
            <a:r>
              <a:rPr lang="en-US" dirty="0"/>
              <a:t>If Y is lognormal, X=log(Y) is normal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305800" cy="2935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1793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C270-51E4-6FA8-44CC-62431203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CDE190-176A-DE85-BDC6-10D7905E0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/>
                  </a:rPr>
                  <a:t>Likelihood is the probability of getting the data we observed given the value of a parameter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𝑝𝑎𝑟𝑎𝑚𝑒𝑡𝑒𝑟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𝑣𝑎𝑙𝑢𝑒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       </m:t>
                    </m:r>
                    <m:r>
                      <a:rPr lang="en-US" i="1">
                        <a:latin typeface="Cambria Math"/>
                      </a:rPr>
                      <m:t>𝑃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𝑑𝑎𝑡𝑎</m:t>
                    </m:r>
                    <m:r>
                      <a:rPr lang="en-US" i="1">
                        <a:latin typeface="Cambria Math"/>
                      </a:rPr>
                      <m:t>|</m:t>
                    </m:r>
                    <m:r>
                      <a:rPr lang="en-US" i="1">
                        <a:latin typeface="Cambria Math"/>
                      </a:rPr>
                      <m:t>𝑝𝑎𝑟𝑎𝑚𝑒𝑡𝑒𝑟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𝑣𝑎𝑙𝑢𝑒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Probability of data given the value is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𝑃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Which can be calculated with the normal distribution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CDE190-176A-DE85-BDC6-10D7905E0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30" t="-1544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657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likelihoods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762000"/>
                <a:ext cx="8229600" cy="5257800"/>
              </a:xfrm>
            </p:spPr>
            <p:txBody>
              <a:bodyPr/>
              <a:lstStyle/>
              <a:p>
                <a:r>
                  <a:rPr lang="en-US" dirty="0"/>
                  <a:t>Normal.  y is log(I),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log(</a:t>
                </a:r>
                <a:r>
                  <a:rPr lang="en-US" dirty="0" err="1"/>
                  <a:t>qB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R, use </a:t>
                </a:r>
                <a:r>
                  <a:rPr lang="en-US" dirty="0" err="1"/>
                  <a:t>dnorm</a:t>
                </a:r>
                <a:r>
                  <a:rPr lang="en-US" dirty="0"/>
                  <a:t>() or </a:t>
                </a:r>
                <a:r>
                  <a:rPr lang="en-US" dirty="0" err="1"/>
                  <a:t>dlnorm</a:t>
                </a:r>
                <a:endParaRPr lang="en-US" dirty="0"/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762000"/>
                <a:ext cx="8229600" cy="5257800"/>
              </a:xfrm>
              <a:blipFill>
                <a:blip r:embed="rId2"/>
                <a:stretch>
                  <a:fillRect l="-1481" t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 bwMode="auto">
              <a:xfrm>
                <a:off x="1981200" y="1371600"/>
                <a:ext cx="6400800" cy="19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9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9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9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9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9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func>
                        <m:funcPr>
                          <m:ctrlPr>
                            <a:rPr lang="en-US" sz="29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9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9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9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371600"/>
                <a:ext cx="6400800" cy="1981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33508B1B-A2AB-9105-1F10-AB585FDBC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42584"/>
            <a:ext cx="3581400" cy="2196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9901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FABA-EB3A-6E1A-1973-0E037900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Likelihood with multiple data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F2425-DEF3-FC26-B1F8-EDEE4CECCE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With multiple data points, likelihood multiplies because the data points are independent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So log likelihood is summed over data points</a:t>
                </a:r>
              </a:p>
              <a:p>
                <a:endParaRPr lang="en-US" dirty="0"/>
              </a:p>
              <a:p>
                <a:r>
                  <a:rPr lang="en-US" dirty="0"/>
                  <a:t>Best estimate of the parameters has the highest total log likelihood</a:t>
                </a:r>
              </a:p>
              <a:p>
                <a:r>
                  <a:rPr lang="en-US" dirty="0"/>
                  <a:t>Find with a function minimizer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F2425-DEF3-FC26-B1F8-EDEE4CECC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2074" b="-6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D96DA9-D83F-2CE3-DA0E-D748043B7CF4}"/>
                  </a:ext>
                </a:extLst>
              </p:cNvPr>
              <p:cNvSpPr txBox="1"/>
              <p:nvPr/>
            </p:nvSpPr>
            <p:spPr>
              <a:xfrm>
                <a:off x="762000" y="2933123"/>
                <a:ext cx="7620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…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D96DA9-D83F-2CE3-DA0E-D748043B7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933123"/>
                <a:ext cx="7620000" cy="461665"/>
              </a:xfrm>
              <a:prstGeom prst="rect">
                <a:avLst/>
              </a:prstGeom>
              <a:blipFill>
                <a:blip r:embed="rId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F2B829-33BE-90F1-51F1-2D46A9244E09}"/>
                  </a:ext>
                </a:extLst>
              </p:cNvPr>
              <p:cNvSpPr txBox="1"/>
              <p:nvPr/>
            </p:nvSpPr>
            <p:spPr>
              <a:xfrm>
                <a:off x="31102" y="4251297"/>
                <a:ext cx="7620000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F2B829-33BE-90F1-51F1-2D46A9244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2" y="4251297"/>
                <a:ext cx="7620000" cy="509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328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01DF-9F9E-A64E-4AEE-03989165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Fisheries example (swordfish biomass)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7FEE9F-9DBA-E30E-E868-F2AD44DDB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Estimated parameters are B0, r, K, q and the standard deviation of the lognormal measurement error (sigma)</a:t>
                </a:r>
              </a:p>
              <a:p>
                <a:r>
                  <a:rPr lang="en-US" dirty="0"/>
                  <a:t>Predict biomass in each year from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Have an abundance index based on catch per unit effort (CPUE)</a:t>
                </a:r>
              </a:p>
              <a:p>
                <a:r>
                  <a:rPr lang="en-US" dirty="0"/>
                  <a:t>Use maximum likelihood to find the best estimate of B0, r, K, q and sigma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7FEE9F-9DBA-E30E-E868-F2AD44DDB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848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BF24-F032-090D-7E18-3C93127D7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 swordfish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B5FF46E-06F9-C43F-F03B-BC42A77129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72365"/>
            <a:ext cx="7315223" cy="522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565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AA10-AD13-8D2E-E54A-2C66E370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A9B9C-BF2E-5788-D746-2AB6ECC6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that calculates the negative of the total log likelihood, taking a vector of the parameters and the data as inputs</a:t>
            </a:r>
          </a:p>
          <a:p>
            <a:r>
              <a:rPr lang="en-US" dirty="0"/>
              <a:t>Use a minimization function in R to find the best estimate. </a:t>
            </a:r>
          </a:p>
          <a:p>
            <a:r>
              <a:rPr lang="en-US" dirty="0"/>
              <a:t>Constrain the parameters to be in the correct range (e.g. not negative). </a:t>
            </a:r>
          </a:p>
          <a:p>
            <a:r>
              <a:rPr lang="en-US" dirty="0"/>
              <a:t>Estimate log(K) not K because it works better</a:t>
            </a:r>
          </a:p>
        </p:txBody>
      </p:sp>
    </p:spTree>
    <p:extLst>
      <p:ext uri="{BB962C8B-B14F-4D97-AF65-F5344CB8AC3E}">
        <p14:creationId xmlns:p14="http://schemas.microsoft.com/office/powerpoint/2010/main" val="1011784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D75E-C7C8-A2C4-FC8D-A6057CF90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fit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F1AF370-7BF3-1B4A-5B5E-4D82BA7A47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613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45EB-DA4D-440F-C34C-D8E933E68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Readings and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2E593-6268-7DE0-5298-745737C83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https://elizabeth-babcock.shinyapps.io/ProductionModelDemo2/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63340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7140</TotalTime>
  <Words>1052</Words>
  <Application>Microsoft Office PowerPoint</Application>
  <PresentationFormat>On-screen Show (4:3)</PresentationFormat>
  <Paragraphs>102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Albertus Extra Bold</vt:lpstr>
      <vt:lpstr>Arial</vt:lpstr>
      <vt:lpstr>Cambria Math</vt:lpstr>
      <vt:lpstr>Default Design</vt:lpstr>
      <vt:lpstr>MBE 713: Marine Population Dynamics Lecture 3: Exponential population growth</vt:lpstr>
      <vt:lpstr>What limits populations?</vt:lpstr>
      <vt:lpstr>Examples: Olive’s ridley Costa Rica </vt:lpstr>
      <vt:lpstr>Examples </vt:lpstr>
      <vt:lpstr>How to model density dependence?</vt:lpstr>
      <vt:lpstr>Naïve way to model carrying capacity</vt:lpstr>
      <vt:lpstr>Linear decrease in r</vt:lpstr>
      <vt:lpstr>Derivation of numbers with constant rm</vt:lpstr>
      <vt:lpstr>PowerPoint Presentation</vt:lpstr>
      <vt:lpstr>PowerPoint Presentation</vt:lpstr>
      <vt:lpstr>PowerPoint Presentation</vt:lpstr>
      <vt:lpstr>Maximum sustainable yield</vt:lpstr>
      <vt:lpstr>Logistic model in fisheries</vt:lpstr>
      <vt:lpstr>Discrete time version </vt:lpstr>
      <vt:lpstr>Adding mortality events</vt:lpstr>
      <vt:lpstr>Calculating time series of N</vt:lpstr>
      <vt:lpstr>PowerPoint Presentation</vt:lpstr>
      <vt:lpstr>Fitting model to data</vt:lpstr>
      <vt:lpstr> log transformation of lognormal data</vt:lpstr>
      <vt:lpstr>Maximum Likelihood Estimation</vt:lpstr>
      <vt:lpstr>Normal likelihoods </vt:lpstr>
      <vt:lpstr>Likelihood with multiple data points</vt:lpstr>
      <vt:lpstr>Fisheries example (swordfish biomass)</vt:lpstr>
      <vt:lpstr>Data for swordfish</vt:lpstr>
      <vt:lpstr>Maximum likelihood in R</vt:lpstr>
      <vt:lpstr>Model fit</vt:lpstr>
      <vt:lpstr>Additional Readings and resources</vt:lpstr>
    </vt:vector>
  </TitlesOfParts>
  <Company>Wildlife Conservation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Rebecca Cerroni</dc:creator>
  <cp:lastModifiedBy>Babcock, Elizabeth A</cp:lastModifiedBy>
  <cp:revision>622</cp:revision>
  <dcterms:created xsi:type="dcterms:W3CDTF">2002-07-02T19:54:08Z</dcterms:created>
  <dcterms:modified xsi:type="dcterms:W3CDTF">2026-09-01T10:03:36Z</dcterms:modified>
</cp:coreProperties>
</file>